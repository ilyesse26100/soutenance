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8229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137160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15544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400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66960" y="10972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85800"/>
            <a:ext cx="3108960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BUT RÉSEAUX &amp; TÉLÉCOMMUNICATIONS  —  PARCOURS CYBERSÉCURITÉ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8412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9C7D6"/>
                </a:solidFill>
                <a:latin typeface="Arial"/>
              </a:rPr>
              <a:t>Mémoire de réalisation professionnelle  ·  Session 2025-2026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</a:rPr>
              <a:t>APHÉLIE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00B4C8"/>
                </a:solidFill>
                <a:latin typeface="Arial"/>
              </a:rPr>
              <a:t>Conception d’un système de supervision centralisé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00B4C8"/>
                </a:solidFill>
                <a:latin typeface="Arial"/>
              </a:rPr>
              <a:t>pour des faisceaux hertziens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440680"/>
            <a:ext cx="12191695" cy="1417320"/>
          </a:xfrm>
          <a:prstGeom prst="rect">
            <a:avLst/>
          </a:prstGeom>
          <a:solidFill>
            <a:srgbClr val="0A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440680"/>
            <a:ext cx="12191695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5099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Arial"/>
              </a:rPr>
              <a:t>PRÉSENTÉ PAR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Ilyesse KEBAILI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Arial"/>
              </a:rPr>
              <a:t>Technicien Télécom — Alternant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650992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Arial"/>
              </a:rPr>
              <a:t>MAÎTRE D’APPRENTISSAGE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Nordine YAAQOBI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Arial"/>
              </a:rPr>
              <a:t>Chef de Projet — Axians RMP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5650992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4C8"/>
                </a:solidFill>
                <a:latin typeface="Arial"/>
              </a:rPr>
              <a:t>ENTREPRISE &amp; ÉCOLE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Axians Réseaux Mobiles Privés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9C7D6"/>
                </a:solidFill>
                <a:latin typeface="Arial"/>
              </a:rPr>
              <a:t>VINCI Energies · IUT de Valence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38100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B4C8"/>
                </a:solidFill>
                <a:latin typeface="Arial"/>
              </a:rPr>
              <a:t>PLAN DE 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Soutenance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3D0DE"/>
                </a:solidFill>
                <a:latin typeface="Arial"/>
              </a:rPr>
              <a:t>Du contexte métier à la mise en production d’une plateforme de supervision sécurisée, puis à son évaluation financière et environnementale.</a:t>
            </a:r>
          </a:p>
        </p:txBody>
      </p:sp>
      <p:sp>
        <p:nvSpPr>
          <p:cNvPr id="9" name="Oval 8"/>
          <p:cNvSpPr/>
          <p:nvPr/>
        </p:nvSpPr>
        <p:spPr>
          <a:xfrm>
            <a:off x="4572000" y="82296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8229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78638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Introduction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1887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Contexte, enjeux &amp; problématique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169164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65506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1 — Environnement professionnel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20" y="1709928"/>
            <a:ext cx="1097280" cy="384048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1709928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0F1B2D"/>
                </a:solidFill>
                <a:latin typeface="Arial"/>
              </a:rPr>
              <a:t>EN · 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0574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Company &amp; work context — in English (5 min)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0" y="256032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560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52374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2 — Initialisation &amp; cadrage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926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Besoins, choix techniques, planning, EBIOS RM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0" y="342900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4290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39242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3 — Réalisation technique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7947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Architecture, Zabbix/Grafana, sécurisation, IA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429768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26110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4 — Impacts du projet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4663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Rentabilité (ROI), environnement, opérationnel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5166360"/>
            <a:ext cx="457200" cy="457200"/>
          </a:xfrm>
          <a:prstGeom prst="ellipse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166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B4C8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512978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F1B2D"/>
                </a:solidFill>
                <a:latin typeface="Arial"/>
              </a:rPr>
              <a:t>5 — Bilan &amp; perspectives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55321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Résultats, montée en compétences, avenir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6080760"/>
            <a:ext cx="7086600" cy="64008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0" y="6080760"/>
            <a:ext cx="91440" cy="64008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6080760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+ ANNEXES  </a:t>
            </a:r>
            <a:r>
              <a:rPr sz="1100" b="0" i="0">
                <a:solidFill>
                  <a:srgbClr val="C3D0DE"/>
                </a:solidFill>
                <a:latin typeface="Arial"/>
              </a:rPr>
              <a:t>Questions anticipées · hypothèses ROI &amp; CO2 · justification des choix (slides de réserve)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POURQUOI APHÉLIE 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Introduction — Contexte &amp; problématique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LE CONSTAT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Arial"/>
              </a:rPr>
              <a:t>▸  </a:t>
            </a:r>
            <a:r>
              <a:rPr sz="1400" b="1">
                <a:solidFill>
                  <a:srgbClr val="1B2633"/>
                </a:solidFill>
                <a:latin typeface="Arial"/>
              </a:rPr>
              <a:t>Faisceaux hertziens </a:t>
            </a:r>
            <a:r>
              <a:rPr sz="1400" b="0">
                <a:solidFill>
                  <a:srgbClr val="1B2633"/>
                </a:solidFill>
                <a:latin typeface="Arial"/>
              </a:rPr>
              <a:t>: liaisons radio point-à-point qui raccordent des sites isolés ou de secours (hôpitaux, sites industriels).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Arial"/>
              </a:rPr>
              <a:t>▸  </a:t>
            </a:r>
            <a:r>
              <a:rPr sz="1400" b="1">
                <a:solidFill>
                  <a:srgbClr val="1B2633"/>
                </a:solidFill>
                <a:latin typeface="Arial"/>
              </a:rPr>
              <a:t>Disponibilité critique </a:t>
            </a:r>
            <a:r>
              <a:rPr sz="1400" b="0">
                <a:solidFill>
                  <a:srgbClr val="1B2633"/>
                </a:solidFill>
                <a:latin typeface="Arial"/>
              </a:rPr>
              <a:t>: une coupure = rupture de la chaîne de soins ou arrêt de production.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Arial"/>
              </a:rPr>
              <a:t>▸  </a:t>
            </a:r>
            <a:r>
              <a:rPr sz="1400" b="1">
                <a:solidFill>
                  <a:srgbClr val="1B2633"/>
                </a:solidFill>
                <a:latin typeface="Arial"/>
              </a:rPr>
              <a:t>Supervision obsolète </a:t>
            </a:r>
            <a:r>
              <a:rPr sz="1400" b="0">
                <a:solidFill>
                  <a:srgbClr val="1B2633"/>
                </a:solidFill>
                <a:latin typeface="Arial"/>
              </a:rPr>
              <a:t>: l’outil historique n’était plus fiable ni sécurisé — les pannes étaient signalées par les clients eux-mêmes.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00B4C8"/>
                </a:solidFill>
                <a:latin typeface="Arial"/>
              </a:rPr>
              <a:t>▸  </a:t>
            </a:r>
            <a:r>
              <a:rPr sz="1400" b="1">
                <a:solidFill>
                  <a:srgbClr val="1B2633"/>
                </a:solidFill>
                <a:latin typeface="Arial"/>
              </a:rPr>
              <a:t>3 ans sans outil fonctionnel </a:t>
            </a:r>
            <a:r>
              <a:rPr sz="1400" b="0">
                <a:solidFill>
                  <a:srgbClr val="1B2633"/>
                </a:solidFill>
                <a:latin typeface="Arial"/>
              </a:rPr>
              <a:t>après deux tentatives échouées (2012 &amp; 2017).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55448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554480"/>
            <a:ext cx="109728" cy="27889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B4C8"/>
                </a:solidFill>
                <a:latin typeface="Arial"/>
              </a:rPr>
              <a:t>PROBLÉMATIQUE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FFFFFF"/>
                </a:solidFill>
                <a:latin typeface="Arial"/>
              </a:rPr>
              <a:t>Comment remplacer une solution de supervision obsolète par une plateforme </a:t>
            </a:r>
            <a:r>
              <a:rPr sz="1650" b="1" i="0">
                <a:solidFill>
                  <a:srgbClr val="00B4C8"/>
                </a:solidFill>
                <a:latin typeface="Arial"/>
              </a:rPr>
              <a:t>centralisée</a:t>
            </a:r>
            <a:r>
              <a:rPr sz="1650" b="0" i="0">
                <a:solidFill>
                  <a:srgbClr val="FFFFFF"/>
                </a:solidFill>
                <a:latin typeface="Arial"/>
              </a:rPr>
              <a:t>, capable de fournir des informations </a:t>
            </a:r>
            <a:r>
              <a:rPr sz="1650" b="1" i="0">
                <a:solidFill>
                  <a:srgbClr val="00B4C8"/>
                </a:solidFill>
                <a:latin typeface="Arial"/>
              </a:rPr>
              <a:t>fiables en temps réel</a:t>
            </a:r>
            <a:r>
              <a:rPr sz="1650" b="0" i="0">
                <a:solidFill>
                  <a:srgbClr val="FFFFFF"/>
                </a:solidFill>
                <a:latin typeface="Arial"/>
              </a:rPr>
              <a:t> sur les liaisons hertziennes et </a:t>
            </a:r>
            <a:r>
              <a:rPr sz="1650" b="1" i="0">
                <a:solidFill>
                  <a:srgbClr val="00B4C8"/>
                </a:solidFill>
                <a:latin typeface="Arial"/>
              </a:rPr>
              <a:t>accessible à distance</a:t>
            </a:r>
            <a:r>
              <a:rPr sz="1650" b="0" i="0">
                <a:solidFill>
                  <a:srgbClr val="FFFFFF"/>
                </a:solidFill>
                <a:latin typeface="Arial"/>
              </a:rPr>
              <a:t>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Centraliser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Une plateforme unique pour tout le parc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55848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7016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Fiabiliser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Données temps réel validées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08776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Sécuriser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Architecture durcie (cybersécurité)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61704" y="4800600"/>
            <a:ext cx="2697480" cy="1325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61704" y="4800600"/>
            <a:ext cx="2697480" cy="444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4983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Pérenniser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539496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Solution documentée &amp; réutilisable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CHAPTER 1 — 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The professional environment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59976" y="310896"/>
            <a:ext cx="1874519" cy="457200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59976" y="310896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ENGLISH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A GLOBAL GROUP, A HUMAN-SIZED AGENCY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37360"/>
            <a:ext cx="5212080" cy="676656"/>
          </a:xfrm>
          <a:prstGeom prst="roundRect">
            <a:avLst>
              <a:gd name="adj" fmla="val 6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801368"/>
            <a:ext cx="4846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VINCI</a:t>
            </a:r>
            <a:r>
              <a:rPr sz="1050" b="0" i="0">
                <a:solidFill>
                  <a:srgbClr val="D9E4EF"/>
                </a:solidFill>
                <a:latin typeface="Arial"/>
              </a:rPr>
              <a:t>   280,000 employees · €74.6 bn revenue (2025)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4709160" cy="676656"/>
          </a:xfrm>
          <a:prstGeom prst="roundRect">
            <a:avLst>
              <a:gd name="adj" fmla="val 6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587752"/>
            <a:ext cx="4343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VINCI Energies</a:t>
            </a:r>
            <a:r>
              <a:rPr sz="1050" b="0" i="0">
                <a:solidFill>
                  <a:srgbClr val="D9E4EF"/>
                </a:solidFill>
                <a:latin typeface="Arial"/>
              </a:rPr>
              <a:t>   Energy infrastructure &amp;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10128"/>
            <a:ext cx="4206240" cy="676656"/>
          </a:xfrm>
          <a:prstGeom prst="roundRect">
            <a:avLst>
              <a:gd name="adj" fmla="val 6000"/>
            </a:avLst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374136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Axians</a:t>
            </a:r>
            <a:r>
              <a:rPr sz="1050" b="0" i="0">
                <a:solidFill>
                  <a:srgbClr val="D9E4EF"/>
                </a:solidFill>
                <a:latin typeface="Arial"/>
              </a:rPr>
              <a:t>   ICT brand — 15,000 employees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96512"/>
            <a:ext cx="3703320" cy="676656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160520"/>
            <a:ext cx="3337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/>
              </a:rPr>
              <a:t>Axians RMP AURA</a:t>
            </a:r>
            <a:r>
              <a:rPr sz="1050" b="0" i="0">
                <a:solidFill>
                  <a:srgbClr val="D9E4EF"/>
                </a:solidFill>
                <a:latin typeface="Arial"/>
              </a:rPr>
              <a:t>   Alixans agency · ~38 employees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2920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Specialties: </a:t>
            </a:r>
            <a:r>
              <a:rPr sz="1250" b="0" i="0">
                <a:solidFill>
                  <a:srgbClr val="1B2633"/>
                </a:solidFill>
                <a:latin typeface="Arial"/>
              </a:rPr>
              <a:t>TETRA · private 4G/5G · microwave radio links.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Customers: </a:t>
            </a:r>
            <a:r>
              <a:rPr sz="1250" b="0" i="0">
                <a:solidFill>
                  <a:srgbClr val="1B2633"/>
                </a:solidFill>
                <a:latin typeface="Arial"/>
              </a:rPr>
              <a:t>mostly hospitals + continuous-production industrial sites → a very high availability requirement.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554480"/>
            <a:ext cx="5623560" cy="23317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554480"/>
            <a:ext cx="109728" cy="23317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7190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TWO REFERENCE PROJECTS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76272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EDF Renewables (LTE on a wind farm): </a:t>
            </a:r>
            <a:r>
              <a:rPr sz="1250" b="0">
                <a:solidFill>
                  <a:srgbClr val="1B2633"/>
                </a:solidFill>
                <a:latin typeface="Arial"/>
              </a:rPr>
              <a:t>a private 4G network — redundant cores, outdoor base stations, onboard terminals for maintenance boats.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Sytral Mobilités (TETRA): </a:t>
            </a:r>
            <a:r>
              <a:rPr sz="1250" b="0">
                <a:solidFill>
                  <a:srgbClr val="1B2633"/>
                </a:solidFill>
                <a:latin typeface="Arial"/>
              </a:rPr>
              <a:t>modernised radio network covering 1,000+ buses, 100 tramways and 550 field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069080"/>
            <a:ext cx="5623560" cy="20574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4069080"/>
            <a:ext cx="562356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2245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WHY APHÉLIE STARTED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6634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A geographically scattered customer base (sites with no fibre).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Critical clients: a link outage = care chain disruption or production stop.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No working supervision tool for ~3 years after two failed attempts.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CHAPTER 1 — MY ROLE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My position and missions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59976" y="310896"/>
            <a:ext cx="1874519" cy="457200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59976" y="310896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ENGLISH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109728" cy="23774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MY POSITION — TELECOM TECHNICIAN (APPRENTICE)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Core mission: </a:t>
            </a:r>
            <a:r>
              <a:rPr sz="1250" b="0">
                <a:solidFill>
                  <a:srgbClr val="1B2633"/>
                </a:solidFill>
                <a:latin typeface="Arial"/>
              </a:rPr>
              <a:t>the full design and deployment of the Aphélie supervision project.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Strong autonomy: </a:t>
            </a:r>
            <a:r>
              <a:rPr sz="1250" b="0">
                <a:solidFill>
                  <a:srgbClr val="1B2633"/>
                </a:solidFill>
                <a:latin typeface="Arial"/>
              </a:rPr>
              <a:t>architecture choices, testing in an isolated lab, documentation.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Key constraint: </a:t>
            </a:r>
            <a:r>
              <a:rPr sz="1250" b="0">
                <a:solidFill>
                  <a:srgbClr val="1B2633"/>
                </a:solidFill>
                <a:latin typeface="Arial"/>
              </a:rPr>
              <a:t>never disrupt the customers’ live production networks.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5486400" cy="508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FROM ENGINEERING TO SUPERVISION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177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Mastering </a:t>
            </a:r>
            <a:r>
              <a:rPr sz="1250" b="1" i="0">
                <a:solidFill>
                  <a:srgbClr val="2EC48F"/>
                </a:solidFill>
                <a:latin typeface="Arial"/>
              </a:rPr>
              <a:t>link budgets</a:t>
            </a:r>
            <a:r>
              <a:rPr sz="1250" b="0" i="0">
                <a:solidFill>
                  <a:srgbClr val="FFFFFF"/>
                </a:solidFill>
                <a:latin typeface="Arial"/>
              </a:rPr>
              <a:t> is what defines the </a:t>
            </a:r>
            <a:r>
              <a:rPr sz="1250" b="1" i="0">
                <a:solidFill>
                  <a:srgbClr val="2EC48F"/>
                </a:solidFill>
                <a:latin typeface="Arial"/>
              </a:rPr>
              <a:t>real alarm thresholds</a:t>
            </a:r>
            <a:r>
              <a:rPr sz="1250" b="0" i="0">
                <a:solidFill>
                  <a:srgbClr val="FFFFFF"/>
                </a:solidFill>
                <a:latin typeface="Arial"/>
              </a:rPr>
              <a:t> to monitor. Supervision then checks whether the theory holds against the field reality.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463040"/>
            <a:ext cx="5577840" cy="4663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463040"/>
            <a:ext cx="5577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645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TRANSVERSE MISSIONS — RADIO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Analysing CCTPs</a:t>
            </a:r>
            <a:r>
              <a:rPr sz="1250" b="0">
                <a:solidFill>
                  <a:srgbClr val="1B2633"/>
                </a:solidFill>
                <a:latin typeface="Arial"/>
              </a:rPr>
              <a:t> (technical specifications) from major accounts such as RTE and EDF.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Link studies with HTZ software</a:t>
            </a:r>
            <a:r>
              <a:rPr sz="1250" b="0">
                <a:solidFill>
                  <a:srgbClr val="1B2633"/>
                </a:solidFill>
                <a:latin typeface="Arial"/>
              </a:rPr>
              <a:t> — modelling terrain, the Fresnel zone, clearance and rainfall (ITU models).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A concrete case</a:t>
            </a:r>
            <a:r>
              <a:rPr sz="1250" b="0">
                <a:solidFill>
                  <a:srgbClr val="1B2633"/>
                </a:solidFill>
                <a:latin typeface="Arial"/>
              </a:rPr>
              <a:t> — a wind-turbine proximity study validated by calculation (a 16.3 m safety margin).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Deliverables</a:t>
            </a:r>
            <a:r>
              <a:rPr sz="1250" b="0">
                <a:solidFill>
                  <a:srgbClr val="1B2633"/>
                </a:solidFill>
                <a:latin typeface="Arial"/>
              </a:rPr>
              <a:t> — General Study, Link Engineering File (DIL), Site Installation File (DIS).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532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C"/>
                </a:solidFill>
                <a:latin typeface="Arial"/>
              </a:rPr>
              <a:t>→ These studies build the field knowledge of exactly what had to be supervised.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Initialisation &amp; cadrage — Diagnostic &amp;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UN LOURD PASSIF TECHNIQUE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960120" cy="9144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2012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1691640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17830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Arial"/>
              </a:rPr>
              <a:t>Aphélie v1 (ESISAR)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211226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Arial"/>
              </a:rPr>
              <a:t>Interface sur-mesure devenue une « boîte noire » : 1 module sur 2 HS, fausses alarmes.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24911"/>
            <a:ext cx="960120" cy="9144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24911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2017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2724911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55648" y="2816351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Arial"/>
              </a:rPr>
              <a:t>WhatsUp 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3145535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Arial"/>
              </a:rPr>
              <a:t>Tentative restée au stade de l’étude des MIB — jamais exploitable.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58182"/>
            <a:ext cx="960120" cy="9144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58182"/>
            <a:ext cx="960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72768" y="3758182"/>
            <a:ext cx="4160520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55648" y="384962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Arial"/>
              </a:rPr>
              <a:t>Projet Aphélie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417880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B2633"/>
                </a:solidFill>
                <a:latin typeface="Arial"/>
              </a:rPr>
              <a:t>Refonte complète confiée à l’alternant : enfin une solution opérationnelle.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1463040"/>
            <a:ext cx="5623560" cy="46634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1463040"/>
            <a:ext cx="562356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LE BESOIN À COUVRIR (PÉRIMÈTRE INITIAL)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148840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Parc : </a:t>
            </a:r>
            <a:r>
              <a:rPr sz="1300" b="0">
                <a:solidFill>
                  <a:srgbClr val="FFFFFF"/>
                </a:solidFill>
                <a:latin typeface="Arial"/>
              </a:rPr>
              <a:t>30 à 50 faisceaux Ericsson MINI-LINK (IDU).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Temps réel : </a:t>
            </a:r>
            <a:r>
              <a:rPr sz="1300" b="0">
                <a:solidFill>
                  <a:srgbClr val="FFFFFF"/>
                </a:solidFill>
                <a:latin typeface="Arial"/>
              </a:rPr>
              <a:t>polling 1 min sur les niveaux Rx (réception) et Tx (émission).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Alertes : </a:t>
            </a:r>
            <a:r>
              <a:rPr sz="1300" b="0">
                <a:solidFill>
                  <a:srgbClr val="FFFFFF"/>
                </a:solidFill>
                <a:latin typeface="Arial"/>
              </a:rPr>
              <a:t>traps SNMP classées sur 5 niveaux de criticité, traduites en clair.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Cartographie : </a:t>
            </a:r>
            <a:r>
              <a:rPr sz="1300" b="0">
                <a:solidFill>
                  <a:srgbClr val="FFFFFF"/>
                </a:solidFill>
                <a:latin typeface="Arial"/>
              </a:rPr>
              <a:t>vue dynamique, icônes colorées + segments de liaison.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Notification proactive : </a:t>
            </a:r>
            <a:r>
              <a:rPr sz="1300" b="0">
                <a:solidFill>
                  <a:srgbClr val="FFFFFF"/>
                </a:solidFill>
                <a:latin typeface="Arial"/>
              </a:rPr>
              <a:t>e-mail automatique aux équipes d’astreinte sur seuil critique.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B4C8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Haute disponibilité : </a:t>
            </a:r>
            <a:r>
              <a:rPr sz="1300" b="0">
                <a:solidFill>
                  <a:srgbClr val="FFFFFF"/>
                </a:solidFill>
                <a:latin typeface="Arial"/>
              </a:rPr>
              <a:t>la supervision ne doit pas devenir elle-même un point faible.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Étude de marché &amp; choix technologiques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Deux décisions structurantes, instruites par filtres successifs (souveraineté, modèle économique, maturité).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5486400" cy="5669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5120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① VECTEUR DE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Cisco  vs  Sierra Wireless  vs  </a:t>
            </a:r>
            <a:r>
              <a:rPr sz="1300" b="1" i="0">
                <a:solidFill>
                  <a:srgbClr val="2EC48F"/>
                </a:solidFill>
                <a:latin typeface="Arial"/>
              </a:rPr>
              <a:t>Teltonika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Teltonika RUT956 + RMS</a:t>
            </a:r>
            <a:r>
              <a:rPr sz="1250" b="0">
                <a:solidFill>
                  <a:srgbClr val="1B2633"/>
                </a:solidFill>
                <a:latin typeface="Arial"/>
              </a:rPr>
              <a:t> : management 100 % Cloud, léger et intuitif.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Sécurité</a:t>
            </a:r>
            <a:r>
              <a:rPr sz="1250" b="0">
                <a:solidFill>
                  <a:srgbClr val="1B2633"/>
                </a:solidFill>
                <a:latin typeface="Arial"/>
              </a:rPr>
              <a:t> : VPN Hub déployé en quelques clics, accès même derrière NAT opérateur.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Coût</a:t>
            </a:r>
            <a:r>
              <a:rPr sz="1250" b="0">
                <a:solidFill>
                  <a:srgbClr val="1B2633"/>
                </a:solidFill>
                <a:latin typeface="Arial"/>
              </a:rPr>
              <a:t> : modèle à crédits optimisé (≠ licences Cisco onéreuses).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Atouts</a:t>
            </a:r>
            <a:r>
              <a:rPr sz="1250" b="0">
                <a:solidFill>
                  <a:srgbClr val="1B2633"/>
                </a:solidFill>
                <a:latin typeface="Arial"/>
              </a:rPr>
              <a:t> : Dual-SIM (bascule 4G), retours d’expérience favorables dans le groupe VINCI.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5486400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10512"/>
            <a:ext cx="5120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② MOTEUR DE SUPERVISION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514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A8C"/>
                </a:solidFill>
                <a:latin typeface="Arial"/>
              </a:rPr>
              <a:t>WhatsUp Gold · PRTG · Centreon  vs  </a:t>
            </a:r>
            <a:r>
              <a:rPr sz="1300" b="1" i="0">
                <a:solidFill>
                  <a:srgbClr val="2EC48F"/>
                </a:solidFill>
                <a:latin typeface="Arial"/>
              </a:rPr>
              <a:t>Zabbix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175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100 % open source</a:t>
            </a:r>
            <a:r>
              <a:rPr sz="1250" b="0">
                <a:solidFill>
                  <a:srgbClr val="1B2633"/>
                </a:solidFill>
                <a:latin typeface="Arial"/>
              </a:rPr>
              <a:t> : suppression des coûts de licence, scalabilité totale.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Moteur très souple</a:t>
            </a:r>
            <a:r>
              <a:rPr sz="1250" b="0">
                <a:solidFill>
                  <a:srgbClr val="1B2633"/>
                </a:solidFill>
                <a:latin typeface="Arial"/>
              </a:rPr>
              <a:t> : création libre d’items, déclencheurs et prétraitements.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Interopérabilité native</a:t>
            </a:r>
            <a:r>
              <a:rPr sz="1250" b="0">
                <a:solidFill>
                  <a:srgbClr val="1B2633"/>
                </a:solidFill>
                <a:latin typeface="Arial"/>
              </a:rPr>
              <a:t> : polling SNMP optimisé sur tunnels VPN.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Couplage parfait avec Grafana</a:t>
            </a:r>
            <a:r>
              <a:rPr sz="1250" b="0">
                <a:solidFill>
                  <a:srgbClr val="1B2633"/>
                </a:solidFill>
                <a:latin typeface="Arial"/>
              </a:rPr>
              <a:t> pour la restitution visuelle.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Urbanisation SI</a:t>
            </a:r>
            <a:r>
              <a:rPr sz="1250" b="0">
                <a:solidFill>
                  <a:srgbClr val="1B2633"/>
                </a:solidFill>
                <a:latin typeface="Arial"/>
              </a:rPr>
              <a:t> : déjà utilisé par la Direction Technique.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2 — PILOTAGE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Planning, jalons &amp; analyse des écarts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5 jalons séquentiels (J1→J5) : chaque livrable conditionne le suivant.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Étude &amp; cadrage MIB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2344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52344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Maquettage Zabbix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1768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Déploiement client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51192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15784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784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Grafana &amp; cartographie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783080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783080"/>
            <a:ext cx="214884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65208" y="192024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0B4C8"/>
                </a:solidFill>
                <a:latin typeface="Arial"/>
              </a:rPr>
              <a:t>J5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233172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Serveur &amp;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200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UN RETARD DE 4 SEMAINES… ENTIÈREMENT EXPLIQUÉ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61188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J1 (+7 sem.) : </a:t>
            </a:r>
            <a:r>
              <a:rPr sz="1250" b="0">
                <a:solidFill>
                  <a:srgbClr val="1B2633"/>
                </a:solidFill>
                <a:latin typeface="Arial"/>
              </a:rPr>
              <a:t>MIB Ericsson MINI-LINK non documentées, aucune expertise interne — investigation imprévisible.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J4 (+ interruptions) : </a:t>
            </a:r>
            <a:r>
              <a:rPr sz="1250" b="0">
                <a:solidFill>
                  <a:srgbClr val="1B2633"/>
                </a:solidFill>
                <a:latin typeface="Arial"/>
              </a:rPr>
              <a:t>32 jours ouvrés détournés vers des missions DIL/DIS contractuelles (priorité client).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Les 5 jalons livrés à 100 %</a:t>
            </a:r>
            <a:r>
              <a:rPr sz="1250" b="0">
                <a:solidFill>
                  <a:srgbClr val="1B2633"/>
                </a:solidFill>
                <a:latin typeface="Arial"/>
              </a:rPr>
              <a:t> — périmètre conforme au cadrage.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383280"/>
            <a:ext cx="5303520" cy="26974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5204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CHIFFRES CLÉS DU PILOTAGE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97763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Arial"/>
              </a:rPr>
              <a:t>142,8 j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39826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effort projet (1 001 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97763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Arial"/>
              </a:rPr>
              <a:t>81 %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439826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du temps en entreprise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93775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Arial"/>
              </a:rPr>
              <a:t>100 %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3583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des jalons livrés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937759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00B4C8"/>
                </a:solidFill>
                <a:latin typeface="Arial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5358383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jalon abandonné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0644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7A8C"/>
                </a:solidFill>
                <a:latin typeface="Arial"/>
              </a:rPr>
              <a:t>→ En retirant ces deux causes externes, la fin recalculée tombe </a:t>
            </a:r>
            <a:r>
              <a:rPr sz="1150" b="1" i="0">
                <a:solidFill>
                  <a:srgbClr val="2EC48F"/>
                </a:solidFill>
                <a:latin typeface="Arial"/>
              </a:rPr>
              <a:t>exactement à la date prévue</a:t>
            </a:r>
            <a:r>
              <a:rPr sz="1150" b="0" i="0">
                <a:solidFill>
                  <a:srgbClr val="6B7A8C"/>
                </a:solidFill>
                <a:latin typeface="Arial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2 — CYBERSÉCURITÉ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Cartographie des risques cyber — EBIOS 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Méthode officielle ANSSI : modéliser le pire scénario d’attaque pour valider la défense.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53E3E"/>
                </a:solidFill>
                <a:latin typeface="Arial"/>
              </a:rPr>
              <a:t>SCÉNARIO REDOUTÉ — ATTAQUE PAR REBOND (G4 critique)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94560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194560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1 · Infiltrer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1518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Vol des accès d’un technicien au portail RMS (phishing, dark web).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82112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182112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7355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2 · Trouver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0273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Via le VPN Hub, l’attaquant atteint un routeur RUT956 cible.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109728" cy="86868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169664"/>
            <a:ext cx="5029200" cy="868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E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6110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3 · Exploiter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Rebond vers le LAN du client → propagation d’un rançongiciel.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783080"/>
            <a:ext cx="5623560" cy="21488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9385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EC48F"/>
                </a:solidFill>
                <a:latin typeface="Arial"/>
              </a:rPr>
              <a:t>DEUX MESURES DE TRAITEMENT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3774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2EC48F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MFA strict sur RMS</a:t>
            </a:r>
            <a:r>
              <a:rPr sz="1300" b="0">
                <a:solidFill>
                  <a:srgbClr val="FFFFFF"/>
                </a:solidFill>
                <a:latin typeface="Arial"/>
              </a:rPr>
              <a:t> → bloque la compromission initiale, même mot de passe volé.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2EC48F"/>
                </a:solidFill>
                <a:latin typeface="Arial"/>
              </a:rPr>
              <a:t>▸  </a:t>
            </a:r>
            <a:r>
              <a:rPr sz="1300" b="1">
                <a:solidFill>
                  <a:srgbClr val="FFFFFF"/>
                </a:solidFill>
                <a:latin typeface="Arial"/>
              </a:rPr>
              <a:t>Durcissement RUT956 (NoNat / blocage des ports)</a:t>
            </a:r>
            <a:r>
              <a:rPr sz="1300" b="0">
                <a:solidFill>
                  <a:srgbClr val="FFFFFF"/>
                </a:solidFill>
                <a:latin typeface="Arial"/>
              </a:rPr>
              <a:t> → bloque toute latéralisation vers le LAN client.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4114800"/>
            <a:ext cx="5623560" cy="20116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2519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RÉSULTAT — VRAISEMBLANCE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709160"/>
            <a:ext cx="2194560" cy="914400"/>
          </a:xfrm>
          <a:prstGeom prst="round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709160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V3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>Très vraisemblable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93776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4709160"/>
            <a:ext cx="2194560" cy="914400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4709160"/>
            <a:ext cx="2194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V1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Arial"/>
              </a:rPr>
              <a:t>Peu vraisemblable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Réalisation — Architecture matérielle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« Placer l’intelligence au plus près des équipements » — chaîne de bout en bout, du site client au serveur Axians.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361188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SITE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606040"/>
            <a:ext cx="73152" cy="12344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Faisceau hertzien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Ericsson MINI-LINK / NEC iPASOLINK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977640"/>
            <a:ext cx="73152" cy="12344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Routeur RUT956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Routeur + pare-feu + VPN dans 1 boîtier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38328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1828800"/>
            <a:ext cx="3611880" cy="5486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TRANSPORT SÉCURISÉ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2606040"/>
            <a:ext cx="73152" cy="12344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Tunnel VPN chiffré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Sur le réseau IP du client (pas de SIM dédiée)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3977640"/>
            <a:ext cx="73152" cy="12344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Cloud RMS Teltonika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Administration distante + MFA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38328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20" y="182880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20" y="1828800"/>
            <a:ext cx="3611880" cy="5486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1828800"/>
            <a:ext cx="3611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INFRASTRUCTURE AXIANS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26060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8200" y="2606040"/>
            <a:ext cx="73152" cy="12344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41080" y="2743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Serveur HPE DL360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32278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Debian 13 · 32 Go RAM · RAID 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397764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977640"/>
            <a:ext cx="73152" cy="12344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41148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F1B2D"/>
                </a:solidFill>
                <a:latin typeface="Arial"/>
              </a:rPr>
              <a:t>Zabbix + Grafana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4599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Collecte SNMP + visualisation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669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Déploiement « Plug &amp; Play » : </a:t>
            </a:r>
            <a:r>
              <a:rPr sz="1250" b="0" i="0">
                <a:solidFill>
                  <a:srgbClr val="1B2633"/>
                </a:solidFill>
                <a:latin typeface="Arial"/>
              </a:rPr>
              <a:t>préconfiguration en atelier, mise en service à distance par téléphone, vagues de 10 routeurs — sans déplacement Axians.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 — LE CŒUR TECHNIQUE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Intégration Zabbix &amp; traduction des dictionnaires MIB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LE DÉFI : DÉCODER L’ERICSSON MINI-LINK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Centaines d’OID à trier</a:t>
            </a:r>
            <a:r>
              <a:rPr sz="1250" b="0">
                <a:solidFill>
                  <a:srgbClr val="1B2633"/>
                </a:solidFill>
                <a:latin typeface="Arial"/>
              </a:rPr>
              <a:t> : capture des trames SNMP directement sur les équipements en production.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Valeurs piégeuses</a:t>
            </a:r>
            <a:r>
              <a:rPr sz="1250" b="0">
                <a:solidFill>
                  <a:srgbClr val="1B2633"/>
                </a:solidFill>
                <a:latin typeface="Arial"/>
              </a:rPr>
              <a:t> : Rx en dixièmes de dBm (-450 = -45,0 dBm) → prétraitement par multiplication dans le Template.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Traps propriétaires</a:t>
            </a:r>
            <a:r>
              <a:rPr sz="1250" b="0">
                <a:solidFill>
                  <a:srgbClr val="1B2633"/>
                </a:solidFill>
                <a:latin typeface="Arial"/>
              </a:rPr>
              <a:t> : chaîne brute décodée champ par champ via expressions régulières (regex apprises en contexte).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Horodatage hexadécimal</a:t>
            </a:r>
            <a:r>
              <a:rPr sz="1250" b="0">
                <a:solidFill>
                  <a:srgbClr val="1B2633"/>
                </a:solidFill>
                <a:latin typeface="Arial"/>
              </a:rPr>
              <a:t> + codes de cause traduits par table de correspondance.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30352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71907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CE QUI A ÉTÉ PRODUIT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488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>
                <a:solidFill>
                  <a:srgbClr val="FFFFFF"/>
                </a:solidFill>
                <a:latin typeface="Arial"/>
              </a:rPr>
              <a:t>Référentiel OID validé — un actif technique inédit pour l’entreprise.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>
                <a:solidFill>
                  <a:srgbClr val="FFFFFF"/>
                </a:solidFill>
                <a:latin typeface="Arial"/>
              </a:rPr>
              <a:t>Templates Zabbix génériques, réutilisables sur tout le parc MINI-LINK.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>
                <a:solidFill>
                  <a:srgbClr val="FFFFFF"/>
                </a:solidFill>
                <a:latin typeface="Arial"/>
              </a:rPr>
              <a:t>4 niveaux de sévérité + trigger Rx &lt; −75 dBm (seuil de dégradation).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977639"/>
            <a:ext cx="5303520" cy="2057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1148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EXEMPLE DE CHAÎNE DE TRAITEMENT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6B7A8C"/>
                </a:solidFill>
                <a:latin typeface="Arial"/>
              </a:rPr>
              <a:t>-450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Arial"/>
              </a:rPr>
              <a:t>valeur brute SNMP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548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B4C8"/>
                </a:solidFill>
                <a:latin typeface="Arial"/>
              </a:rPr>
              <a:t>× 0,1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Arial"/>
              </a:rPr>
              <a:t>prétraitement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47548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4617720"/>
            <a:ext cx="141732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473659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C48F"/>
                </a:solidFill>
                <a:latin typeface="Arial"/>
              </a:rPr>
              <a:t>-45,0 dBm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19379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B2633"/>
                </a:solidFill>
                <a:latin typeface="Arial"/>
              </a:rPr>
              <a:t>stocké &amp; affiché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 — SÉCURISATION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Durcissement des flux &amp; identification des faisceaux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POSTURE FERMÉE PAR DÉFAUT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« Tout ce qui n’est pas autorisé est rejeté »</a:t>
            </a:r>
            <a:r>
              <a:rPr sz="1250" b="0">
                <a:solidFill>
                  <a:srgbClr val="1B2633"/>
                </a:solidFill>
                <a:latin typeface="Arial"/>
              </a:rPr>
              <a:t> — pare-feu en REJECT par défaut.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Interfaces d’admin (SSH/HTTP/CLI) désactivées côté WAN</a:t>
            </a:r>
            <a:r>
              <a:rPr sz="1250" b="0">
                <a:solidFill>
                  <a:srgbClr val="1B2633"/>
                </a:solidFill>
                <a:latin typeface="Arial"/>
              </a:rPr>
              <a:t> : admin uniquement via tunnel RMS chiffré + MFA.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Zonage strict</a:t>
            </a:r>
            <a:r>
              <a:rPr sz="1250" b="0">
                <a:solidFill>
                  <a:srgbClr val="1B2633"/>
                </a:solidFill>
                <a:latin typeface="Arial"/>
              </a:rPr>
              <a:t> : LAN / WAN / OpenVPN / RMS, aucun transit non prévu.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1B2633"/>
                </a:solidFill>
                <a:latin typeface="Arial"/>
              </a:rPr>
              <a:t>Seul flux entrant autorisé</a:t>
            </a:r>
            <a:r>
              <a:rPr sz="1250" b="0">
                <a:solidFill>
                  <a:srgbClr val="1B2633"/>
                </a:solidFill>
                <a:latin typeface="Arial"/>
              </a:rPr>
              <a:t> : le tunnel de supervision.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63040"/>
            <a:ext cx="5303520" cy="466344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5303520" cy="508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27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LES RÈGLES NoNat — IDENTIFIER CHAQUE FAISCEAU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031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Sans NoNat, le masquerade remplace l’IP de chaque IDU par celle du routeur : tous les faisceaux d’un site apparaissent identiques dans Zabbix.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20040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2A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29184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53E3E"/>
                </a:solidFill>
                <a:latin typeface="Arial"/>
              </a:rPr>
              <a:t>✗ Sans NoNat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63931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E8C8C8"/>
                </a:solidFill>
                <a:latin typeface="Arial"/>
              </a:rPr>
              <a:t>3 faisceaux → 1 seule IP source → supervision individuelle impossible.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29768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12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43891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✓ Avec NoNat (ciblé SNMP)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73659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C8E8D8"/>
                </a:solidFill>
                <a:latin typeface="Arial"/>
              </a:rPr>
              <a:t>IP source préservée → chaque faisceau identifié précisément en alarme.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4406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B9C7D6"/>
                </a:solidFill>
                <a:latin typeface="Arial"/>
              </a:rPr>
              <a:t>Désactivation limitée au seul trafic de supervision → cloisonnement préservé.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20640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Traduction opérationnelle directe des mesures EBIOS RM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2633"/>
                </a:solidFill>
                <a:latin typeface="Arial"/>
              </a:rPr>
              <a:t>→ la surface d’attaque exposée chez le client est réduite au strict minimum.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 — L’INTERFACE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Restitution visuelle &amp; cartographie dynamique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Deux niveaux de lecture pour transformer un flux de données brut en information immédiate.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548640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NIVEAU OPÉRATIONNEL — ZABBIX</a:t>
            </a:r>
          </a:p>
        </p:txBody>
      </p:sp>
      <p:sp>
        <p:nvSpPr>
          <p:cNvPr id="12" name="Hexagon 11"/>
          <p:cNvSpPr/>
          <p:nvPr/>
        </p:nvSpPr>
        <p:spPr>
          <a:xfrm>
            <a:off x="868680" y="26060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-42 dBm</a:t>
            </a:r>
          </a:p>
        </p:txBody>
      </p:sp>
      <p:sp>
        <p:nvSpPr>
          <p:cNvPr id="14" name="Hexagon 13"/>
          <p:cNvSpPr/>
          <p:nvPr/>
        </p:nvSpPr>
        <p:spPr>
          <a:xfrm>
            <a:off x="2560320" y="26060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-43 dBm</a:t>
            </a:r>
          </a:p>
        </p:txBody>
      </p:sp>
      <p:sp>
        <p:nvSpPr>
          <p:cNvPr id="16" name="Hexagon 15"/>
          <p:cNvSpPr/>
          <p:nvPr/>
        </p:nvSpPr>
        <p:spPr>
          <a:xfrm>
            <a:off x="4251960" y="2606040"/>
            <a:ext cx="1371600" cy="777240"/>
          </a:xfrm>
          <a:prstGeom prst="hexagon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26060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-44 dBm</a:t>
            </a:r>
          </a:p>
        </p:txBody>
      </p:sp>
      <p:sp>
        <p:nvSpPr>
          <p:cNvPr id="18" name="Hexagon 17"/>
          <p:cNvSpPr/>
          <p:nvPr/>
        </p:nvSpPr>
        <p:spPr>
          <a:xfrm>
            <a:off x="868680" y="35204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-45 dBm</a:t>
            </a:r>
          </a:p>
        </p:txBody>
      </p:sp>
      <p:sp>
        <p:nvSpPr>
          <p:cNvPr id="20" name="Hexagon 19"/>
          <p:cNvSpPr/>
          <p:nvPr/>
        </p:nvSpPr>
        <p:spPr>
          <a:xfrm>
            <a:off x="2560320" y="3520440"/>
            <a:ext cx="1371600" cy="777240"/>
          </a:xfrm>
          <a:prstGeom prst="hexagon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-46 dBm</a:t>
            </a:r>
          </a:p>
        </p:txBody>
      </p:sp>
      <p:sp>
        <p:nvSpPr>
          <p:cNvPr id="22" name="Hexagon 21"/>
          <p:cNvSpPr/>
          <p:nvPr/>
        </p:nvSpPr>
        <p:spPr>
          <a:xfrm>
            <a:off x="4251960" y="3520440"/>
            <a:ext cx="1371600" cy="777240"/>
          </a:xfrm>
          <a:prstGeom prst="hexagon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3520440"/>
            <a:ext cx="1371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-47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26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Panneaux hexagonaux Rx en temps réel (rouge dès qu’une alarme est active).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Tables Rx/Tx par hôte + panneaux de disponibilité (SLO) par client.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E-mail automatique d’alerte ET de résolution, acquittement nominatif.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82880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1828800"/>
            <a:ext cx="5486400" cy="54864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82880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NIVEAU CARTOGRAPHIQUE — GRAFANA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606040"/>
            <a:ext cx="4937760" cy="1783080"/>
          </a:xfrm>
          <a:prstGeom prst="roundRect">
            <a:avLst/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49440" y="292608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03920" y="274320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24160" y="3108960"/>
            <a:ext cx="164592" cy="164592"/>
          </a:xfrm>
          <a:prstGeom prst="ellipse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98079" y="384048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92640" y="3931920"/>
            <a:ext cx="164592" cy="164592"/>
          </a:xfrm>
          <a:prstGeom prst="ellipse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78240" y="3474720"/>
            <a:ext cx="164592" cy="164592"/>
          </a:xfrm>
          <a:prstGeom prst="ellipse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031736" y="2825496"/>
            <a:ext cx="1554480" cy="182880"/>
          </a:xfrm>
          <a:prstGeom prst="bentConnector3">
            <a:avLst/>
          </a:prstGeom>
          <a:ln w="25400">
            <a:solidFill>
              <a:srgbClr val="2EC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586216" y="2825496"/>
            <a:ext cx="274320" cy="731519"/>
          </a:xfrm>
          <a:prstGeom prst="bentConnector3">
            <a:avLst/>
          </a:prstGeom>
          <a:ln w="25400">
            <a:solidFill>
              <a:srgbClr val="F2A6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860536" y="3191256"/>
            <a:ext cx="1645920" cy="365759"/>
          </a:xfrm>
          <a:prstGeom prst="bentConnector3">
            <a:avLst/>
          </a:prstGeom>
          <a:ln w="25400">
            <a:solidFill>
              <a:srgbClr val="E53E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580375" y="3557015"/>
            <a:ext cx="1280161" cy="365761"/>
          </a:xfrm>
          <a:prstGeom prst="bentConnector3">
            <a:avLst/>
          </a:prstGeom>
          <a:ln w="25400">
            <a:solidFill>
              <a:srgbClr val="2EC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4936" y="3191256"/>
            <a:ext cx="731520" cy="822959"/>
          </a:xfrm>
          <a:prstGeom prst="bentConnector3">
            <a:avLst/>
          </a:prstGeom>
          <a:ln w="25400">
            <a:solidFill>
              <a:srgbClr val="E53E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46520" y="45262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 b="1">
                <a:solidFill>
                  <a:srgbClr val="1B2633"/>
                </a:solidFill>
                <a:latin typeface="Arial"/>
              </a:rPr>
              <a:t>Script grafana_topology.py</a:t>
            </a:r>
            <a:r>
              <a:rPr sz="1150" b="0">
                <a:solidFill>
                  <a:srgbClr val="1B2633"/>
                </a:solidFill>
                <a:latin typeface="Arial"/>
              </a:rPr>
              <a:t> développé sur-mesure : lit MySQL Zabbix → GeoJSON (plugin Geomap).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Liaisons tracées site-à-site ; trait rouge = faisceau en alarme.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00B4C8"/>
                </a:solidFill>
                <a:latin typeface="Arial"/>
              </a:rPr>
              <a:t>▸  </a:t>
            </a:r>
            <a:r>
              <a:rPr sz="1150">
                <a:solidFill>
                  <a:srgbClr val="1B2633"/>
                </a:solidFill>
                <a:latin typeface="Arial"/>
              </a:rPr>
              <a:t>Pop-up : Rx/Tx, alarmes actives, lien direct vers l’équipement.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3 — AU-DELÀ DU PÉRIMÈTRE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L’IA locale comme accélérateur technique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B7A8C"/>
                </a:solidFill>
                <a:latin typeface="Arial"/>
              </a:rPr>
              <a:t>Deux prototypes exploratoires, exécutés </a:t>
            </a:r>
            <a:r>
              <a:rPr sz="1300" b="1" i="0">
                <a:solidFill>
                  <a:srgbClr val="00B4C8"/>
                </a:solidFill>
                <a:latin typeface="Arial"/>
              </a:rPr>
              <a:t>100 % en local (Ollama)</a:t>
            </a:r>
            <a:r>
              <a:rPr sz="1300" b="0" i="0">
                <a:solidFill>
                  <a:srgbClr val="6B7A8C"/>
                </a:solidFill>
                <a:latin typeface="Arial"/>
              </a:rPr>
              <a:t> — confidentialité des données, aucun cloud tiers.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09728" cy="338328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1B2D"/>
                </a:solidFill>
                <a:latin typeface="Arial"/>
              </a:rPr>
              <a:t>① Corrélation d’alarmes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Ollama + DBSCAN (clustering non supervisé)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718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Rapproche traps SNMP, niveaux Rx, logs Zabbix dans une même fenêtre temporelle.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Objectif : faire émerger une cause racine à partir de signaux dispersés.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Aide aussi à l’analyse des MIB et à la construction des regex.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874519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874519"/>
            <a:ext cx="109728" cy="33832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② Assistant conversationnel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Modèle Mistral hébergé localement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Consultation de la supervision en langage naturel (utile en astreinte).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Intégré au portail centralisé (SSO Microsoft Entra ID + MFA).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FFFFFF"/>
                </a:solidFill>
                <a:latin typeface="Arial"/>
              </a:rPr>
              <a:t>Choix Mistral : français, taille adaptée au serveur HPE, modèle ouvert.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6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440680"/>
            <a:ext cx="91440" cy="6858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40680"/>
            <a:ext cx="107899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2A63B"/>
                </a:solidFill>
                <a:latin typeface="Arial"/>
              </a:rPr>
              <a:t>Posture honnête : </a:t>
            </a:r>
            <a:r>
              <a:rPr sz="1250" b="0" i="0">
                <a:solidFill>
                  <a:srgbClr val="1B2633"/>
                </a:solidFill>
                <a:latin typeface="Arial"/>
              </a:rPr>
              <a:t>ce sont des pistes d’expérimentation validant un intérêt — pas encore des fonctions industrialisées en production.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Impacts financiers — Rentabilité (ROI / TCO)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91440" cy="13716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Arial"/>
              </a:rPr>
              <a:t>310 %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ROI cumulé à 5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417320"/>
            <a:ext cx="91440" cy="13716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Arial"/>
              </a:rPr>
              <a:t>14,6 mois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Point mort après mise en prod.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91440" cy="13716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0B4C8"/>
                </a:solidFill>
                <a:latin typeface="Arial"/>
              </a:rPr>
              <a:t>176 284 €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Gain net absolu sur 5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41732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06840" y="1417320"/>
            <a:ext cx="91440" cy="13716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1563624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F1B2D"/>
                </a:solidFill>
                <a:latin typeface="Arial"/>
              </a:rPr>
              <a:t>56 646 €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203704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Investissement total (TCO)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632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STRUCTURE DU COÛT (TCO)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7472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CAPEX humain (savoir-faire interne)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4747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46 440 €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67328"/>
            <a:ext cx="5349240" cy="164592"/>
          </a:xfrm>
          <a:prstGeom prst="rect">
            <a:avLst/>
          </a:prstGeom>
          <a:solidFill>
            <a:srgbClr val="E3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767328"/>
            <a:ext cx="4386376" cy="164592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1330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CAPEX matériel (serveur, routeurs…)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133088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10 206 €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25696"/>
            <a:ext cx="5349240" cy="164592"/>
          </a:xfrm>
          <a:prstGeom prst="rect">
            <a:avLst/>
          </a:prstGeom>
          <a:solidFill>
            <a:srgbClr val="E3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425696"/>
            <a:ext cx="962863" cy="16459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83717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82 % du TCO = coût humain</a:t>
            </a:r>
            <a:r>
              <a:rPr sz="1200" b="0" i="0">
                <a:solidFill>
                  <a:srgbClr val="1B2633"/>
                </a:solidFill>
                <a:latin typeface="Arial"/>
              </a:rPr>
              <a:t> → un actif immatériel (templates, doc, savoir-faire) et non un coût perdu.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06324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200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UN MODÈLE ÉCONOMIQUE ROBUSTE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63931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Revenus à deux têtes</a:t>
            </a:r>
            <a:r>
              <a:rPr sz="1200" b="0">
                <a:solidFill>
                  <a:srgbClr val="FFFFFF"/>
                </a:solidFill>
                <a:latin typeface="Arial"/>
              </a:rPr>
              <a:t> : abonnements (16 clients × 2 000 €/an) + économies GTI (déplacements évités).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Scénario conservateur</a:t>
            </a:r>
            <a:r>
              <a:rPr sz="1200" b="0">
                <a:solidFill>
                  <a:srgbClr val="FFFFFF"/>
                </a:solidFill>
                <a:latin typeface="Arial"/>
              </a:rPr>
              <a:t> : même à 1 500 €/client, ROI 169 % à 5 ans.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Effet de levier</a:t>
            </a:r>
            <a:r>
              <a:rPr sz="1200" b="0">
                <a:solidFill>
                  <a:srgbClr val="FFFFFF"/>
                </a:solidFill>
                <a:latin typeface="Arial"/>
              </a:rPr>
              <a:t> : OPEX fixe → un serveur absorbe 50+ clients sans surcoût.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Open source</a:t>
            </a:r>
            <a:r>
              <a:rPr sz="1200" b="0">
                <a:solidFill>
                  <a:srgbClr val="FFFFFF"/>
                </a:solidFill>
                <a:latin typeface="Arial"/>
              </a:rPr>
              <a:t> : 0 € de licence (vs 5 000–20 000 €/an en propriétaire).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Impacts environnemental &amp; opérationnel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8F"/>
                </a:solidFill>
                <a:latin typeface="Arial"/>
              </a:rPr>
              <a:t>LE « PARADOXE DU SERVEUR ALLUMÉ » LEVÉ PAR LE CALCUL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5486400" cy="23317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Bilan CO₂ annuel (scénario de base 100 km)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Déplacements évités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4937760" cy="36576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51760"/>
            <a:ext cx="4663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576 kg CO₂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Serveur HPE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29000"/>
            <a:ext cx="841248" cy="365760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342900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C"/>
                </a:solidFill>
                <a:latin typeface="Arial"/>
              </a:rPr>
              <a:t>98 kg CO₂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22191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1B2D"/>
                </a:solidFill>
                <a:latin typeface="Arial"/>
              </a:rPr>
              <a:t>→ Le serveur émet 5,9× moins que les trajets qu’il remplace.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343400"/>
            <a:ext cx="91440" cy="13258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89704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Arial"/>
              </a:rPr>
              <a:t>478 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1297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CO₂ net économisés / 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434340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37560" y="4343400"/>
            <a:ext cx="91440" cy="132588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4489704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EC48F"/>
                </a:solidFill>
                <a:latin typeface="Arial"/>
              </a:rPr>
              <a:t>≈ 2,4 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512978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B2633"/>
                </a:solidFill>
                <a:latin typeface="Arial"/>
              </a:rPr>
              <a:t>CO₂ évités cumulés sur 5 ans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78308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783080"/>
            <a:ext cx="5394960" cy="508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UN 3ᵉ BÉNÉFICE : LA VALIDATION TERRAIN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Confronter Rx mesuré vs Rx théorique (DIL)</a:t>
            </a:r>
            <a:r>
              <a:rPr sz="1250" b="0">
                <a:solidFill>
                  <a:srgbClr val="FFFFFF"/>
                </a:solidFill>
                <a:latin typeface="Arial"/>
              </a:rPr>
              <a:t> en temps réel, sans déplacement.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Détection immédiate des non-conformités</a:t>
            </a:r>
            <a:r>
              <a:rPr sz="1250" b="0">
                <a:solidFill>
                  <a:srgbClr val="FFFFFF"/>
                </a:solidFill>
                <a:latin typeface="Arial"/>
              </a:rPr>
              <a:t> : défaut d’alignement, obstacle, perte câble…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De plusieurs jours à quelques minutes</a:t>
            </a:r>
            <a:r>
              <a:rPr sz="1250" b="0">
                <a:solidFill>
                  <a:srgbClr val="FFFFFF"/>
                </a:solidFill>
                <a:latin typeface="Arial"/>
              </a:rPr>
              <a:t> pour identifier une anomalie d’installation.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Passage du réactif au proactif</a:t>
            </a:r>
            <a:r>
              <a:rPr sz="1250" b="0">
                <a:solidFill>
                  <a:srgbClr val="FFFFFF"/>
                </a:solidFill>
                <a:latin typeface="Arial"/>
              </a:rPr>
              <a:t> : Zabbix détecte les signes précurseurs avant la panne.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00B4C8"/>
                </a:solidFill>
                <a:latin typeface="Arial"/>
              </a:rPr>
              <a:t>▸  </a:t>
            </a:r>
            <a:r>
              <a:rPr sz="1250" b="1">
                <a:solidFill>
                  <a:srgbClr val="FFFFFF"/>
                </a:solidFill>
                <a:latin typeface="Arial"/>
              </a:rPr>
              <a:t>Gage de crédibilité</a:t>
            </a:r>
            <a:r>
              <a:rPr sz="1250" b="0">
                <a:solidFill>
                  <a:srgbClr val="FFFFFF"/>
                </a:solidFill>
                <a:latin typeface="Arial"/>
              </a:rPr>
              <a:t> vis-à-vis des clients : preuve chiffrée de conformité.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CHAPITRE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Bilan &amp;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0F1B2D"/>
                </a:solidFill>
                <a:latin typeface="Arial"/>
              </a:rPr>
              <a:t>La problématique trouve une réponse opérationnelle complète : les 5 jalons sont atteints.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Arial"/>
              </a:rPr>
              <a:t>✓ Centralisée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Plateforme Zabbix-Grafana unique sur serveur HPE.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Arial"/>
              </a:rPr>
              <a:t>✓ Fiable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MIB Ericsson investiguées + validation contradictoire des signaux.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Arial"/>
              </a:rPr>
              <a:t>✓ Temps réel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Polling 1 min + traitement des traps spontanés.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783080"/>
            <a:ext cx="2715768" cy="13716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783080"/>
            <a:ext cx="2715768" cy="4445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1920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1B2D"/>
                </a:solidFill>
                <a:latin typeface="Arial"/>
              </a:rPr>
              <a:t>✓ À distance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3317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B2633"/>
                </a:solidFill>
                <a:latin typeface="Arial"/>
              </a:rPr>
              <a:t>Tunnels VPN + consultation web des tableaux de bord.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33756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4930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PERSPECTIVES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9319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Élargir le parc supervisé</a:t>
            </a:r>
            <a:r>
              <a:rPr sz="1200" b="0">
                <a:solidFill>
                  <a:srgbClr val="FFFFFF"/>
                </a:solidFill>
                <a:latin typeface="Arial"/>
              </a:rPr>
              <a:t> : axe n°1 — chaque nouveau client ≈ flux net intégral (OPEX fixe).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Industrialiser l’IA locale</a:t>
            </a:r>
            <a:r>
              <a:rPr sz="1200" b="0">
                <a:solidFill>
                  <a:srgbClr val="FFFFFF"/>
                </a:solidFill>
                <a:latin typeface="Arial"/>
              </a:rPr>
              <a:t> : corrélation d’alarmes &amp; assistant conversationnel.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FFFFFF"/>
                </a:solidFill>
                <a:latin typeface="Arial"/>
              </a:rPr>
              <a:t>Pérennité</a:t>
            </a:r>
            <a:r>
              <a:rPr sz="1200" b="0">
                <a:solidFill>
                  <a:srgbClr val="FFFFFF"/>
                </a:solidFill>
                <a:latin typeface="Arial"/>
              </a:rPr>
              <a:t> : documentation complète, templates réutilisables, reprise par le service RMP.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33756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930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0B4C8"/>
                </a:solidFill>
                <a:latin typeface="Arial"/>
              </a:rPr>
              <a:t>MA MONTÉE EN COMPÉTENCES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9319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1B2633"/>
                </a:solidFill>
                <a:latin typeface="Arial"/>
              </a:rPr>
              <a:t>Technique</a:t>
            </a:r>
            <a:r>
              <a:rPr sz="1200" b="0">
                <a:solidFill>
                  <a:srgbClr val="1B2633"/>
                </a:solidFill>
                <a:latin typeface="Arial"/>
              </a:rPr>
              <a:t> : SNMP, MIB, liaisons hertziennes, Zabbix/Grafana de A à Z, VPN/NoNat.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1B2633"/>
                </a:solidFill>
                <a:latin typeface="Arial"/>
              </a:rPr>
              <a:t>Méthode</a:t>
            </a:r>
            <a:r>
              <a:rPr sz="1200" b="0">
                <a:solidFill>
                  <a:srgbClr val="1B2633"/>
                </a:solidFill>
                <a:latin typeface="Arial"/>
              </a:rPr>
              <a:t> : WBS, RACI, EBIOS RM, SWOT, suivi des écarts.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 b="1">
                <a:solidFill>
                  <a:srgbClr val="1B2633"/>
                </a:solidFill>
                <a:latin typeface="Arial"/>
              </a:rPr>
              <a:t>Avenir</a:t>
            </a:r>
            <a:r>
              <a:rPr sz="1200" b="0">
                <a:solidFill>
                  <a:srgbClr val="1B2633"/>
                </a:solidFill>
                <a:latin typeface="Arial"/>
              </a:rPr>
              <a:t> : poursuite en école d’ingénieur en alternance, chez Axians RMP.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512064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56692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8521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49377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B4C8"/>
                </a:solidFill>
                <a:latin typeface="Arial"/>
              </a:rPr>
              <a:t>EN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D’une supervision obsolète à une plateforme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centralisée, fiable, sécurisée et rentable.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3D0DE"/>
                </a:solidFill>
                <a:latin typeface="Arial"/>
              </a:rPr>
              <a:t>Un projet mené de bout en bout — du cadrage à la mise en production — qui constitue désormais un actif technique durable pour Axians RMP.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310 %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ROI à 5 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clients supervisés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3056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478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CO₂ évités/an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33104" y="4343400"/>
            <a:ext cx="246888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33104" y="4343400"/>
            <a:ext cx="2468880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44805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B4C8"/>
                </a:solidFill>
                <a:latin typeface="Arial"/>
              </a:rPr>
              <a:t>5/5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4919472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jalons livrés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A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5715000"/>
            <a:ext cx="12191695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943600"/>
            <a:ext cx="7315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Merci de votre attention.</a:t>
            </a:r>
            <a:r>
              <a:rPr sz="1400" b="0" i="0">
                <a:solidFill>
                  <a:srgbClr val="B9C7D6"/>
                </a:solidFill>
                <a:latin typeface="Arial"/>
              </a:rPr>
              <a:t>   Je suis à votre disposition pour vos questions.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94360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0B4C8"/>
                </a:solidFill>
                <a:latin typeface="Arial"/>
              </a:rPr>
              <a:t>Ilyesse KEBAILI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9C7D6"/>
                </a:solidFill>
                <a:latin typeface="Arial"/>
              </a:rPr>
              <a:t>BUT R&amp;T · Cybersécurité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0" y="82296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38560" y="137160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15544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12880" y="640080"/>
            <a:ext cx="118872" cy="118872"/>
          </a:xfrm>
          <a:prstGeom prst="ellipse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86000"/>
            <a:ext cx="3108960" cy="3175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ANNEXES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0B4C8"/>
                </a:solidFill>
                <a:latin typeface="Arial"/>
              </a:rPr>
              <a:t>Questions anticipées · Hypothèses détaillées · Justification des choix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572000"/>
            <a:ext cx="91440" cy="9144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3D0DE"/>
                </a:solidFill>
                <a:latin typeface="Arial"/>
              </a:rPr>
              <a:t>Diapositives de réserve — mobilisables pendant la phase de questions/réponses pour appuyer chaque chiffre et chaque choix par une preuve.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ANNEXE 1 — CADRAGE DU BESOIN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Le besoin — pourquoi, pour qui, comment, où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10896"/>
            <a:ext cx="1554480" cy="457200"/>
          </a:xfrm>
          <a:prstGeom prst="round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80015" y="310896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ANNEXE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40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486400" cy="4572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7160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POURQUOI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Supervision obsolète : 1 module sur 2 HS, fausses alarmes.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~3 ans sans outil → pannes signalées par les clients.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0B4C8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Parc critique : hôpitaux, industrie continue, OIV.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240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POUR QUI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B3A5C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Techniciens / NOC : diagnostic immédiat, moins de déplacements.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B3A5C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Chef de projet &amp; responsable d’affaires : pilotage.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B3A5C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Clients &amp; agence : continuité de service + rentabilité.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240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5486400" cy="457200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9476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COMMENT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1655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RUT956 → tunnel VPN / RMS → Zabbix → Grafana → serveur HPE.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SNMP polling 1 min + traps ; templates génériques.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EC48F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Sécurité EBIOS RM : MFA + durcissement / NoNat.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486400" cy="22402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94760"/>
            <a:ext cx="548640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79476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OÙ / QUOI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41655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F1B2D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Sites dispersés en France (zones sans fibre).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F1B2D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Périmètre : 16 clients, 30-50 faisceaux Ericsson MINI-LINK (IDU).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0F1B2D"/>
                </a:solidFill>
                <a:latin typeface="Arial"/>
              </a:rPr>
              <a:t>▸  </a:t>
            </a:r>
            <a:r>
              <a:rPr sz="1200">
                <a:solidFill>
                  <a:srgbClr val="1B2633"/>
                </a:solidFill>
                <a:latin typeface="Arial"/>
              </a:rPr>
              <a:t>Hors périmètre : IA locale, portail Entra ID (pistes).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ANNEXE 2 — MODÈLE FINANCIER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Hypothèses du ROI — chaque chiffre justifié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10896"/>
            <a:ext cx="1554480" cy="457200"/>
          </a:xfrm>
          <a:prstGeom prst="round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80015" y="310896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ANNEXE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TCO 56 646 €  ·  flux net 46 586 €/an  ·  point mort 14,6 mois  ·  ROI 310 % à 5 ans  ·  gain net 176 284 €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691640"/>
          <a:ext cx="11201400" cy="4005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206240"/>
                <a:gridCol w="425196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Chiffre</a:t>
                      </a:r>
                    </a:p>
                  </a:txBody>
                  <a:tcPr marL="73152" marR="73152" marT="27432" marB="27432" anchor="ctr">
                    <a:solidFill>
                      <a:srgbClr val="00B4C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Hypothèse retenue</a:t>
                      </a:r>
                    </a:p>
                  </a:txBody>
                  <a:tcPr marL="73152" marR="73152" marT="27432" marB="27432" anchor="ctr">
                    <a:solidFill>
                      <a:srgbClr val="00B4C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Pourquoi c’est solide / prudent</a:t>
                      </a:r>
                    </a:p>
                  </a:txBody>
                  <a:tcPr marL="73152" marR="73152" marT="27432" marB="27432" anchor="ctr">
                    <a:solidFill>
                      <a:srgbClr val="00B4C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40 €/h (alternant)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Taux interne chargé Axians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= coût réel pour l’entreprise, pas un salaire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2 000 €/client/an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Minimum contractuel (plancher)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Marché concurrent : 2 400 à 4 800 €/an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Coût humain = 82 %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Valorisé en actif immatériel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Templates + doc réutilisables, pas un coût perdu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OPEX 2 694 €/an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Fixe jusqu’à 50+ clients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Chaque nouveau client = flux net quasi intégral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2 déplacements/mois évités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Borne basse pessimiste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Toute imprécision joue en faveur du projet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Scénario 0 déplacement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Revenus = abonnements seuls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1E8E66"/>
                          </a:solidFill>
                          <a:latin typeface="Arial"/>
                        </a:rPr>
                        <a:t>ROI encore 159 % → rentable sur l’abonnement seul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C"/>
                </a:solidFill>
                <a:latin typeface="Arial"/>
              </a:rPr>
              <a:t>Fiabilité du chiffrage : </a:t>
            </a:r>
            <a:r>
              <a:rPr sz="1100" b="0" i="0">
                <a:solidFill>
                  <a:srgbClr val="6B7A8C"/>
                </a:solidFill>
                <a:latin typeface="Arial"/>
              </a:rPr>
              <a:t>1 001 h calculées tâche par tâche (GanttProject) et recoupées aux 176 jours réellement disponibles — cohérent à 0,7 % près.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ANNEXE 3 — BILAN CARBONE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Hypothèses du bilan CO2 — sources officielles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10896"/>
            <a:ext cx="1554480" cy="457200"/>
          </a:xfrm>
          <a:prstGeom prst="roundRect">
            <a:avLst/>
          </a:prstGeom>
          <a:solidFill>
            <a:srgbClr val="2EC4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80015" y="310896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ANNEXE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478 kg CO2 nets économisés / an  ·  le serveur émet 5,9× moins que les trajets évités  ·  ≈ 2,4 t sur 5 ans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691640"/>
          <a:ext cx="11201400" cy="4005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498348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Paramètre</a:t>
                      </a:r>
                    </a:p>
                  </a:txBody>
                  <a:tcPr marL="73152" marR="73152" marT="27432" marB="27432" anchor="ctr">
                    <a:solidFill>
                      <a:srgbClr val="2EC48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Valeur</a:t>
                      </a:r>
                    </a:p>
                  </a:txBody>
                  <a:tcPr marL="73152" marR="73152" marT="27432" marB="27432" anchor="ctr">
                    <a:solidFill>
                      <a:srgbClr val="2EC48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Source / justification</a:t>
                      </a:r>
                    </a:p>
                  </a:txBody>
                  <a:tcPr marL="73152" marR="73152" marT="27432" marB="27432" anchor="ctr">
                    <a:solidFill>
                      <a:srgbClr val="2EC48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Émission VUL diesel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180 g CO2/km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ADEME — Base Carbone 2023 (référentiel officiel)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Mix électrique français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56 g CO2/kWh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RTE éco2mix 2023 — faible car &gt;70 % nucléaire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Puissance serveur HPE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200 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HPE QuickSpecs (valeur en charge, majorante)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Déplacements évités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32 / an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2 interventions/client/an × 16 clients (borne basse)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Distance A/R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100 km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B06A0A"/>
                          </a:solidFill>
                          <a:latin typeface="Arial"/>
                        </a:rPr>
                        <a:t>Seule hyp. non sourcée → sensibilité 50-200 km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0F1B2D"/>
                          </a:solidFill>
                          <a:latin typeface="Arial"/>
                        </a:rPr>
                        <a:t>Bilan net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0">
                          <a:solidFill>
                            <a:srgbClr val="1B2633"/>
                          </a:solidFill>
                          <a:latin typeface="Arial"/>
                        </a:rPr>
                        <a:t>576 − 98 kg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98000"/>
                        </a:lnSpc>
                      </a:pPr>
                      <a:r>
                        <a:rPr sz="1100" b="1">
                          <a:solidFill>
                            <a:srgbClr val="1E8E66"/>
                          </a:solidFill>
                          <a:latin typeface="Arial"/>
                        </a:rPr>
                        <a:t>= 478 kg/an ; positif même à 50 km (+190 kg, 2,9×)</a:t>
                      </a:r>
                    </a:p>
                  </a:txBody>
                  <a:tcPr marL="73152" marR="73152" marT="27432" marB="27432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A8C"/>
                </a:solidFill>
                <a:latin typeface="Arial"/>
              </a:rPr>
              <a:t>Le « paradoxe du serveur allumé H24 » est levé par le calcul, pas par l’intuition — et dans aucun scénario testé le bilan ne devient négatif.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ANNEXE 4 — « POURQUOI CE CHOIX ? »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Questions anticipées — les choix techniques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10896"/>
            <a:ext cx="1554480" cy="457200"/>
          </a:xfrm>
          <a:prstGeom prst="round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80015" y="310896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Q / 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14173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Pourquoi Zabbix, pas PRTG/Centreon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75104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Open source (0 licence), moteur d’items très souple, couplage parfait avec Grafana, déjà urbanisé dans le groupe.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14173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48132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Pourquoi Teltonika, pas Cisco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1975104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RMS nativement Cloud, VPN Hub en quelques clics, accès derrière le NAT opérateur, coût optimisé, Dual-SIM.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44368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944368"/>
            <a:ext cx="91440" cy="14173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3054096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Pourquoi écarter Huawei / Robustel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547872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Souveraineté et recommandations ANSSI : clients santé / énergie, certains OIV.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944368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944368"/>
            <a:ext cx="91440" cy="14173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054096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Pourquoi un serveur physique, pas le cloud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547872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DAT + devis : le coût récurrent d’une VM dépassait l’achat d’un serveur dédié sur la durée de vie.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517136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517136"/>
            <a:ext cx="91440" cy="14173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626864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Pourquoi un polling à la minute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5120640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Voir l’évolution réelle du signal : baisse lente = désalignement, chute brutale = panne franche.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517136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4517136"/>
            <a:ext cx="91440" cy="141732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626864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À quoi servent les règles NoNat 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5120640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Préserver l’IP source de chaque IDU dans le VPN → identifier individuellement chaque faisceau en alarme.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gradFill>
            <a:gsLst>
              <a:gs pos="0">
                <a:srgbClr val="0F1B2D"/>
              </a:gs>
              <a:gs pos="100000">
                <a:srgbClr val="1B3A5C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F1B2D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182880"/>
            <a:ext cx="8778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00B4C8"/>
                </a:solidFill>
                <a:latin typeface="Arial"/>
              </a:rPr>
              <a:t>ANNEXE 5 — « COMMENT ? » + POINTS DE VIGILANCE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Questions anticipées — méthode, chiffres &amp; vigilance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10896"/>
            <a:ext cx="1554480" cy="457200"/>
          </a:xfrm>
          <a:prstGeom prst="round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80015" y="310896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1B2D"/>
                </a:solidFill>
                <a:latin typeface="Arial"/>
              </a:rPr>
              <a:t>Q / 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128016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Pourquoi ce projet maintenant, pas avant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75104"/>
            <a:ext cx="5074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Départs successifs + intégration VINCI/Axians (2019) ont mobilisé les ressources ; la bande passante s’est libérée + un alternant dédié.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128016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48132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Comment justifier les 1 001 heures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1975104"/>
            <a:ext cx="5074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Calcul tâche par tâche (GanttProject), recoupé aux 176 jours disponibles (81 %) — cohérent à 0,7 %.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78892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788920"/>
            <a:ext cx="91440" cy="128016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289864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Comment expliquer le retard de 4 semaines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392424"/>
            <a:ext cx="5074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J1 MIB Ericsson non anticipable (+7 sem.) + 32 j de missions DIL/DIS. Sans ces causes externes → date prévue.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78892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D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788920"/>
            <a:ext cx="91440" cy="1280160"/>
          </a:xfrm>
          <a:prstGeom prst="rect">
            <a:avLst/>
          </a:prstGeom>
          <a:solidFill>
            <a:srgbClr val="00B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289864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B2D"/>
                </a:solidFill>
                <a:latin typeface="Arial"/>
              </a:rPr>
              <a:t>Comment le risque cyber est-il maîtrisé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392424"/>
            <a:ext cx="5074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B4C8"/>
                </a:solidFill>
                <a:latin typeface="Arial"/>
              </a:rPr>
              <a:t>→ </a:t>
            </a:r>
            <a:r>
              <a:rPr sz="1150" b="0" i="0">
                <a:solidFill>
                  <a:srgbClr val="1B2633"/>
                </a:solidFill>
                <a:latin typeface="Arial"/>
              </a:rPr>
              <a:t>EBIOS RM : MFA strict (compromission) + NoNat/durcissement (latéralisation) → vraisemblance V3 ramenée à V1.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43400"/>
            <a:ext cx="10698480" cy="1783080"/>
          </a:xfrm>
          <a:prstGeom prst="roundRect">
            <a:avLst>
              <a:gd name="adj" fmla="val 6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343400"/>
            <a:ext cx="91440" cy="178308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48056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2A63B"/>
                </a:solidFill>
                <a:latin typeface="Arial"/>
              </a:rPr>
              <a:t>⚠ VIGILANCE — deux chiffres à harmoniser avant l’oral (à annoncer soi-même si on les aborde)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9377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F2A63B"/>
                </a:solidFill>
                <a:latin typeface="Arial"/>
              </a:rPr>
              <a:t>▸  </a:t>
            </a:r>
            <a:r>
              <a:rPr sz="1150" b="1">
                <a:solidFill>
                  <a:srgbClr val="1B2633"/>
                </a:solidFill>
                <a:latin typeface="Arial"/>
              </a:rPr>
              <a:t>Déplacements évités : 24/an (ROI, 2/mois) vs 32/an (CO2, 2/client). </a:t>
            </a:r>
            <a:r>
              <a:rPr sz="1150" b="0">
                <a:solidFill>
                  <a:srgbClr val="1B2633"/>
                </a:solidFill>
                <a:latin typeface="Arial"/>
              </a:rPr>
              <a:t>Deux bornes basses différentes — la conclusion ne dépend pas de l’hypothèse.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F2A63B"/>
                </a:solidFill>
                <a:latin typeface="Arial"/>
              </a:rPr>
              <a:t>▸  </a:t>
            </a:r>
            <a:r>
              <a:rPr sz="1150" b="1">
                <a:solidFill>
                  <a:srgbClr val="1B2633"/>
                </a:solidFill>
                <a:latin typeface="Arial"/>
              </a:rPr>
              <a:t>Puissance serveur : 150 W (OPEX électrique) vs 200 W (CO2). </a:t>
            </a:r>
            <a:r>
              <a:rPr sz="1150" b="0">
                <a:solidFill>
                  <a:srgbClr val="1B2633"/>
                </a:solidFill>
                <a:latin typeface="Arial"/>
              </a:rPr>
              <a:t>Moyenne d’exploitation vs pic majorant — chaque section prend la valeur prudente pour son calcul.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5566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Aphélie — Supervision centralisée des faisceaux hertziens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6455664"/>
            <a:ext cx="2221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6B7A8C"/>
                </a:solidFill>
                <a:latin typeface="Arial"/>
              </a:rPr>
              <a:t>Ilyesse KEBAILI   | 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