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4" r:id="rId25"/>
    <p:sldId id="262" r:id="rId13"/>
    <p:sldId id="277" r:id="rId28"/>
    <p:sldId id="263" r:id="rId14"/>
    <p:sldId id="264" r:id="rId15"/>
    <p:sldId id="278" r:id="rId29"/>
    <p:sldId id="265" r:id="rId16"/>
    <p:sldId id="266" r:id="rId17"/>
    <p:sldId id="267" r:id="rId18"/>
    <p:sldId id="268" r:id="rId19"/>
    <p:sldId id="269" r:id="rId20"/>
    <p:sldId id="270" r:id="rId21"/>
    <p:sldId id="275" r:id="rId26"/>
    <p:sldId id="271" r:id="rId22"/>
    <p:sldId id="276" r:id="rId27"/>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20.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7.xml"/><Relationship Id="rId26" Type="http://schemas.openxmlformats.org/officeDocument/2006/relationships/slide" Target="slides/slide19.xml"/><Relationship Id="rId27" Type="http://schemas.openxmlformats.org/officeDocument/2006/relationships/slide" Target="slides/slide21.xml"/><Relationship Id="rId28" Type="http://schemas.openxmlformats.org/officeDocument/2006/relationships/slide" Target="slides/slide9.xml"/><Relationship Id="rId29" Type="http://schemas.openxmlformats.org/officeDocument/2006/relationships/slide" Target="slides/slide12.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FR] Bonjour. Je m’appelle Ilyesse Kebaili, je suis alternant en BUT Réseaux et Télécommunications, parcours Cybersécurité, à l’IUT de Valence. J’effectue mon alternance chez Axians Réseaux Mobiles Privés, une entité de VINCI Energies. Je vais vous présenter mon projet de réalisation professionnelle : Aphélie, la conception d’un système de supervision centralisé pour des faisceaux hertziens.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FR] Ma présentation se déroulera en cinq temps. Après une courte introduction, je vous présenterai en anglais l’entreprise et le contexte de mon travail. J’aborderai ensuite le cadrage du projet, sa réalisation technique, puis ses impacts financiers et environnementaux, avant de conclure sur le bilan et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FR] Commençons par le contexte. Les faisceaux hertziens sont des liaisons radio point à point qui raccordent des sites isolés, ou servent de secours, là où la fibre n’arrive pas. Nos clients sont surtout des hôpitaux et des sites industriels en production continue : pour eux, une coupure de liaison, c’est une rupture de la chaîne de soins, ou un arrêt de production. La disponibilité est donc critique.</a:t>
            </a:r>
          </a:p>
          <a:p/>
          <a:p>
            <a:r>
              <a:t>Or l’agence se trouvait dans une situation problématique : son outil de supervision était devenu obsolète. Pendant près de trois ans, les pannes n’étaient détectées que lorsque le client lui-même appelait — exactement l’inverse de ce qu’on attend d’une supervision.</a:t>
            </a:r>
          </a:p>
          <a:p/>
          <a:p>
            <a:r>
              <a:t>D’où ma problématique : comment remplacer une solution de supervision obsolète par une plateforme centralisée, capable de fournir des informations fiables en temps réel sur les liaisons hertziennes, et accessible à distance ? Pour y répondre, le projet s’est fixé quatre objectifs : centraliser, fiabiliser, sécuriser et pérenniser.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EN] I will now present the company and the context of my work in English.</a:t>
            </a:r>
          </a:p>
          <a:p/>
          <a:p>
            <a:r>
              <a:t>I did my apprenticeship at Axians Réseaux Mobiles Privés. Let me put it in context. The company belongs to VINCI, a global group with 280,000 employees and a revenue of 74.6 billion euros in 2025. Within VINCI, the energy and IT division is VINCI Energies, and Axians is its brand dedicated to information and communication technologies, with 15,000 employees worldwide. My agency, Axians RMP AURA, is based near Valence, and is a human-sized team of about 38 people.</a:t>
            </a:r>
          </a:p>
          <a:p/>
          <a:p>
            <a:r>
              <a:t>Our specialties are private radio networks: TETRA, private 4G and 5G, and microwave radio links. Our customers are mostly hospitals and industrial sites running in continuous production, which means a very high availability requirement.</a:t>
            </a:r>
          </a:p>
          <a:p/>
          <a:p>
            <a:r>
              <a:t>Two concrete examples: we deployed a private 4G network for EDF Renewables on a wind farm, and we modernised the TETRA radio network for Sytral, covering more than a thousand buses and a hundred tramways.</a:t>
            </a:r>
          </a:p>
          <a:p/>
          <a:p>
            <a:r>
              <a:t>This explains why the Aphélie project emerged in this agency: a scattered customer base with no fibre, critical clients where an outage is a serious matter, and no working supervision tool for nearly three years, after two failed attempts.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 · EN] Now, my position and my missions. I work as a telecom technician. My core mission was the full design and deployment of the Aphélie project — from the initial study to the production server. I was given a lot of autonomy: I made the architecture choices, I tested everything in an isolated lab, and I documented each step. My key constraint was simple but strict: never disrupt the customers’ live production networks.</a:t>
            </a:r>
          </a:p>
          <a:p/>
          <a:p>
            <a:r>
              <a:t>In parallel, I also worked on transverse missions in radio engineering. I analysed the technical specifications of major accounts such as RTE and EDF, and I carried out link studies with a software called HTZ — modelling the terrain, the Fresnel zone, the clearance and the rainfall. One concrete case was a feasibility study near a wind turbine, where I validated by calculation a safety margin of 16.3 metres between the blade and the radio beam.</a:t>
            </a:r>
          </a:p>
          <a:p/>
          <a:p>
            <a:r>
              <a:t>These studies gave me the field knowledge of what the supervision actually had to monitor. Thank you — I will now continue in French.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FR] Je reprends en français. Avant de concevoir quoi que ce soit, il fallait comprendre pourquoi les versions précédentes avaient échoué. La première, en 2012, développée par des étudiants, était devenue une boîte noire impossible à maintenir : un module sur deux ne fonctionnait plus, et l’outil affichait de fausses alarmes. La seconde, en 2017, n’a jamais dépassé le stade de l’étude. D’où ma priorité : livrer enfin une solution stable et fiable.</a:t>
            </a:r>
          </a:p>
          <a:p/>
          <a:p>
            <a:r>
              <a:t>À partir de là, j’ai défini le besoin avec mon chef de projet : superviser 16 clients et une trentaine de faisceaux Ericsson, avec une relève toutes les minutes des niveaux de réception et d’émission, des alertes hiérarchisées et traduites en clair, une cartographie dynamique, et des notifications automatiques.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FR] Pour résumer ce besoin d’un seul regard : le pourquoi, c’est l’obsolescence et la criticité du parc ; le pour qui, ce sont d’abord les techniciens, mais aussi les clients et l’agence ; le comment, c’est toute la chaîne du routeur jusqu’au serveur ; et le périmètre, ce sont 16 clients et une trentaine de faisceaux.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Pour répondre à ce besoin, j’ai mené une véritable étude de marché, par filtres successifs, sur deux briques. D’abord le transport : j’ai comparé Cisco, Sierra Wireless et Teltonika, et j’ai retenu le routeur Teltonika RUT956, parce que sa plateforme de gestion est nativement dans le cloud, qu’il établit un VPN en quelques clics même derrière le NAT de l’opérateur, et que son coût est optimisé.</a:t>
            </a:r>
          </a:p>
          <a:p/>
          <a:p>
            <a:r>
              <a:t>Ensuite le moteur de supervision : face à PRTG et Centreon, j’ai choisi Zabbix. Il est open source — donc zéro licence —, son moteur est très souple, il se couple parfaitement à Grafana, et il était déjà utilisé dans le groupe.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FR] Je veux justifier rapidement mes principaux choix, car ils structurent tout le projet. Zabbix pour l’open source et sa souplesse ; Teltonika pour son cloud natif et son VPN ; un serveur physique parce que le devis cloud revenait plus cher sur la durée ; un polling à la minute pour voir l’évolution réelle du signal ; et les règles NoNat pour pouvoir identifier individuellement chaque faisceau. J’ai écarté Huawei et Robustel pour des raisons de souveraineté, conformément à l’ANSSI.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J’ai découpé le projet en cinq jalons séquentiels, chacun conditionnant le suivant. Le projet a pris quatre semaines de retard, mais je tiens à l’expliquer, car ces retards ne viennent pas d’une mauvaise estimation. Le premier jalon a pris sept semaines de plus : les fichiers techniques des équipements Ericsson n’étaient pas documentés, et personne en interne n’avait cette expertise — c’était impossible à anticiper. Le reste vient de 32 jours de missions urgentes pour d’autres clients, prioritaires car contractuelles. En retirant ces deux causes externes, le projet tombe exactement à la date prévue.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Ouvrir des flux depuis les sites clients vers notre serveur crée de nouvelles vulnérabilités. J’ai donc conduit une analyse de risque avec la méthode EBIOS Risk Manager, la méthode officielle de l’ANSSI. J’ai modélisé le pire scénario : une attaque par rebond, où un attaquant vole les accès d’un technicien, atteint un routeur, puis rebondit vers le réseau du client pour y propager un rançongiciel — un risque critique.</a:t>
            </a:r>
          </a:p>
          <a:p/>
          <a:p>
            <a:r>
              <a:t>Pour le neutraliser, deux mesures : l’authentification multifacteur, qui bloque la compromission initiale, et un durcissement des routeurs, qui bloque tout rebond. La vraisemblance passe alors de très élevée à peu vraisemblable.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FR] Un mot sur le pilotage. Pourquoi ce projet maintenant et pas avant ? Parce que l’intégration au groupe VINCI avait mobilisé les ressources internes jusque-là. Comment je justifie mes 1 001 heures de travail ? Par un calcul tâche par tâche, recoupé avec mon calendrier réel d’alternance. Et j’assume pleinement le retard : il s’explique entièrement par deux causes externes, sans dérive de ma méthode.</a:t>
            </a:r>
          </a:p>
          <a:p/>
          <a:p>
            <a:r>
              <a:t>[NOTE PERSO — NE PAS PROJETER : si on te pousse sur les chiffres, deux écarts existent dans le mémoire — déplacements évités 24/an côté ROI vs 32/an côté CO2 ; serveur 150 W côté électricité vs 200 W côté CO2. Réponse : ce sont des bornes basses/prudentes définies différemment selon le calcul ; la conclusion ne change pas.]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Voici l’architecture. Le principe directeur : placer l’intelligence au plus près des équipements. Sur le site client, le routeur RUT956 regroupe routeur, pare-feu et VPN dans un seul boîtier, branché sur le port de supervision du faisceau. Les données remontent par un tunnel VPN chiffré, en empruntant la connexion Internet déjà payée par le client — donc sans abonnement supplémentaire. Côté Axians, Zabbix collecte, Grafana visualise, le tout sur un serveur physique HPE. Le déploiement est Plug and Play : je préconfigure en atelier, puis la mise en service se fait à distance, sans déplacement.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Le cœur technique, et la partie la plus difficile, a été d’intégrer les équipements dans Zabbix. Les faisceaux Ericsson exposent leurs données via des centaines d’identifiants bruts, non documentés. J’ai dû capturer les trames directement sur les équipements pour identifier les bons. Avec des pièges : la puissance reçue est remontée en dixièmes — une valeur de moins 450 vaut en réalité moins 45. Sans correction, tout serait faux d’un facteur dix. J’ai aussi appris les expressions régulières pour décoder les alarmes. Le résultat, c’est un référentiel d’identifiants validés : un actif qui n’existait pas dans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Côté sécurité réseau, j’ai appliqué une posture fermée par défaut : tout ce qui n’est pas explicitement autorisé est rejeté, et l’administration passe uniquement par le tunnel chiffré.</a:t>
            </a:r>
          </a:p>
          <a:p/>
          <a:p>
            <a:r>
              <a:t>Un point que je veux mettre en avant, ce sont les règles NoNat. Normalement, un routeur masque l’adresse de tous les équipements derrière la sienne ; dans Zabbix, tous les faisceaux d’un site apparaîtraient alors identiques. Les règles NoNat désactivent ce masquage, uniquement pour la supervision : on préserve l’adresse de chaque faisceau et on identifie précisément lequel est en alarme, tout en gardant le cloisonnement.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Toutes ces données, il fallait les rendre lisibles. J’ai mis en place deux niveaux. Le niveau opérationnel, dans Zabbix, avec des panneaux hexagonaux qui affichent la puissance reçue en temps réel et passent au rouge en cas d’alarme. Et le niveau cartographique, sous Grafana, où chaque liaison est tracée sur une carte de France : le trait devient rouge quand un faisceau est en défaut. Pour cela, j’ai développé un script qui interroge la base de Zabbix et génère la carte automatiquement. Un technicien voit d’un coup d’œil quel site est en panne, et où.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FR] Au-delà du cahier des charges, j’ai exploré deux prototypes d’intelligence artificielle, exécutés entièrement en local, pour ne jamais sortir de données vers un cloud tiers : un premier pour corréler des alarmes et faire émerger une cause commune ; un second, un assistant conversationnel, pour interroger la supervision en langage naturel. Je reste transparent : ce sont des pistes prometteuses, pas encore des fonctions de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FR] Venons-en aux impacts. Sur le plan financier, le coût total du projet est de 56 600 euros, dont 82 % de temps humain — autrement dit, l’essentiel de la valeur est un savoir-faire interne, un actif réutilisable, et non du matériel acheté. En face, le projet génère un flux net de 46 600 euros par an. Résultat : le point mort est atteint en moins de quinze mois, et le retour sur investissement atteint 310 % à cinq ans. Et ces chiffres reposent sur le scénario le plus prudent, le tarif plancher.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FR] Je détaille les hypothèses qui soutiennent ces chiffres, parce qu’elles sont volontairement prudentes. Un taux horaire interne ; un tarif plancher, en dessous du marché ; un coût d’exploitation fixe quel que soit le nombre de clients. Et même dans le scénario où aucun déplacement ne serait évité, le projet reste rentable, à 159 %. Autrement dit, la réalité ne peut être que meilleure que ce que je présente.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Sur le plan environnemental, le groupe VINCI impose des objectifs de réduction carbone. Aphélie remplace des déplacements par une surveillance à distance. On pourrait objecter qu’un serveur allumé en permanence consomme : j’ai donc vérifié par le calcul. Le serveur émet 98 kilos de CO2 par an, contre 576 kilos évités par les déplacements supprimés : un bilan net positif de 478 kilos par an. Et il y a un troisième bénéfice, opérationnel : je compare désormais en temps réel la puissance mesurée d’une liaison à sa valeur théorique. Ce qui prenait plusieurs jours se vérifie en quelques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 FR] Là aussi, je précise mes hypothèses : mes paramètres viennent de sources officielles — l’ADEME pour le véhicule, RTE pour l’électricité, HPE pour le serveur. La seule hypothèse libre, c’est la distance d’un déplacement ; je l’ai donc couverte par une analyse de sensibilité, de 50 à 200 kilomètres : le bilan reste positif dans tous les cas.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FR] En conclusion, la problématique trouve une réponse complète : la plateforme est centralisée sur un serveur unique, fiable grâce à l’investigation des équipements, en temps réel par une relève à la minute, et accessible à distance par les tunnels VPN. Les cinq jalons sont atteints.</a:t>
            </a:r>
          </a:p>
          <a:p/>
          <a:p>
            <a:r>
              <a:t>Pour l’entreprise, l’intérêt dépasse l’outil : c’est un actif durable, documenté et réutilisable. La principale perspective est d’élargir le parc : chaque nouveau client est désormais déployable en un à deux jours, contre plusieurs semaines au départ.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FR] Sur le plan personnel, ce projet m’a permis de monter en compétences sur la supervision, les réseaux et la cybersécurité opérationnelle, mais aussi sur la conduite de projet. Il a confirmé mon orientation : je poursuis en école d’ingénieur en alternance, en restant chez Axians. Je vous remercie de votre attention, et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0F1B2D"/>
              </a:gs>
              <a:gs pos="100000">
                <a:srgbClr val="1B3A5C"/>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82296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38560" y="137160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0" y="155448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612880" y="64008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66960" y="109728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685800"/>
            <a:ext cx="3108960" cy="317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57200"/>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BUT RÉSEAUX &amp; TÉLÉCOMMUNICATIONS  —  PARCOURS CYBERSÉCURITÉ</a:t>
            </a:r>
          </a:p>
        </p:txBody>
      </p:sp>
      <p:sp>
        <p:nvSpPr>
          <p:cNvPr id="11" name="TextBox 10"/>
          <p:cNvSpPr txBox="1"/>
          <p:nvPr/>
        </p:nvSpPr>
        <p:spPr>
          <a:xfrm>
            <a:off x="777240" y="841248"/>
            <a:ext cx="10058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0" i="0">
                <a:solidFill>
                  <a:srgbClr val="B9C7D6"/>
                </a:solidFill>
                <a:latin typeface="Arial"/>
              </a:rPr>
              <a:t>Mémoire de réalisation professionnelle  ·  Session 2025-2026</a:t>
            </a:r>
          </a:p>
        </p:txBody>
      </p:sp>
      <p:sp>
        <p:nvSpPr>
          <p:cNvPr id="12" name="TextBox 11"/>
          <p:cNvSpPr txBox="1"/>
          <p:nvPr/>
        </p:nvSpPr>
        <p:spPr>
          <a:xfrm>
            <a:off x="777240" y="1965960"/>
            <a:ext cx="10607040" cy="1097280"/>
          </a:xfrm>
          <a:prstGeom prst="rect">
            <a:avLst/>
          </a:prstGeom>
          <a:noFill/>
        </p:spPr>
        <p:txBody>
          <a:bodyPr wrap="square" anchor="t" lIns="0" rIns="0" tIns="0" bIns="0">
            <a:spAutoFit/>
          </a:bodyPr>
          <a:lstStyle/>
          <a:p>
            <a:pPr algn="l">
              <a:lnSpc>
                <a:spcPct val="100000"/>
              </a:lnSpc>
              <a:spcBef>
                <a:spcPts val="0"/>
              </a:spcBef>
              <a:spcAft>
                <a:spcPts val="600"/>
              </a:spcAft>
            </a:pPr>
            <a:r>
              <a:rPr sz="6600" b="1" i="0">
                <a:solidFill>
                  <a:srgbClr val="FFFFFF"/>
                </a:solidFill>
                <a:latin typeface="Arial"/>
              </a:rPr>
              <a:t>APHÉLIE</a:t>
            </a:r>
          </a:p>
        </p:txBody>
      </p:sp>
      <p:sp>
        <p:nvSpPr>
          <p:cNvPr id="13" name="TextBox 12"/>
          <p:cNvSpPr txBox="1"/>
          <p:nvPr/>
        </p:nvSpPr>
        <p:spPr>
          <a:xfrm>
            <a:off x="777240" y="2971800"/>
            <a:ext cx="10424160" cy="1188720"/>
          </a:xfrm>
          <a:prstGeom prst="rect">
            <a:avLst/>
          </a:prstGeom>
          <a:noFill/>
        </p:spPr>
        <p:txBody>
          <a:bodyPr wrap="square" anchor="t" lIns="0" rIns="0" tIns="0" bIns="0">
            <a:spAutoFit/>
          </a:bodyPr>
          <a:lstStyle/>
          <a:p>
            <a:pPr algn="l">
              <a:lnSpc>
                <a:spcPct val="105000"/>
              </a:lnSpc>
              <a:spcBef>
                <a:spcPts val="0"/>
              </a:spcBef>
              <a:spcAft>
                <a:spcPts val="600"/>
              </a:spcAft>
            </a:pPr>
            <a:r>
              <a:rPr sz="2700" b="1" i="0">
                <a:solidFill>
                  <a:srgbClr val="00B4C8"/>
                </a:solidFill>
                <a:latin typeface="Arial"/>
              </a:rPr>
              <a:t>Conception d’un système de supervision centralisé</a:t>
            </a:r>
          </a:p>
          <a:p>
            <a:pPr algn="l">
              <a:lnSpc>
                <a:spcPct val="105000"/>
              </a:lnSpc>
              <a:spcBef>
                <a:spcPts val="0"/>
              </a:spcBef>
              <a:spcAft>
                <a:spcPts val="600"/>
              </a:spcAft>
            </a:pPr>
            <a:r>
              <a:rPr sz="2700" b="1" i="0">
                <a:solidFill>
                  <a:srgbClr val="00B4C8"/>
                </a:solidFill>
                <a:latin typeface="Arial"/>
              </a:rPr>
              <a:t>pour des faisceaux hertziens</a:t>
            </a:r>
          </a:p>
        </p:txBody>
      </p:sp>
      <p:sp>
        <p:nvSpPr>
          <p:cNvPr id="14" name="Rectangle 13"/>
          <p:cNvSpPr/>
          <p:nvPr/>
        </p:nvSpPr>
        <p:spPr>
          <a:xfrm>
            <a:off x="0" y="5440680"/>
            <a:ext cx="12191695" cy="1417320"/>
          </a:xfrm>
          <a:prstGeom prst="rect">
            <a:avLst/>
          </a:prstGeom>
          <a:solidFill>
            <a:srgbClr val="0A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440680"/>
            <a:ext cx="12191695" cy="317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650992"/>
            <a:ext cx="4572000" cy="1097280"/>
          </a:xfrm>
          <a:prstGeom prst="rect">
            <a:avLst/>
          </a:prstGeom>
          <a:noFill/>
        </p:spPr>
        <p:txBody>
          <a:bodyPr wrap="square" anchor="t" lIns="0" rIns="0" tIns="0" bIns="0">
            <a:spAutoFit/>
          </a:bodyPr>
          <a:lstStyle/>
          <a:p>
            <a:pPr algn="l">
              <a:lnSpc>
                <a:spcPct val="100000"/>
              </a:lnSpc>
              <a:spcBef>
                <a:spcPts val="0"/>
              </a:spcBef>
              <a:spcAft>
                <a:spcPts val="200"/>
              </a:spcAft>
            </a:pPr>
            <a:r>
              <a:rPr sz="1000" b="1" i="0">
                <a:solidFill>
                  <a:srgbClr val="00B4C8"/>
                </a:solidFill>
                <a:latin typeface="Arial"/>
              </a:rPr>
              <a:t>PRÉSENTÉ PAR</a:t>
            </a:r>
          </a:p>
          <a:p>
            <a:pPr algn="l">
              <a:lnSpc>
                <a:spcPct val="100000"/>
              </a:lnSpc>
              <a:spcBef>
                <a:spcPts val="0"/>
              </a:spcBef>
              <a:spcAft>
                <a:spcPts val="200"/>
              </a:spcAft>
            </a:pPr>
            <a:r>
              <a:rPr sz="1800" b="1" i="0">
                <a:solidFill>
                  <a:srgbClr val="FFFFFF"/>
                </a:solidFill>
                <a:latin typeface="Arial"/>
              </a:rPr>
              <a:t>Ilyesse KEBAILI</a:t>
            </a:r>
          </a:p>
          <a:p>
            <a:pPr algn="l">
              <a:lnSpc>
                <a:spcPct val="100000"/>
              </a:lnSpc>
              <a:spcBef>
                <a:spcPts val="0"/>
              </a:spcBef>
              <a:spcAft>
                <a:spcPts val="200"/>
              </a:spcAft>
            </a:pPr>
            <a:r>
              <a:rPr sz="1150" b="0" i="0">
                <a:solidFill>
                  <a:srgbClr val="B9C7D6"/>
                </a:solidFill>
                <a:latin typeface="Arial"/>
              </a:rPr>
              <a:t>Technicien Télécom — Alternant</a:t>
            </a:r>
          </a:p>
        </p:txBody>
      </p:sp>
      <p:sp>
        <p:nvSpPr>
          <p:cNvPr id="17" name="TextBox 16"/>
          <p:cNvSpPr txBox="1"/>
          <p:nvPr/>
        </p:nvSpPr>
        <p:spPr>
          <a:xfrm>
            <a:off x="5669280" y="5650992"/>
            <a:ext cx="3108960" cy="1097280"/>
          </a:xfrm>
          <a:prstGeom prst="rect">
            <a:avLst/>
          </a:prstGeom>
          <a:noFill/>
        </p:spPr>
        <p:txBody>
          <a:bodyPr wrap="square" anchor="t" lIns="0" rIns="0" tIns="0" bIns="0">
            <a:spAutoFit/>
          </a:bodyPr>
          <a:lstStyle/>
          <a:p>
            <a:pPr algn="l">
              <a:lnSpc>
                <a:spcPct val="100000"/>
              </a:lnSpc>
              <a:spcBef>
                <a:spcPts val="0"/>
              </a:spcBef>
              <a:spcAft>
                <a:spcPts val="200"/>
              </a:spcAft>
            </a:pPr>
            <a:r>
              <a:rPr sz="1000" b="1" i="0">
                <a:solidFill>
                  <a:srgbClr val="00B4C8"/>
                </a:solidFill>
                <a:latin typeface="Arial"/>
              </a:rPr>
              <a:t>MAÎTRE D’APPRENTISSAGE</a:t>
            </a:r>
          </a:p>
          <a:p>
            <a:pPr algn="l">
              <a:lnSpc>
                <a:spcPct val="100000"/>
              </a:lnSpc>
              <a:spcBef>
                <a:spcPts val="0"/>
              </a:spcBef>
              <a:spcAft>
                <a:spcPts val="200"/>
              </a:spcAft>
            </a:pPr>
            <a:r>
              <a:rPr sz="1600" b="1" i="0">
                <a:solidFill>
                  <a:srgbClr val="FFFFFF"/>
                </a:solidFill>
                <a:latin typeface="Arial"/>
              </a:rPr>
              <a:t>Nordine YAAQOBI</a:t>
            </a:r>
          </a:p>
          <a:p>
            <a:pPr algn="l">
              <a:lnSpc>
                <a:spcPct val="100000"/>
              </a:lnSpc>
              <a:spcBef>
                <a:spcPts val="0"/>
              </a:spcBef>
              <a:spcAft>
                <a:spcPts val="200"/>
              </a:spcAft>
            </a:pPr>
            <a:r>
              <a:rPr sz="1150" b="0" i="0">
                <a:solidFill>
                  <a:srgbClr val="B9C7D6"/>
                </a:solidFill>
                <a:latin typeface="Arial"/>
              </a:rPr>
              <a:t>Chef de Projet — Axians RMP</a:t>
            </a:r>
          </a:p>
        </p:txBody>
      </p:sp>
      <p:sp>
        <p:nvSpPr>
          <p:cNvPr id="18" name="TextBox 17"/>
          <p:cNvSpPr txBox="1"/>
          <p:nvPr/>
        </p:nvSpPr>
        <p:spPr>
          <a:xfrm>
            <a:off x="9052560" y="5650992"/>
            <a:ext cx="2651760" cy="1097280"/>
          </a:xfrm>
          <a:prstGeom prst="rect">
            <a:avLst/>
          </a:prstGeom>
          <a:noFill/>
        </p:spPr>
        <p:txBody>
          <a:bodyPr wrap="square" anchor="t" lIns="0" rIns="0" tIns="0" bIns="0">
            <a:spAutoFit/>
          </a:bodyPr>
          <a:lstStyle/>
          <a:p>
            <a:pPr algn="l">
              <a:lnSpc>
                <a:spcPct val="100000"/>
              </a:lnSpc>
              <a:spcBef>
                <a:spcPts val="0"/>
              </a:spcBef>
              <a:spcAft>
                <a:spcPts val="200"/>
              </a:spcAft>
            </a:pPr>
            <a:r>
              <a:rPr sz="1000" b="1" i="0">
                <a:solidFill>
                  <a:srgbClr val="00B4C8"/>
                </a:solidFill>
                <a:latin typeface="Arial"/>
              </a:rPr>
              <a:t>ENTREPRISE &amp; ÉCOLE</a:t>
            </a:r>
          </a:p>
          <a:p>
            <a:pPr algn="l">
              <a:lnSpc>
                <a:spcPct val="100000"/>
              </a:lnSpc>
              <a:spcBef>
                <a:spcPts val="0"/>
              </a:spcBef>
              <a:spcAft>
                <a:spcPts val="200"/>
              </a:spcAft>
            </a:pPr>
            <a:r>
              <a:rPr sz="1300" b="1" i="0">
                <a:solidFill>
                  <a:srgbClr val="FFFFFF"/>
                </a:solidFill>
                <a:latin typeface="Arial"/>
              </a:rPr>
              <a:t>Axians Réseaux Mobiles Privés</a:t>
            </a:r>
          </a:p>
          <a:p>
            <a:pPr algn="l">
              <a:lnSpc>
                <a:spcPct val="100000"/>
              </a:lnSpc>
              <a:spcBef>
                <a:spcPts val="0"/>
              </a:spcBef>
              <a:spcAft>
                <a:spcPts val="200"/>
              </a:spcAft>
            </a:pPr>
            <a:r>
              <a:rPr sz="1150" b="0" i="0">
                <a:solidFill>
                  <a:srgbClr val="B9C7D6"/>
                </a:solidFill>
                <a:latin typeface="Arial"/>
              </a:rPr>
              <a:t>VINCI Energies · IUT de Valence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0" cy="6858000"/>
          </a:xfrm>
          <a:prstGeom prst="rect">
            <a:avLst/>
          </a:prstGeom>
          <a:gradFill>
            <a:gsLst>
              <a:gs pos="0">
                <a:srgbClr val="0F1B2D"/>
              </a:gs>
              <a:gs pos="100000">
                <a:srgbClr val="1B3A5C"/>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0" y="0"/>
            <a:ext cx="38100" cy="68580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22960"/>
            <a:ext cx="3200400" cy="45720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0B4C8"/>
                </a:solidFill>
                <a:latin typeface="Arial"/>
              </a:rPr>
              <a:t>PLAN DE LA</a:t>
            </a:r>
          </a:p>
        </p:txBody>
      </p:sp>
      <p:sp>
        <p:nvSpPr>
          <p:cNvPr id="7" name="TextBox 6"/>
          <p:cNvSpPr txBox="1"/>
          <p:nvPr/>
        </p:nvSpPr>
        <p:spPr>
          <a:xfrm>
            <a:off x="502920" y="1188720"/>
            <a:ext cx="3291840" cy="1097280"/>
          </a:xfrm>
          <a:prstGeom prst="rect">
            <a:avLst/>
          </a:prstGeom>
          <a:noFill/>
        </p:spPr>
        <p:txBody>
          <a:bodyPr wrap="square" anchor="t" lIns="0" rIns="0" tIns="0" bIns="0">
            <a:spAutoFit/>
          </a:bodyPr>
          <a:lstStyle/>
          <a:p>
            <a:pPr algn="l">
              <a:lnSpc>
                <a:spcPct val="100000"/>
              </a:lnSpc>
              <a:spcBef>
                <a:spcPts val="0"/>
              </a:spcBef>
              <a:spcAft>
                <a:spcPts val="600"/>
              </a:spcAft>
            </a:pPr>
            <a:r>
              <a:rPr sz="4000" b="1" i="0">
                <a:solidFill>
                  <a:srgbClr val="FFFFFF"/>
                </a:solidFill>
                <a:latin typeface="Arial"/>
              </a:rPr>
              <a:t>Soutenance</a:t>
            </a:r>
          </a:p>
        </p:txBody>
      </p:sp>
      <p:sp>
        <p:nvSpPr>
          <p:cNvPr id="8" name="TextBox 7"/>
          <p:cNvSpPr txBox="1"/>
          <p:nvPr/>
        </p:nvSpPr>
        <p:spPr>
          <a:xfrm>
            <a:off x="502920" y="2377440"/>
            <a:ext cx="3200400" cy="2743200"/>
          </a:xfrm>
          <a:prstGeom prst="rect">
            <a:avLst/>
          </a:prstGeom>
          <a:noFill/>
        </p:spPr>
        <p:txBody>
          <a:bodyPr wrap="square" anchor="t" lIns="0" rIns="0" tIns="0" bIns="0">
            <a:spAutoFit/>
          </a:bodyPr>
          <a:lstStyle/>
          <a:p>
            <a:pPr algn="l">
              <a:lnSpc>
                <a:spcPct val="125000"/>
              </a:lnSpc>
              <a:spcBef>
                <a:spcPts val="0"/>
              </a:spcBef>
              <a:spcAft>
                <a:spcPts val="600"/>
              </a:spcAft>
            </a:pPr>
            <a:r>
              <a:rPr sz="1300" b="0" i="0">
                <a:solidFill>
                  <a:srgbClr val="C3D0DE"/>
                </a:solidFill>
                <a:latin typeface="Arial"/>
              </a:rPr>
              <a:t>Du contexte métier à la mise en production d’une plateforme de supervision sécurisée, puis à son évaluation financière et environnementale.</a:t>
            </a:r>
          </a:p>
        </p:txBody>
      </p:sp>
      <p:sp>
        <p:nvSpPr>
          <p:cNvPr id="9" name="Oval 8"/>
          <p:cNvSpPr/>
          <p:nvPr/>
        </p:nvSpPr>
        <p:spPr>
          <a:xfrm>
            <a:off x="4572000" y="82296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82296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a:t>
            </a:r>
          </a:p>
        </p:txBody>
      </p:sp>
      <p:sp>
        <p:nvSpPr>
          <p:cNvPr id="11" name="TextBox 10"/>
          <p:cNvSpPr txBox="1"/>
          <p:nvPr/>
        </p:nvSpPr>
        <p:spPr>
          <a:xfrm>
            <a:off x="5257800" y="78638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Introduction</a:t>
            </a:r>
          </a:p>
        </p:txBody>
      </p:sp>
      <p:sp>
        <p:nvSpPr>
          <p:cNvPr id="12" name="TextBox 11"/>
          <p:cNvSpPr txBox="1"/>
          <p:nvPr/>
        </p:nvSpPr>
        <p:spPr>
          <a:xfrm>
            <a:off x="5257800" y="118872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Contexte, enjeux &amp; problématique</a:t>
            </a:r>
          </a:p>
        </p:txBody>
      </p:sp>
      <p:sp>
        <p:nvSpPr>
          <p:cNvPr id="13" name="Oval 12"/>
          <p:cNvSpPr/>
          <p:nvPr/>
        </p:nvSpPr>
        <p:spPr>
          <a:xfrm>
            <a:off x="4572000" y="169164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69164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1</a:t>
            </a:r>
          </a:p>
        </p:txBody>
      </p:sp>
      <p:sp>
        <p:nvSpPr>
          <p:cNvPr id="15" name="TextBox 14"/>
          <p:cNvSpPr txBox="1"/>
          <p:nvPr/>
        </p:nvSpPr>
        <p:spPr>
          <a:xfrm>
            <a:off x="5257800" y="165506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1 — Environnement professionnel</a:t>
            </a:r>
          </a:p>
        </p:txBody>
      </p:sp>
      <p:sp>
        <p:nvSpPr>
          <p:cNvPr id="16" name="Rounded Rectangle 15"/>
          <p:cNvSpPr/>
          <p:nvPr/>
        </p:nvSpPr>
        <p:spPr>
          <a:xfrm>
            <a:off x="10561320" y="1709928"/>
            <a:ext cx="1097280" cy="384048"/>
          </a:xfrm>
          <a:prstGeom prst="round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61320" y="1709928"/>
            <a:ext cx="1097280" cy="384048"/>
          </a:xfrm>
          <a:prstGeom prst="rect">
            <a:avLst/>
          </a:prstGeom>
          <a:noFill/>
        </p:spPr>
        <p:txBody>
          <a:bodyPr wrap="square" anchor="ctr" lIns="0" rIns="0" tIns="0" bIns="0">
            <a:spAutoFit/>
          </a:bodyPr>
          <a:lstStyle/>
          <a:p>
            <a:pPr algn="ctr">
              <a:lnSpc>
                <a:spcPct val="100000"/>
              </a:lnSpc>
              <a:spcBef>
                <a:spcPts val="0"/>
              </a:spcBef>
              <a:spcAft>
                <a:spcPts val="600"/>
              </a:spcAft>
            </a:pPr>
            <a:r>
              <a:rPr sz="950" b="1" i="0">
                <a:solidFill>
                  <a:srgbClr val="0F1B2D"/>
                </a:solidFill>
                <a:latin typeface="Arial"/>
              </a:rPr>
              <a:t>EN · 5 min</a:t>
            </a:r>
          </a:p>
        </p:txBody>
      </p:sp>
      <p:sp>
        <p:nvSpPr>
          <p:cNvPr id="18" name="TextBox 17"/>
          <p:cNvSpPr txBox="1"/>
          <p:nvPr/>
        </p:nvSpPr>
        <p:spPr>
          <a:xfrm>
            <a:off x="5257800" y="205740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Company &amp; work context — in English (5 min)</a:t>
            </a:r>
          </a:p>
        </p:txBody>
      </p:sp>
      <p:sp>
        <p:nvSpPr>
          <p:cNvPr id="19" name="Oval 18"/>
          <p:cNvSpPr/>
          <p:nvPr/>
        </p:nvSpPr>
        <p:spPr>
          <a:xfrm>
            <a:off x="4572000" y="256032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256032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2</a:t>
            </a:r>
          </a:p>
        </p:txBody>
      </p:sp>
      <p:sp>
        <p:nvSpPr>
          <p:cNvPr id="21" name="TextBox 20"/>
          <p:cNvSpPr txBox="1"/>
          <p:nvPr/>
        </p:nvSpPr>
        <p:spPr>
          <a:xfrm>
            <a:off x="5257800" y="252374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2 — Initialisation &amp; cadrage</a:t>
            </a:r>
          </a:p>
        </p:txBody>
      </p:sp>
      <p:sp>
        <p:nvSpPr>
          <p:cNvPr id="22" name="TextBox 21"/>
          <p:cNvSpPr txBox="1"/>
          <p:nvPr/>
        </p:nvSpPr>
        <p:spPr>
          <a:xfrm>
            <a:off x="5257800" y="292608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Besoins, choix techniques, planning, EBIOS RM</a:t>
            </a:r>
          </a:p>
        </p:txBody>
      </p:sp>
      <p:sp>
        <p:nvSpPr>
          <p:cNvPr id="23" name="Oval 22"/>
          <p:cNvSpPr/>
          <p:nvPr/>
        </p:nvSpPr>
        <p:spPr>
          <a:xfrm>
            <a:off x="4572000" y="342900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42900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3</a:t>
            </a:r>
          </a:p>
        </p:txBody>
      </p:sp>
      <p:sp>
        <p:nvSpPr>
          <p:cNvPr id="25" name="TextBox 24"/>
          <p:cNvSpPr txBox="1"/>
          <p:nvPr/>
        </p:nvSpPr>
        <p:spPr>
          <a:xfrm>
            <a:off x="5257800" y="339242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3 — Réalisation technique</a:t>
            </a:r>
          </a:p>
        </p:txBody>
      </p:sp>
      <p:sp>
        <p:nvSpPr>
          <p:cNvPr id="26" name="TextBox 25"/>
          <p:cNvSpPr txBox="1"/>
          <p:nvPr/>
        </p:nvSpPr>
        <p:spPr>
          <a:xfrm>
            <a:off x="5257800" y="379476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Architecture, Zabbix/Grafana, sécurisation, IA</a:t>
            </a:r>
          </a:p>
        </p:txBody>
      </p:sp>
      <p:sp>
        <p:nvSpPr>
          <p:cNvPr id="27" name="Oval 26"/>
          <p:cNvSpPr/>
          <p:nvPr/>
        </p:nvSpPr>
        <p:spPr>
          <a:xfrm>
            <a:off x="4572000" y="429768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29768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4</a:t>
            </a:r>
          </a:p>
        </p:txBody>
      </p:sp>
      <p:sp>
        <p:nvSpPr>
          <p:cNvPr id="29" name="TextBox 28"/>
          <p:cNvSpPr txBox="1"/>
          <p:nvPr/>
        </p:nvSpPr>
        <p:spPr>
          <a:xfrm>
            <a:off x="5257800" y="426110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4 — Impacts du projet</a:t>
            </a:r>
          </a:p>
        </p:txBody>
      </p:sp>
      <p:sp>
        <p:nvSpPr>
          <p:cNvPr id="30" name="TextBox 29"/>
          <p:cNvSpPr txBox="1"/>
          <p:nvPr/>
        </p:nvSpPr>
        <p:spPr>
          <a:xfrm>
            <a:off x="5257800" y="466344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Rentabilité (ROI), environnement, opérationnel</a:t>
            </a:r>
          </a:p>
        </p:txBody>
      </p:sp>
      <p:sp>
        <p:nvSpPr>
          <p:cNvPr id="31" name="Oval 30"/>
          <p:cNvSpPr/>
          <p:nvPr/>
        </p:nvSpPr>
        <p:spPr>
          <a:xfrm>
            <a:off x="4572000" y="5166360"/>
            <a:ext cx="457200" cy="457200"/>
          </a:xfrm>
          <a:prstGeom prst="ellipse">
            <a:avLst/>
          </a:prstGeom>
          <a:solidFill>
            <a:srgbClr val="EC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5166360"/>
            <a:ext cx="457200"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00B4C8"/>
                </a:solidFill>
                <a:latin typeface="Arial"/>
              </a:rPr>
              <a:t>5</a:t>
            </a:r>
          </a:p>
        </p:txBody>
      </p:sp>
      <p:sp>
        <p:nvSpPr>
          <p:cNvPr id="33" name="TextBox 32"/>
          <p:cNvSpPr txBox="1"/>
          <p:nvPr/>
        </p:nvSpPr>
        <p:spPr>
          <a:xfrm>
            <a:off x="5257800" y="5129784"/>
            <a:ext cx="5486400" cy="548640"/>
          </a:xfrm>
          <a:prstGeom prst="rect">
            <a:avLst/>
          </a:prstGeom>
          <a:noFill/>
        </p:spPr>
        <p:txBody>
          <a:bodyPr wrap="square" anchor="t" lIns="0" rIns="0" tIns="0" bIns="0">
            <a:spAutoFit/>
          </a:bodyPr>
          <a:lstStyle/>
          <a:p>
            <a:pPr algn="l">
              <a:lnSpc>
                <a:spcPct val="100000"/>
              </a:lnSpc>
              <a:spcBef>
                <a:spcPts val="0"/>
              </a:spcBef>
              <a:spcAft>
                <a:spcPts val="600"/>
              </a:spcAft>
            </a:pPr>
            <a:r>
              <a:rPr sz="1700" b="1" i="0">
                <a:solidFill>
                  <a:srgbClr val="0F1B2D"/>
                </a:solidFill>
                <a:latin typeface="Arial"/>
              </a:rPr>
              <a:t>5 — Bilan &amp; perspectives</a:t>
            </a:r>
          </a:p>
        </p:txBody>
      </p:sp>
      <p:sp>
        <p:nvSpPr>
          <p:cNvPr id="34" name="TextBox 33"/>
          <p:cNvSpPr txBox="1"/>
          <p:nvPr/>
        </p:nvSpPr>
        <p:spPr>
          <a:xfrm>
            <a:off x="5257800" y="5532120"/>
            <a:ext cx="64008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Résultats, montée en compétences, avenir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POURQUOI APHÉLIE ?</a:t>
            </a:r>
          </a:p>
          <a:p>
            <a:pPr algn="l">
              <a:lnSpc>
                <a:spcPct val="100000"/>
              </a:lnSpc>
              <a:spcBef>
                <a:spcPts val="0"/>
              </a:spcBef>
              <a:spcAft>
                <a:spcPts val="600"/>
              </a:spcAft>
            </a:pPr>
            <a:r>
              <a:rPr sz="2200" b="1" i="0">
                <a:solidFill>
                  <a:srgbClr val="FFFFFF"/>
                </a:solidFill>
                <a:latin typeface="Arial"/>
              </a:rPr>
              <a:t>Introduction — Contexte &amp; problématique</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LE CONSTAT</a:t>
            </a:r>
          </a:p>
        </p:txBody>
      </p:sp>
      <p:sp>
        <p:nvSpPr>
          <p:cNvPr id="9" name="TextBox 8"/>
          <p:cNvSpPr txBox="1"/>
          <p:nvPr/>
        </p:nvSpPr>
        <p:spPr>
          <a:xfrm>
            <a:off x="502920" y="1691640"/>
            <a:ext cx="5486400" cy="457200"/>
          </a:xfrm>
          <a:prstGeom prst="rect">
            <a:avLst/>
          </a:prstGeom>
          <a:noFill/>
        </p:spPr>
        <p:txBody>
          <a:bodyPr wrap="square" lIns="0" rIns="0" tIns="0" bIns="0">
            <a:spAutoFit/>
          </a:bodyPr>
          <a:lstStyle/>
          <a:p>
            <a:pPr>
              <a:lnSpc>
                <a:spcPct val="105000"/>
              </a:lnSpc>
              <a:spcBef>
                <a:spcPts val="0"/>
              </a:spcBef>
              <a:spcAft>
                <a:spcPts val="1100"/>
              </a:spcAft>
            </a:pPr>
            <a:r>
              <a:rPr sz="1400" b="1">
                <a:solidFill>
                  <a:srgbClr val="00B4C8"/>
                </a:solidFill>
                <a:latin typeface="Arial"/>
              </a:rPr>
              <a:t>▸  </a:t>
            </a:r>
            <a:r>
              <a:rPr sz="1400" b="1">
                <a:solidFill>
                  <a:srgbClr val="1B2633"/>
                </a:solidFill>
                <a:latin typeface="Arial"/>
              </a:rPr>
              <a:t>Faisceaux hertziens </a:t>
            </a:r>
            <a:r>
              <a:rPr sz="1400" b="0">
                <a:solidFill>
                  <a:srgbClr val="1B2633"/>
                </a:solidFill>
                <a:latin typeface="Arial"/>
              </a:rPr>
              <a:t>: liaisons radio point-à-point qui raccordent des sites isolés ou de secours (hôpitaux, sites industriels).</a:t>
            </a:r>
          </a:p>
          <a:p>
            <a:pPr>
              <a:lnSpc>
                <a:spcPct val="105000"/>
              </a:lnSpc>
              <a:spcBef>
                <a:spcPts val="0"/>
              </a:spcBef>
              <a:spcAft>
                <a:spcPts val="1100"/>
              </a:spcAft>
            </a:pPr>
            <a:r>
              <a:rPr sz="1400" b="1">
                <a:solidFill>
                  <a:srgbClr val="00B4C8"/>
                </a:solidFill>
                <a:latin typeface="Arial"/>
              </a:rPr>
              <a:t>▸  </a:t>
            </a:r>
            <a:r>
              <a:rPr sz="1400" b="1">
                <a:solidFill>
                  <a:srgbClr val="1B2633"/>
                </a:solidFill>
                <a:latin typeface="Arial"/>
              </a:rPr>
              <a:t>Disponibilité critique </a:t>
            </a:r>
            <a:r>
              <a:rPr sz="1400" b="0">
                <a:solidFill>
                  <a:srgbClr val="1B2633"/>
                </a:solidFill>
                <a:latin typeface="Arial"/>
              </a:rPr>
              <a:t>: une coupure = rupture de la chaîne de soins ou arrêt de production.</a:t>
            </a:r>
          </a:p>
          <a:p>
            <a:pPr>
              <a:lnSpc>
                <a:spcPct val="105000"/>
              </a:lnSpc>
              <a:spcBef>
                <a:spcPts val="0"/>
              </a:spcBef>
              <a:spcAft>
                <a:spcPts val="1100"/>
              </a:spcAft>
            </a:pPr>
            <a:r>
              <a:rPr sz="1400" b="1">
                <a:solidFill>
                  <a:srgbClr val="00B4C8"/>
                </a:solidFill>
                <a:latin typeface="Arial"/>
              </a:rPr>
              <a:t>▸  </a:t>
            </a:r>
            <a:r>
              <a:rPr sz="1400" b="1">
                <a:solidFill>
                  <a:srgbClr val="1B2633"/>
                </a:solidFill>
                <a:latin typeface="Arial"/>
              </a:rPr>
              <a:t>Supervision obsolète </a:t>
            </a:r>
            <a:r>
              <a:rPr sz="1400" b="0">
                <a:solidFill>
                  <a:srgbClr val="1B2633"/>
                </a:solidFill>
                <a:latin typeface="Arial"/>
              </a:rPr>
              <a:t>: l’outil historique n’était plus fiable ni sécurisé — les pannes étaient signalées par les clients eux-mêmes.</a:t>
            </a:r>
          </a:p>
          <a:p>
            <a:pPr>
              <a:lnSpc>
                <a:spcPct val="105000"/>
              </a:lnSpc>
              <a:spcBef>
                <a:spcPts val="0"/>
              </a:spcBef>
              <a:spcAft>
                <a:spcPts val="1100"/>
              </a:spcAft>
            </a:pPr>
            <a:r>
              <a:rPr sz="1400" b="1">
                <a:solidFill>
                  <a:srgbClr val="00B4C8"/>
                </a:solidFill>
                <a:latin typeface="Arial"/>
              </a:rPr>
              <a:t>▸  </a:t>
            </a:r>
            <a:r>
              <a:rPr sz="1400" b="1">
                <a:solidFill>
                  <a:srgbClr val="1B2633"/>
                </a:solidFill>
                <a:latin typeface="Arial"/>
              </a:rPr>
              <a:t>3 ans sans outil fonctionnel </a:t>
            </a:r>
            <a:r>
              <a:rPr sz="1400" b="0">
                <a:solidFill>
                  <a:srgbClr val="1B2633"/>
                </a:solidFill>
                <a:latin typeface="Arial"/>
              </a:rPr>
              <a:t>après deux tentatives échouées (2012 &amp; 2017).</a:t>
            </a:r>
          </a:p>
        </p:txBody>
      </p:sp>
      <p:sp>
        <p:nvSpPr>
          <p:cNvPr id="10" name="Rounded Rectangle 9"/>
          <p:cNvSpPr/>
          <p:nvPr/>
        </p:nvSpPr>
        <p:spPr>
          <a:xfrm>
            <a:off x="6355080" y="1554480"/>
            <a:ext cx="5349240" cy="278892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554480"/>
            <a:ext cx="109728" cy="27889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83080"/>
            <a:ext cx="4846320" cy="45720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0B4C8"/>
                </a:solidFill>
                <a:latin typeface="Arial"/>
              </a:rPr>
              <a:t>PROBLÉMATIQUE</a:t>
            </a:r>
          </a:p>
        </p:txBody>
      </p:sp>
      <p:sp>
        <p:nvSpPr>
          <p:cNvPr id="13" name="TextBox 12"/>
          <p:cNvSpPr txBox="1"/>
          <p:nvPr/>
        </p:nvSpPr>
        <p:spPr>
          <a:xfrm>
            <a:off x="6675120" y="2240280"/>
            <a:ext cx="4800600" cy="2011680"/>
          </a:xfrm>
          <a:prstGeom prst="rect">
            <a:avLst/>
          </a:prstGeom>
          <a:noFill/>
        </p:spPr>
        <p:txBody>
          <a:bodyPr wrap="square" anchor="t" lIns="0" rIns="0" tIns="0" bIns="0">
            <a:spAutoFit/>
          </a:bodyPr>
          <a:lstStyle/>
          <a:p>
            <a:pPr algn="l">
              <a:lnSpc>
                <a:spcPct val="115000"/>
              </a:lnSpc>
              <a:spcBef>
                <a:spcPts val="0"/>
              </a:spcBef>
              <a:spcAft>
                <a:spcPts val="600"/>
              </a:spcAft>
            </a:pPr>
            <a:r>
              <a:rPr sz="1650" b="0" i="0">
                <a:solidFill>
                  <a:srgbClr val="FFFFFF"/>
                </a:solidFill>
                <a:latin typeface="Arial"/>
              </a:rPr>
              <a:t>Comment remplacer une solution de supervision obsolète par une plateforme </a:t>
            </a:r>
            <a:r>
              <a:rPr sz="1650" b="1" i="0">
                <a:solidFill>
                  <a:srgbClr val="00B4C8"/>
                </a:solidFill>
                <a:latin typeface="Arial"/>
              </a:rPr>
              <a:t>centralisée</a:t>
            </a:r>
            <a:r>
              <a:rPr sz="1650" b="0" i="0">
                <a:solidFill>
                  <a:srgbClr val="FFFFFF"/>
                </a:solidFill>
                <a:latin typeface="Arial"/>
              </a:rPr>
              <a:t>, capable de fournir des informations </a:t>
            </a:r>
            <a:r>
              <a:rPr sz="1650" b="1" i="0">
                <a:solidFill>
                  <a:srgbClr val="00B4C8"/>
                </a:solidFill>
                <a:latin typeface="Arial"/>
              </a:rPr>
              <a:t>fiables en temps réel</a:t>
            </a:r>
            <a:r>
              <a:rPr sz="1650" b="0" i="0">
                <a:solidFill>
                  <a:srgbClr val="FFFFFF"/>
                </a:solidFill>
                <a:latin typeface="Arial"/>
              </a:rPr>
              <a:t> sur les liaisons hertziennes et </a:t>
            </a:r>
            <a:r>
              <a:rPr sz="1650" b="1" i="0">
                <a:solidFill>
                  <a:srgbClr val="00B4C8"/>
                </a:solidFill>
                <a:latin typeface="Arial"/>
              </a:rPr>
              <a:t>accessible à distance</a:t>
            </a:r>
            <a:r>
              <a:rPr sz="1650" b="0" i="0">
                <a:solidFill>
                  <a:srgbClr val="FFFFFF"/>
                </a:solidFill>
                <a:latin typeface="Arial"/>
              </a:rPr>
              <a:t> ?</a:t>
            </a:r>
          </a:p>
        </p:txBody>
      </p:sp>
      <p:sp>
        <p:nvSpPr>
          <p:cNvPr id="14" name="Rounded Rectangle 13"/>
          <p:cNvSpPr/>
          <p:nvPr/>
        </p:nvSpPr>
        <p:spPr>
          <a:xfrm>
            <a:off x="502920" y="4800600"/>
            <a:ext cx="2697480" cy="13258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800600"/>
            <a:ext cx="2697480" cy="444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498348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0F1B2D"/>
                </a:solidFill>
                <a:latin typeface="Arial"/>
              </a:rPr>
              <a:t>Centraliser</a:t>
            </a:r>
          </a:p>
        </p:txBody>
      </p:sp>
      <p:sp>
        <p:nvSpPr>
          <p:cNvPr id="17" name="TextBox 16"/>
          <p:cNvSpPr txBox="1"/>
          <p:nvPr/>
        </p:nvSpPr>
        <p:spPr>
          <a:xfrm>
            <a:off x="704088" y="5394960"/>
            <a:ext cx="2377440" cy="64008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Une plateforme unique pour tout le parc</a:t>
            </a:r>
          </a:p>
        </p:txBody>
      </p:sp>
      <p:sp>
        <p:nvSpPr>
          <p:cNvPr id="18" name="Rounded Rectangle 17"/>
          <p:cNvSpPr/>
          <p:nvPr/>
        </p:nvSpPr>
        <p:spPr>
          <a:xfrm>
            <a:off x="3355848" y="4800600"/>
            <a:ext cx="2697480" cy="13258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55848" y="4800600"/>
            <a:ext cx="2697480" cy="444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7016" y="498348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0F1B2D"/>
                </a:solidFill>
                <a:latin typeface="Arial"/>
              </a:rPr>
              <a:t>Fiabiliser</a:t>
            </a:r>
          </a:p>
        </p:txBody>
      </p:sp>
      <p:sp>
        <p:nvSpPr>
          <p:cNvPr id="21" name="TextBox 20"/>
          <p:cNvSpPr txBox="1"/>
          <p:nvPr/>
        </p:nvSpPr>
        <p:spPr>
          <a:xfrm>
            <a:off x="3557016" y="5394960"/>
            <a:ext cx="2377440" cy="64008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Données temps réel validées</a:t>
            </a:r>
          </a:p>
        </p:txBody>
      </p:sp>
      <p:sp>
        <p:nvSpPr>
          <p:cNvPr id="22" name="Rounded Rectangle 21"/>
          <p:cNvSpPr/>
          <p:nvPr/>
        </p:nvSpPr>
        <p:spPr>
          <a:xfrm>
            <a:off x="6208776" y="4800600"/>
            <a:ext cx="2697480" cy="13258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4800600"/>
            <a:ext cx="2697480" cy="444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498348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0F1B2D"/>
                </a:solidFill>
                <a:latin typeface="Arial"/>
              </a:rPr>
              <a:t>Sécuriser</a:t>
            </a:r>
          </a:p>
        </p:txBody>
      </p:sp>
      <p:sp>
        <p:nvSpPr>
          <p:cNvPr id="25" name="TextBox 24"/>
          <p:cNvSpPr txBox="1"/>
          <p:nvPr/>
        </p:nvSpPr>
        <p:spPr>
          <a:xfrm>
            <a:off x="6409944" y="5394960"/>
            <a:ext cx="2377440" cy="64008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Architecture durcie (cybersécurité)</a:t>
            </a:r>
          </a:p>
        </p:txBody>
      </p:sp>
      <p:sp>
        <p:nvSpPr>
          <p:cNvPr id="26" name="Rounded Rectangle 25"/>
          <p:cNvSpPr/>
          <p:nvPr/>
        </p:nvSpPr>
        <p:spPr>
          <a:xfrm>
            <a:off x="9061704" y="4800600"/>
            <a:ext cx="2697480" cy="13258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1704" y="4800600"/>
            <a:ext cx="2697480" cy="444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498348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0F1B2D"/>
                </a:solidFill>
                <a:latin typeface="Arial"/>
              </a:rPr>
              <a:t>Pérenniser</a:t>
            </a:r>
          </a:p>
        </p:txBody>
      </p:sp>
      <p:sp>
        <p:nvSpPr>
          <p:cNvPr id="29" name="TextBox 28"/>
          <p:cNvSpPr txBox="1"/>
          <p:nvPr/>
        </p:nvSpPr>
        <p:spPr>
          <a:xfrm>
            <a:off x="9262872" y="5394960"/>
            <a:ext cx="2377440" cy="64008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Solution documentée &amp; réutilisable</a:t>
            </a:r>
          </a:p>
        </p:txBody>
      </p:sp>
      <p:sp>
        <p:nvSpPr>
          <p:cNvPr id="30" name="TextBox 29"/>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1" name="TextBox 30"/>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1</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CHAPTER 1 — COMPANY</a:t>
            </a:r>
          </a:p>
          <a:p>
            <a:pPr algn="l">
              <a:lnSpc>
                <a:spcPct val="100000"/>
              </a:lnSpc>
              <a:spcBef>
                <a:spcPts val="0"/>
              </a:spcBef>
              <a:spcAft>
                <a:spcPts val="600"/>
              </a:spcAft>
            </a:pPr>
            <a:r>
              <a:rPr sz="2200" b="1" i="0">
                <a:solidFill>
                  <a:srgbClr val="FFFFFF"/>
                </a:solidFill>
                <a:latin typeface="Arial"/>
              </a:rPr>
              <a:t>The professional environment</a:t>
            </a:r>
          </a:p>
        </p:txBody>
      </p:sp>
      <p:sp>
        <p:nvSpPr>
          <p:cNvPr id="7" name="Rounded Rectangle 6"/>
          <p:cNvSpPr/>
          <p:nvPr/>
        </p:nvSpPr>
        <p:spPr>
          <a:xfrm>
            <a:off x="9859976" y="310896"/>
            <a:ext cx="1874519" cy="457200"/>
          </a:xfrm>
          <a:prstGeom prst="round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59976" y="310896"/>
            <a:ext cx="1874519"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200" b="1" i="0">
                <a:solidFill>
                  <a:srgbClr val="0F1B2D"/>
                </a:solidFill>
                <a:latin typeface="Arial"/>
              </a:rPr>
              <a:t>ENGLISH</a:t>
            </a:r>
          </a:p>
        </p:txBody>
      </p:sp>
      <p:sp>
        <p:nvSpPr>
          <p:cNvPr id="9" name="Rectangle 8"/>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2588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A GLOBAL GROUP, A HUMAN-SIZED AGENCY</a:t>
            </a:r>
          </a:p>
        </p:txBody>
      </p:sp>
      <p:sp>
        <p:nvSpPr>
          <p:cNvPr id="11" name="Rounded Rectangle 10"/>
          <p:cNvSpPr/>
          <p:nvPr/>
        </p:nvSpPr>
        <p:spPr>
          <a:xfrm>
            <a:off x="502920" y="1737360"/>
            <a:ext cx="5212080" cy="676656"/>
          </a:xfrm>
          <a:prstGeom prst="roundRect">
            <a:avLst>
              <a:gd name="adj" fmla="val 6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801368"/>
            <a:ext cx="4846320" cy="566928"/>
          </a:xfrm>
          <a:prstGeom prst="rect">
            <a:avLst/>
          </a:prstGeom>
          <a:noFill/>
        </p:spPr>
        <p:txBody>
          <a:bodyPr wrap="square" anchor="ctr" lIns="0" rIns="0" tIns="0" bIns="0">
            <a:spAutoFit/>
          </a:bodyPr>
          <a:lstStyle/>
          <a:p>
            <a:pPr algn="l">
              <a:lnSpc>
                <a:spcPct val="100000"/>
              </a:lnSpc>
              <a:spcBef>
                <a:spcPts val="0"/>
              </a:spcBef>
              <a:spcAft>
                <a:spcPts val="600"/>
              </a:spcAft>
            </a:pPr>
            <a:r>
              <a:rPr sz="1450" b="1" i="0">
                <a:solidFill>
                  <a:srgbClr val="FFFFFF"/>
                </a:solidFill>
                <a:latin typeface="Arial"/>
              </a:rPr>
              <a:t>VINCI</a:t>
            </a:r>
            <a:r>
              <a:rPr sz="1050" b="0" i="0">
                <a:solidFill>
                  <a:srgbClr val="D9E4EF"/>
                </a:solidFill>
                <a:latin typeface="Arial"/>
              </a:rPr>
              <a:t>   280,000 employees · €74.6 bn revenue (2025)</a:t>
            </a:r>
          </a:p>
        </p:txBody>
      </p:sp>
      <p:sp>
        <p:nvSpPr>
          <p:cNvPr id="13" name="Rounded Rectangle 12"/>
          <p:cNvSpPr/>
          <p:nvPr/>
        </p:nvSpPr>
        <p:spPr>
          <a:xfrm>
            <a:off x="502920" y="2523744"/>
            <a:ext cx="4709160" cy="676656"/>
          </a:xfrm>
          <a:prstGeom prst="roundRect">
            <a:avLst>
              <a:gd name="adj" fmla="val 6000"/>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587752"/>
            <a:ext cx="4343400" cy="566928"/>
          </a:xfrm>
          <a:prstGeom prst="rect">
            <a:avLst/>
          </a:prstGeom>
          <a:noFill/>
        </p:spPr>
        <p:txBody>
          <a:bodyPr wrap="square" anchor="ctr" lIns="0" rIns="0" tIns="0" bIns="0">
            <a:spAutoFit/>
          </a:bodyPr>
          <a:lstStyle/>
          <a:p>
            <a:pPr algn="l">
              <a:lnSpc>
                <a:spcPct val="100000"/>
              </a:lnSpc>
              <a:spcBef>
                <a:spcPts val="0"/>
              </a:spcBef>
              <a:spcAft>
                <a:spcPts val="600"/>
              </a:spcAft>
            </a:pPr>
            <a:r>
              <a:rPr sz="1450" b="1" i="0">
                <a:solidFill>
                  <a:srgbClr val="FFFFFF"/>
                </a:solidFill>
                <a:latin typeface="Arial"/>
              </a:rPr>
              <a:t>VINCI Energies</a:t>
            </a:r>
            <a:r>
              <a:rPr sz="1050" b="0" i="0">
                <a:solidFill>
                  <a:srgbClr val="D9E4EF"/>
                </a:solidFill>
                <a:latin typeface="Arial"/>
              </a:rPr>
              <a:t>   Energy infrastructure &amp; IT</a:t>
            </a:r>
          </a:p>
        </p:txBody>
      </p:sp>
      <p:sp>
        <p:nvSpPr>
          <p:cNvPr id="15" name="Rounded Rectangle 14"/>
          <p:cNvSpPr/>
          <p:nvPr/>
        </p:nvSpPr>
        <p:spPr>
          <a:xfrm>
            <a:off x="502920" y="3310128"/>
            <a:ext cx="4206240" cy="676656"/>
          </a:xfrm>
          <a:prstGeom prst="roundRect">
            <a:avLst>
              <a:gd name="adj" fmla="val 6000"/>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374136"/>
            <a:ext cx="3840480" cy="566928"/>
          </a:xfrm>
          <a:prstGeom prst="rect">
            <a:avLst/>
          </a:prstGeom>
          <a:noFill/>
        </p:spPr>
        <p:txBody>
          <a:bodyPr wrap="square" anchor="ctr" lIns="0" rIns="0" tIns="0" bIns="0">
            <a:spAutoFit/>
          </a:bodyPr>
          <a:lstStyle/>
          <a:p>
            <a:pPr algn="l">
              <a:lnSpc>
                <a:spcPct val="100000"/>
              </a:lnSpc>
              <a:spcBef>
                <a:spcPts val="0"/>
              </a:spcBef>
              <a:spcAft>
                <a:spcPts val="600"/>
              </a:spcAft>
            </a:pPr>
            <a:r>
              <a:rPr sz="1450" b="1" i="0">
                <a:solidFill>
                  <a:srgbClr val="FFFFFF"/>
                </a:solidFill>
                <a:latin typeface="Arial"/>
              </a:rPr>
              <a:t>Axians</a:t>
            </a:r>
            <a:r>
              <a:rPr sz="1050" b="0" i="0">
                <a:solidFill>
                  <a:srgbClr val="D9E4EF"/>
                </a:solidFill>
                <a:latin typeface="Arial"/>
              </a:rPr>
              <a:t>   ICT brand — 15,000 employees</a:t>
            </a:r>
          </a:p>
        </p:txBody>
      </p:sp>
      <p:sp>
        <p:nvSpPr>
          <p:cNvPr id="17" name="Rounded Rectangle 16"/>
          <p:cNvSpPr/>
          <p:nvPr/>
        </p:nvSpPr>
        <p:spPr>
          <a:xfrm>
            <a:off x="502920" y="4096512"/>
            <a:ext cx="3703320" cy="676656"/>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160520"/>
            <a:ext cx="3337560" cy="566928"/>
          </a:xfrm>
          <a:prstGeom prst="rect">
            <a:avLst/>
          </a:prstGeom>
          <a:noFill/>
        </p:spPr>
        <p:txBody>
          <a:bodyPr wrap="square" anchor="ctr" lIns="0" rIns="0" tIns="0" bIns="0">
            <a:spAutoFit/>
          </a:bodyPr>
          <a:lstStyle/>
          <a:p>
            <a:pPr algn="l">
              <a:lnSpc>
                <a:spcPct val="100000"/>
              </a:lnSpc>
              <a:spcBef>
                <a:spcPts val="0"/>
              </a:spcBef>
              <a:spcAft>
                <a:spcPts val="600"/>
              </a:spcAft>
            </a:pPr>
            <a:r>
              <a:rPr sz="1450" b="1" i="0">
                <a:solidFill>
                  <a:srgbClr val="FFFFFF"/>
                </a:solidFill>
                <a:latin typeface="Arial"/>
              </a:rPr>
              <a:t>Axians RMP AURA</a:t>
            </a:r>
            <a:r>
              <a:rPr sz="1050" b="0" i="0">
                <a:solidFill>
                  <a:srgbClr val="D9E4EF"/>
                </a:solidFill>
                <a:latin typeface="Arial"/>
              </a:rPr>
              <a:t>   Alixans agency · ~38 employees</a:t>
            </a:r>
          </a:p>
        </p:txBody>
      </p:sp>
      <p:sp>
        <p:nvSpPr>
          <p:cNvPr id="19" name="TextBox 18"/>
          <p:cNvSpPr txBox="1"/>
          <p:nvPr/>
        </p:nvSpPr>
        <p:spPr>
          <a:xfrm>
            <a:off x="502920" y="5029200"/>
            <a:ext cx="5394960" cy="1280160"/>
          </a:xfrm>
          <a:prstGeom prst="rect">
            <a:avLst/>
          </a:prstGeom>
          <a:noFill/>
        </p:spPr>
        <p:txBody>
          <a:bodyPr wrap="square" anchor="t" lIns="0" rIns="0" tIns="0" bIns="0">
            <a:spAutoFit/>
          </a:bodyPr>
          <a:lstStyle/>
          <a:p>
            <a:pPr algn="l">
              <a:lnSpc>
                <a:spcPct val="110000"/>
              </a:lnSpc>
              <a:spcBef>
                <a:spcPts val="0"/>
              </a:spcBef>
              <a:spcAft>
                <a:spcPts val="600"/>
              </a:spcAft>
            </a:pPr>
            <a:r>
              <a:rPr sz="1250" b="1" i="0">
                <a:solidFill>
                  <a:srgbClr val="0F1B2D"/>
                </a:solidFill>
                <a:latin typeface="Arial"/>
              </a:rPr>
              <a:t>Specialties: </a:t>
            </a:r>
            <a:r>
              <a:rPr sz="1250" b="0" i="0">
                <a:solidFill>
                  <a:srgbClr val="1B2633"/>
                </a:solidFill>
                <a:latin typeface="Arial"/>
              </a:rPr>
              <a:t>TETRA · private 4G/5G · microwave radio links.</a:t>
            </a:r>
          </a:p>
          <a:p>
            <a:pPr algn="l">
              <a:lnSpc>
                <a:spcPct val="110000"/>
              </a:lnSpc>
              <a:spcBef>
                <a:spcPts val="0"/>
              </a:spcBef>
              <a:spcAft>
                <a:spcPts val="600"/>
              </a:spcAft>
            </a:pPr>
            <a:r>
              <a:rPr sz="1250" b="1" i="0">
                <a:solidFill>
                  <a:srgbClr val="0F1B2D"/>
                </a:solidFill>
                <a:latin typeface="Arial"/>
              </a:rPr>
              <a:t>Customers: </a:t>
            </a:r>
            <a:r>
              <a:rPr sz="1250" b="0" i="0">
                <a:solidFill>
                  <a:srgbClr val="1B2633"/>
                </a:solidFill>
                <a:latin typeface="Arial"/>
              </a:rPr>
              <a:t>mostly hospitals + continuous-production industrial sites → a very high availability requirement.</a:t>
            </a:r>
          </a:p>
        </p:txBody>
      </p:sp>
      <p:sp>
        <p:nvSpPr>
          <p:cNvPr id="20" name="Rounded Rectangle 19"/>
          <p:cNvSpPr/>
          <p:nvPr/>
        </p:nvSpPr>
        <p:spPr>
          <a:xfrm>
            <a:off x="6080760" y="1554480"/>
            <a:ext cx="5623560" cy="23317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60" y="1554480"/>
            <a:ext cx="109728" cy="23317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719072"/>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F1B2D"/>
                </a:solidFill>
                <a:latin typeface="Arial"/>
              </a:rPr>
              <a:t>TWO REFERENCE PROJECTS</a:t>
            </a:r>
          </a:p>
        </p:txBody>
      </p:sp>
      <p:sp>
        <p:nvSpPr>
          <p:cNvPr id="23" name="TextBox 22"/>
          <p:cNvSpPr txBox="1"/>
          <p:nvPr/>
        </p:nvSpPr>
        <p:spPr>
          <a:xfrm>
            <a:off x="6400800" y="2176272"/>
            <a:ext cx="5074920" cy="457200"/>
          </a:xfrm>
          <a:prstGeom prst="rect">
            <a:avLst/>
          </a:prstGeom>
          <a:noFill/>
        </p:spPr>
        <p:txBody>
          <a:bodyPr wrap="square" lIns="0" rIns="0" tIns="0" bIns="0">
            <a:spAutoFit/>
          </a:bodyPr>
          <a:lstStyle/>
          <a:p>
            <a:pPr>
              <a:lnSpc>
                <a:spcPct val="105000"/>
              </a:lnSpc>
              <a:spcBef>
                <a:spcPts val="0"/>
              </a:spcBef>
              <a:spcAft>
                <a:spcPts val="1100"/>
              </a:spcAft>
            </a:pPr>
            <a:r>
              <a:rPr sz="1250" b="1">
                <a:solidFill>
                  <a:srgbClr val="00B4C8"/>
                </a:solidFill>
                <a:latin typeface="Arial"/>
              </a:rPr>
              <a:t>▸  </a:t>
            </a:r>
            <a:r>
              <a:rPr sz="1250" b="1">
                <a:solidFill>
                  <a:srgbClr val="1B2633"/>
                </a:solidFill>
                <a:latin typeface="Arial"/>
              </a:rPr>
              <a:t>EDF Renewables (LTE on a wind farm): </a:t>
            </a:r>
            <a:r>
              <a:rPr sz="1250" b="0">
                <a:solidFill>
                  <a:srgbClr val="1B2633"/>
                </a:solidFill>
                <a:latin typeface="Arial"/>
              </a:rPr>
              <a:t>a private 4G network — redundant cores, outdoor base stations, onboard terminals for maintenance boats.</a:t>
            </a:r>
          </a:p>
          <a:p>
            <a:pPr>
              <a:lnSpc>
                <a:spcPct val="105000"/>
              </a:lnSpc>
              <a:spcBef>
                <a:spcPts val="0"/>
              </a:spcBef>
              <a:spcAft>
                <a:spcPts val="1100"/>
              </a:spcAft>
            </a:pPr>
            <a:r>
              <a:rPr sz="1250" b="1">
                <a:solidFill>
                  <a:srgbClr val="00B4C8"/>
                </a:solidFill>
                <a:latin typeface="Arial"/>
              </a:rPr>
              <a:t>▸  </a:t>
            </a:r>
            <a:r>
              <a:rPr sz="1250" b="1">
                <a:solidFill>
                  <a:srgbClr val="1B2633"/>
                </a:solidFill>
                <a:latin typeface="Arial"/>
              </a:rPr>
              <a:t>Sytral Mobilités (TETRA): </a:t>
            </a:r>
            <a:r>
              <a:rPr sz="1250" b="0">
                <a:solidFill>
                  <a:srgbClr val="1B2633"/>
                </a:solidFill>
                <a:latin typeface="Arial"/>
              </a:rPr>
              <a:t>modernised radio network covering 1,000+ buses, 100 tramways and 550 field agents.</a:t>
            </a:r>
          </a:p>
        </p:txBody>
      </p:sp>
      <p:sp>
        <p:nvSpPr>
          <p:cNvPr id="24" name="Rounded Rectangle 23"/>
          <p:cNvSpPr/>
          <p:nvPr/>
        </p:nvSpPr>
        <p:spPr>
          <a:xfrm>
            <a:off x="6080760" y="4069080"/>
            <a:ext cx="5623560" cy="20574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80760" y="4069080"/>
            <a:ext cx="562356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224528"/>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WHY APHÉLIE STARTED HERE</a:t>
            </a:r>
          </a:p>
        </p:txBody>
      </p:sp>
      <p:sp>
        <p:nvSpPr>
          <p:cNvPr id="27" name="TextBox 26"/>
          <p:cNvSpPr txBox="1"/>
          <p:nvPr/>
        </p:nvSpPr>
        <p:spPr>
          <a:xfrm>
            <a:off x="6400800" y="4663440"/>
            <a:ext cx="5074920" cy="457200"/>
          </a:xfrm>
          <a:prstGeom prst="rect">
            <a:avLst/>
          </a:prstGeom>
          <a:noFill/>
        </p:spPr>
        <p:txBody>
          <a:bodyPr wrap="square" lIns="0" rIns="0" tIns="0" bIns="0">
            <a:spAutoFit/>
          </a:bodyPr>
          <a:lstStyle/>
          <a:p>
            <a:pPr>
              <a:lnSpc>
                <a:spcPct val="105000"/>
              </a:lnSpc>
              <a:spcBef>
                <a:spcPts val="0"/>
              </a:spcBef>
              <a:spcAft>
                <a:spcPts val="800"/>
              </a:spcAft>
            </a:pPr>
            <a:r>
              <a:rPr sz="1200" b="1">
                <a:solidFill>
                  <a:srgbClr val="00B4C8"/>
                </a:solidFill>
                <a:latin typeface="Arial"/>
              </a:rPr>
              <a:t>▸  </a:t>
            </a:r>
            <a:r>
              <a:rPr sz="1200">
                <a:solidFill>
                  <a:srgbClr val="FFFFFF"/>
                </a:solidFill>
                <a:latin typeface="Arial"/>
              </a:rPr>
              <a:t>A geographically scattered customer base (sites with no fibre).</a:t>
            </a:r>
          </a:p>
          <a:p>
            <a:pPr>
              <a:lnSpc>
                <a:spcPct val="105000"/>
              </a:lnSpc>
              <a:spcBef>
                <a:spcPts val="0"/>
              </a:spcBef>
              <a:spcAft>
                <a:spcPts val="800"/>
              </a:spcAft>
            </a:pPr>
            <a:r>
              <a:rPr sz="1200" b="1">
                <a:solidFill>
                  <a:srgbClr val="00B4C8"/>
                </a:solidFill>
                <a:latin typeface="Arial"/>
              </a:rPr>
              <a:t>▸  </a:t>
            </a:r>
            <a:r>
              <a:rPr sz="1200">
                <a:solidFill>
                  <a:srgbClr val="FFFFFF"/>
                </a:solidFill>
                <a:latin typeface="Arial"/>
              </a:rPr>
              <a:t>Critical clients: a link outage = care chain disruption or production stop.</a:t>
            </a:r>
          </a:p>
          <a:p>
            <a:pPr>
              <a:lnSpc>
                <a:spcPct val="105000"/>
              </a:lnSpc>
              <a:spcBef>
                <a:spcPts val="0"/>
              </a:spcBef>
              <a:spcAft>
                <a:spcPts val="800"/>
              </a:spcAft>
            </a:pPr>
            <a:r>
              <a:rPr sz="1200" b="1">
                <a:solidFill>
                  <a:srgbClr val="00B4C8"/>
                </a:solidFill>
                <a:latin typeface="Arial"/>
              </a:rPr>
              <a:t>▸  </a:t>
            </a:r>
            <a:r>
              <a:rPr sz="1200">
                <a:solidFill>
                  <a:srgbClr val="FFFFFF"/>
                </a:solidFill>
                <a:latin typeface="Arial"/>
              </a:rPr>
              <a:t>No working supervision tool for ~3 years after two failed attempts.</a:t>
            </a:r>
          </a:p>
        </p:txBody>
      </p:sp>
      <p:sp>
        <p:nvSpPr>
          <p:cNvPr id="28" name="TextBox 27"/>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9" name="TextBox 28"/>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1</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CHAPTER 1 — MY ROLE</a:t>
            </a:r>
          </a:p>
          <a:p>
            <a:pPr algn="l">
              <a:lnSpc>
                <a:spcPct val="100000"/>
              </a:lnSpc>
              <a:spcBef>
                <a:spcPts val="0"/>
              </a:spcBef>
              <a:spcAft>
                <a:spcPts val="600"/>
              </a:spcAft>
            </a:pPr>
            <a:r>
              <a:rPr sz="2200" b="1" i="0">
                <a:solidFill>
                  <a:srgbClr val="FFFFFF"/>
                </a:solidFill>
                <a:latin typeface="Arial"/>
              </a:rPr>
              <a:t>My position and missions</a:t>
            </a:r>
          </a:p>
        </p:txBody>
      </p:sp>
      <p:sp>
        <p:nvSpPr>
          <p:cNvPr id="7" name="Rounded Rectangle 6"/>
          <p:cNvSpPr/>
          <p:nvPr/>
        </p:nvSpPr>
        <p:spPr>
          <a:xfrm>
            <a:off x="9859976" y="310896"/>
            <a:ext cx="1874519" cy="457200"/>
          </a:xfrm>
          <a:prstGeom prst="round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59976" y="310896"/>
            <a:ext cx="1874519" cy="457200"/>
          </a:xfrm>
          <a:prstGeom prst="rect">
            <a:avLst/>
          </a:prstGeom>
          <a:noFill/>
        </p:spPr>
        <p:txBody>
          <a:bodyPr wrap="square" anchor="ctr" lIns="0" rIns="0" tIns="0" bIns="0">
            <a:spAutoFit/>
          </a:bodyPr>
          <a:lstStyle/>
          <a:p>
            <a:pPr algn="ctr">
              <a:lnSpc>
                <a:spcPct val="100000"/>
              </a:lnSpc>
              <a:spcBef>
                <a:spcPts val="0"/>
              </a:spcBef>
              <a:spcAft>
                <a:spcPts val="600"/>
              </a:spcAft>
            </a:pPr>
            <a:r>
              <a:rPr sz="1200" b="1" i="0">
                <a:solidFill>
                  <a:srgbClr val="0F1B2D"/>
                </a:solidFill>
                <a:latin typeface="Arial"/>
              </a:rPr>
              <a:t>ENGLISH</a:t>
            </a:r>
          </a:p>
        </p:txBody>
      </p:sp>
      <p:sp>
        <p:nvSpPr>
          <p:cNvPr id="9" name="Rectangle 8"/>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1463040"/>
            <a:ext cx="5486400" cy="23774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463040"/>
            <a:ext cx="109728" cy="237744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645920"/>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F1B2D"/>
                </a:solidFill>
                <a:latin typeface="Arial"/>
              </a:rPr>
              <a:t>MY POSITION — TELECOM TECHNICIAN (APPRENTICE)</a:t>
            </a:r>
          </a:p>
        </p:txBody>
      </p:sp>
      <p:sp>
        <p:nvSpPr>
          <p:cNvPr id="13" name="TextBox 12"/>
          <p:cNvSpPr txBox="1"/>
          <p:nvPr/>
        </p:nvSpPr>
        <p:spPr>
          <a:xfrm>
            <a:off x="822960" y="2103120"/>
            <a:ext cx="4983480" cy="457200"/>
          </a:xfrm>
          <a:prstGeom prst="rect">
            <a:avLst/>
          </a:prstGeom>
          <a:noFill/>
        </p:spPr>
        <p:txBody>
          <a:bodyPr wrap="square" lIns="0" rIns="0" tIns="0" bIns="0">
            <a:spAutoFit/>
          </a:bodyPr>
          <a:lstStyle/>
          <a:p>
            <a:pPr>
              <a:lnSpc>
                <a:spcPct val="105000"/>
              </a:lnSpc>
              <a:spcBef>
                <a:spcPts val="0"/>
              </a:spcBef>
              <a:spcAft>
                <a:spcPts val="1100"/>
              </a:spcAft>
            </a:pPr>
            <a:r>
              <a:rPr sz="1250" b="1">
                <a:solidFill>
                  <a:srgbClr val="00B4C8"/>
                </a:solidFill>
                <a:latin typeface="Arial"/>
              </a:rPr>
              <a:t>▸  </a:t>
            </a:r>
            <a:r>
              <a:rPr sz="1250" b="1">
                <a:solidFill>
                  <a:srgbClr val="1B2633"/>
                </a:solidFill>
                <a:latin typeface="Arial"/>
              </a:rPr>
              <a:t>Core mission: </a:t>
            </a:r>
            <a:r>
              <a:rPr sz="1250" b="0">
                <a:solidFill>
                  <a:srgbClr val="1B2633"/>
                </a:solidFill>
                <a:latin typeface="Arial"/>
              </a:rPr>
              <a:t>the full design and deployment of the Aphélie supervision project.</a:t>
            </a:r>
          </a:p>
          <a:p>
            <a:pPr>
              <a:lnSpc>
                <a:spcPct val="105000"/>
              </a:lnSpc>
              <a:spcBef>
                <a:spcPts val="0"/>
              </a:spcBef>
              <a:spcAft>
                <a:spcPts val="1100"/>
              </a:spcAft>
            </a:pPr>
            <a:r>
              <a:rPr sz="1250" b="1">
                <a:solidFill>
                  <a:srgbClr val="00B4C8"/>
                </a:solidFill>
                <a:latin typeface="Arial"/>
              </a:rPr>
              <a:t>▸  </a:t>
            </a:r>
            <a:r>
              <a:rPr sz="1250" b="1">
                <a:solidFill>
                  <a:srgbClr val="1B2633"/>
                </a:solidFill>
                <a:latin typeface="Arial"/>
              </a:rPr>
              <a:t>Strong autonomy: </a:t>
            </a:r>
            <a:r>
              <a:rPr sz="1250" b="0">
                <a:solidFill>
                  <a:srgbClr val="1B2633"/>
                </a:solidFill>
                <a:latin typeface="Arial"/>
              </a:rPr>
              <a:t>architecture choices, testing in an isolated lab, documentation.</a:t>
            </a:r>
          </a:p>
          <a:p>
            <a:pPr>
              <a:lnSpc>
                <a:spcPct val="105000"/>
              </a:lnSpc>
              <a:spcBef>
                <a:spcPts val="0"/>
              </a:spcBef>
              <a:spcAft>
                <a:spcPts val="1100"/>
              </a:spcAft>
            </a:pPr>
            <a:r>
              <a:rPr sz="1250" b="1">
                <a:solidFill>
                  <a:srgbClr val="00B4C8"/>
                </a:solidFill>
                <a:latin typeface="Arial"/>
              </a:rPr>
              <a:t>▸  </a:t>
            </a:r>
            <a:r>
              <a:rPr sz="1250" b="1">
                <a:solidFill>
                  <a:srgbClr val="1B2633"/>
                </a:solidFill>
                <a:latin typeface="Arial"/>
              </a:rPr>
              <a:t>Key constraint: </a:t>
            </a:r>
            <a:r>
              <a:rPr sz="1250" b="0">
                <a:solidFill>
                  <a:srgbClr val="1B2633"/>
                </a:solidFill>
                <a:latin typeface="Arial"/>
              </a:rPr>
              <a:t>never disrupt the customers’ live production networks.</a:t>
            </a:r>
          </a:p>
        </p:txBody>
      </p:sp>
      <p:sp>
        <p:nvSpPr>
          <p:cNvPr id="14" name="Rounded Rectangle 13"/>
          <p:cNvSpPr/>
          <p:nvPr/>
        </p:nvSpPr>
        <p:spPr>
          <a:xfrm>
            <a:off x="502920" y="4023360"/>
            <a:ext cx="5486400" cy="210312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4023360"/>
            <a:ext cx="5486400" cy="5080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78808"/>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EC48F"/>
                </a:solidFill>
                <a:latin typeface="Arial"/>
              </a:rPr>
              <a:t>FROM ENGINEERING TO SUPERVISION</a:t>
            </a:r>
          </a:p>
        </p:txBody>
      </p:sp>
      <p:sp>
        <p:nvSpPr>
          <p:cNvPr id="17" name="TextBox 16"/>
          <p:cNvSpPr txBox="1"/>
          <p:nvPr/>
        </p:nvSpPr>
        <p:spPr>
          <a:xfrm>
            <a:off x="822960" y="4617720"/>
            <a:ext cx="4937760" cy="1371600"/>
          </a:xfrm>
          <a:prstGeom prst="rect">
            <a:avLst/>
          </a:prstGeom>
          <a:noFill/>
        </p:spPr>
        <p:txBody>
          <a:bodyPr wrap="square" anchor="t" lIns="0" rIns="0" tIns="0" bIns="0">
            <a:spAutoFit/>
          </a:bodyPr>
          <a:lstStyle/>
          <a:p>
            <a:pPr algn="l">
              <a:lnSpc>
                <a:spcPct val="120000"/>
              </a:lnSpc>
              <a:spcBef>
                <a:spcPts val="0"/>
              </a:spcBef>
              <a:spcAft>
                <a:spcPts val="600"/>
              </a:spcAft>
            </a:pPr>
            <a:r>
              <a:rPr sz="1250" b="0" i="0">
                <a:solidFill>
                  <a:srgbClr val="FFFFFF"/>
                </a:solidFill>
                <a:latin typeface="Arial"/>
              </a:rPr>
              <a:t>Mastering </a:t>
            </a:r>
            <a:r>
              <a:rPr sz="1250" b="1" i="0">
                <a:solidFill>
                  <a:srgbClr val="2EC48F"/>
                </a:solidFill>
                <a:latin typeface="Arial"/>
              </a:rPr>
              <a:t>link budgets</a:t>
            </a:r>
            <a:r>
              <a:rPr sz="1250" b="0" i="0">
                <a:solidFill>
                  <a:srgbClr val="FFFFFF"/>
                </a:solidFill>
                <a:latin typeface="Arial"/>
              </a:rPr>
              <a:t> is what defines the </a:t>
            </a:r>
            <a:r>
              <a:rPr sz="1250" b="1" i="0">
                <a:solidFill>
                  <a:srgbClr val="2EC48F"/>
                </a:solidFill>
                <a:latin typeface="Arial"/>
              </a:rPr>
              <a:t>real alarm thresholds</a:t>
            </a:r>
            <a:r>
              <a:rPr sz="1250" b="0" i="0">
                <a:solidFill>
                  <a:srgbClr val="FFFFFF"/>
                </a:solidFill>
                <a:latin typeface="Arial"/>
              </a:rPr>
              <a:t> to monitor. Supervision then checks whether the theory holds against the field reality.</a:t>
            </a:r>
          </a:p>
        </p:txBody>
      </p:sp>
      <p:sp>
        <p:nvSpPr>
          <p:cNvPr id="18" name="Rounded Rectangle 17"/>
          <p:cNvSpPr/>
          <p:nvPr/>
        </p:nvSpPr>
        <p:spPr>
          <a:xfrm>
            <a:off x="6126480" y="1463040"/>
            <a:ext cx="5577840" cy="46634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63040"/>
            <a:ext cx="5577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645920"/>
            <a:ext cx="5029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TRANSVERSE MISSIONS — RADIO ENGINEERING</a:t>
            </a:r>
          </a:p>
        </p:txBody>
      </p:sp>
      <p:sp>
        <p:nvSpPr>
          <p:cNvPr id="21" name="TextBox 20"/>
          <p:cNvSpPr txBox="1"/>
          <p:nvPr/>
        </p:nvSpPr>
        <p:spPr>
          <a:xfrm>
            <a:off x="6400800" y="2103120"/>
            <a:ext cx="5029200" cy="457200"/>
          </a:xfrm>
          <a:prstGeom prst="rect">
            <a:avLst/>
          </a:prstGeom>
          <a:noFill/>
        </p:spPr>
        <p:txBody>
          <a:bodyPr wrap="square" lIns="0" rIns="0" tIns="0" bIns="0">
            <a:spAutoFit/>
          </a:bodyPr>
          <a:lstStyle/>
          <a:p>
            <a:pPr>
              <a:lnSpc>
                <a:spcPct val="105000"/>
              </a:lnSpc>
              <a:spcBef>
                <a:spcPts val="0"/>
              </a:spcBef>
              <a:spcAft>
                <a:spcPts val="1200"/>
              </a:spcAft>
            </a:pPr>
            <a:r>
              <a:rPr sz="1250" b="1">
                <a:solidFill>
                  <a:srgbClr val="00B4C8"/>
                </a:solidFill>
                <a:latin typeface="Arial"/>
              </a:rPr>
              <a:t>▸  </a:t>
            </a:r>
            <a:r>
              <a:rPr sz="1250" b="1">
                <a:solidFill>
                  <a:srgbClr val="1B2633"/>
                </a:solidFill>
                <a:latin typeface="Arial"/>
              </a:rPr>
              <a:t>Analysing CCTPs</a:t>
            </a:r>
            <a:r>
              <a:rPr sz="1250" b="0">
                <a:solidFill>
                  <a:srgbClr val="1B2633"/>
                </a:solidFill>
                <a:latin typeface="Arial"/>
              </a:rPr>
              <a:t> (technical specifications) from major accounts such as RTE and EDF.</a:t>
            </a:r>
          </a:p>
          <a:p>
            <a:pPr>
              <a:lnSpc>
                <a:spcPct val="105000"/>
              </a:lnSpc>
              <a:spcBef>
                <a:spcPts val="0"/>
              </a:spcBef>
              <a:spcAft>
                <a:spcPts val="1200"/>
              </a:spcAft>
            </a:pPr>
            <a:r>
              <a:rPr sz="1250" b="1">
                <a:solidFill>
                  <a:srgbClr val="00B4C8"/>
                </a:solidFill>
                <a:latin typeface="Arial"/>
              </a:rPr>
              <a:t>▸  </a:t>
            </a:r>
            <a:r>
              <a:rPr sz="1250" b="1">
                <a:solidFill>
                  <a:srgbClr val="1B2633"/>
                </a:solidFill>
                <a:latin typeface="Arial"/>
              </a:rPr>
              <a:t>Link studies with HTZ software</a:t>
            </a:r>
            <a:r>
              <a:rPr sz="1250" b="0">
                <a:solidFill>
                  <a:srgbClr val="1B2633"/>
                </a:solidFill>
                <a:latin typeface="Arial"/>
              </a:rPr>
              <a:t> — modelling terrain, the Fresnel zone, clearance and rainfall (ITU models).</a:t>
            </a:r>
          </a:p>
          <a:p>
            <a:pPr>
              <a:lnSpc>
                <a:spcPct val="105000"/>
              </a:lnSpc>
              <a:spcBef>
                <a:spcPts val="0"/>
              </a:spcBef>
              <a:spcAft>
                <a:spcPts val="1200"/>
              </a:spcAft>
            </a:pPr>
            <a:r>
              <a:rPr sz="1250" b="1">
                <a:solidFill>
                  <a:srgbClr val="00B4C8"/>
                </a:solidFill>
                <a:latin typeface="Arial"/>
              </a:rPr>
              <a:t>▸  </a:t>
            </a:r>
            <a:r>
              <a:rPr sz="1250" b="1">
                <a:solidFill>
                  <a:srgbClr val="1B2633"/>
                </a:solidFill>
                <a:latin typeface="Arial"/>
              </a:rPr>
              <a:t>A concrete case</a:t>
            </a:r>
            <a:r>
              <a:rPr sz="1250" b="0">
                <a:solidFill>
                  <a:srgbClr val="1B2633"/>
                </a:solidFill>
                <a:latin typeface="Arial"/>
              </a:rPr>
              <a:t> — a wind-turbine proximity study validated by calculation (a 16.3 m safety margin).</a:t>
            </a:r>
          </a:p>
          <a:p>
            <a:pPr>
              <a:lnSpc>
                <a:spcPct val="105000"/>
              </a:lnSpc>
              <a:spcBef>
                <a:spcPts val="0"/>
              </a:spcBef>
              <a:spcAft>
                <a:spcPts val="1200"/>
              </a:spcAft>
            </a:pPr>
            <a:r>
              <a:rPr sz="1250" b="1">
                <a:solidFill>
                  <a:srgbClr val="00B4C8"/>
                </a:solidFill>
                <a:latin typeface="Arial"/>
              </a:rPr>
              <a:t>▸  </a:t>
            </a:r>
            <a:r>
              <a:rPr sz="1250" b="1">
                <a:solidFill>
                  <a:srgbClr val="1B2633"/>
                </a:solidFill>
                <a:latin typeface="Arial"/>
              </a:rPr>
              <a:t>Deliverables</a:t>
            </a:r>
            <a:r>
              <a:rPr sz="1250" b="0">
                <a:solidFill>
                  <a:srgbClr val="1B2633"/>
                </a:solidFill>
                <a:latin typeface="Arial"/>
              </a:rPr>
              <a:t> — General Study, Link Engineering File (DIL), Site Installation File (DIS).</a:t>
            </a:r>
          </a:p>
        </p:txBody>
      </p:sp>
      <p:sp>
        <p:nvSpPr>
          <p:cNvPr id="22" name="TextBox 21"/>
          <p:cNvSpPr txBox="1"/>
          <p:nvPr/>
        </p:nvSpPr>
        <p:spPr>
          <a:xfrm>
            <a:off x="6400800" y="5532120"/>
            <a:ext cx="5029200" cy="45720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6B7A8C"/>
                </a:solidFill>
                <a:latin typeface="Arial"/>
              </a:rPr>
              <a:t>→ These studies build the field knowledge of exactly what had to be supervised.</a:t>
            </a:r>
          </a:p>
        </p:txBody>
      </p:sp>
      <p:sp>
        <p:nvSpPr>
          <p:cNvPr id="23" name="TextBox 22"/>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4" name="TextBox 23"/>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a:t>
            </a:r>
          </a:p>
          <a:p>
            <a:pPr algn="l">
              <a:lnSpc>
                <a:spcPct val="100000"/>
              </a:lnSpc>
              <a:spcBef>
                <a:spcPts val="0"/>
              </a:spcBef>
              <a:spcAft>
                <a:spcPts val="600"/>
              </a:spcAft>
            </a:pPr>
            <a:r>
              <a:rPr sz="2200" b="1" i="0">
                <a:solidFill>
                  <a:srgbClr val="FFFFFF"/>
                </a:solidFill>
                <a:latin typeface="Arial"/>
              </a:rPr>
              <a:t>Initialisation &amp; cadrage — Diagnostic &amp; besoins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UN LOURD PASSIF TECHNIQUE</a:t>
            </a:r>
          </a:p>
        </p:txBody>
      </p:sp>
      <p:sp>
        <p:nvSpPr>
          <p:cNvPr id="9" name="Rectangle 8"/>
          <p:cNvSpPr/>
          <p:nvPr/>
        </p:nvSpPr>
        <p:spPr>
          <a:xfrm>
            <a:off x="502920" y="1691640"/>
            <a:ext cx="960120" cy="9144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91640"/>
            <a:ext cx="960120" cy="9144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FFFFFF"/>
                </a:solidFill>
                <a:latin typeface="Arial"/>
              </a:rPr>
              <a:t>2012</a:t>
            </a:r>
          </a:p>
        </p:txBody>
      </p:sp>
      <p:sp>
        <p:nvSpPr>
          <p:cNvPr id="11" name="Rounded Rectangle 10"/>
          <p:cNvSpPr/>
          <p:nvPr/>
        </p:nvSpPr>
        <p:spPr>
          <a:xfrm>
            <a:off x="1572768" y="1691640"/>
            <a:ext cx="4160520" cy="9144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55648" y="1783080"/>
            <a:ext cx="3840480" cy="3657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F1B2D"/>
                </a:solidFill>
                <a:latin typeface="Arial"/>
              </a:rPr>
              <a:t>Aphélie v1 (ESISAR)</a:t>
            </a:r>
          </a:p>
        </p:txBody>
      </p:sp>
      <p:sp>
        <p:nvSpPr>
          <p:cNvPr id="13" name="TextBox 12"/>
          <p:cNvSpPr txBox="1"/>
          <p:nvPr/>
        </p:nvSpPr>
        <p:spPr>
          <a:xfrm>
            <a:off x="1755648" y="2112264"/>
            <a:ext cx="3840480" cy="457200"/>
          </a:xfrm>
          <a:prstGeom prst="rect">
            <a:avLst/>
          </a:prstGeom>
          <a:noFill/>
        </p:spPr>
        <p:txBody>
          <a:bodyPr wrap="square" anchor="t" lIns="0" rIns="0" tIns="0" bIns="0">
            <a:spAutoFit/>
          </a:bodyPr>
          <a:lstStyle/>
          <a:p>
            <a:pPr algn="l">
              <a:lnSpc>
                <a:spcPct val="100000"/>
              </a:lnSpc>
              <a:spcBef>
                <a:spcPts val="0"/>
              </a:spcBef>
              <a:spcAft>
                <a:spcPts val="600"/>
              </a:spcAft>
            </a:pPr>
            <a:r>
              <a:rPr sz="1050" b="0" i="0">
                <a:solidFill>
                  <a:srgbClr val="1B2633"/>
                </a:solidFill>
                <a:latin typeface="Arial"/>
              </a:rPr>
              <a:t>Interface sur-mesure devenue une « boîte noire » : 1 module sur 2 HS, fausses alarmes.</a:t>
            </a:r>
          </a:p>
        </p:txBody>
      </p:sp>
      <p:sp>
        <p:nvSpPr>
          <p:cNvPr id="14" name="Rectangle 13"/>
          <p:cNvSpPr/>
          <p:nvPr/>
        </p:nvSpPr>
        <p:spPr>
          <a:xfrm>
            <a:off x="502920" y="2724911"/>
            <a:ext cx="960120" cy="9144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2724911"/>
            <a:ext cx="960120" cy="9144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FFFFFF"/>
                </a:solidFill>
                <a:latin typeface="Arial"/>
              </a:rPr>
              <a:t>2017</a:t>
            </a:r>
          </a:p>
        </p:txBody>
      </p:sp>
      <p:sp>
        <p:nvSpPr>
          <p:cNvPr id="16" name="Rounded Rectangle 15"/>
          <p:cNvSpPr/>
          <p:nvPr/>
        </p:nvSpPr>
        <p:spPr>
          <a:xfrm>
            <a:off x="1572768" y="2724911"/>
            <a:ext cx="4160520" cy="9144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55648" y="2816351"/>
            <a:ext cx="3840480" cy="3657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F1B2D"/>
                </a:solidFill>
                <a:latin typeface="Arial"/>
              </a:rPr>
              <a:t>WhatsUp Gold</a:t>
            </a:r>
          </a:p>
        </p:txBody>
      </p:sp>
      <p:sp>
        <p:nvSpPr>
          <p:cNvPr id="18" name="TextBox 17"/>
          <p:cNvSpPr txBox="1"/>
          <p:nvPr/>
        </p:nvSpPr>
        <p:spPr>
          <a:xfrm>
            <a:off x="1755648" y="3145535"/>
            <a:ext cx="3840480" cy="457200"/>
          </a:xfrm>
          <a:prstGeom prst="rect">
            <a:avLst/>
          </a:prstGeom>
          <a:noFill/>
        </p:spPr>
        <p:txBody>
          <a:bodyPr wrap="square" anchor="t" lIns="0" rIns="0" tIns="0" bIns="0">
            <a:spAutoFit/>
          </a:bodyPr>
          <a:lstStyle/>
          <a:p>
            <a:pPr algn="l">
              <a:lnSpc>
                <a:spcPct val="100000"/>
              </a:lnSpc>
              <a:spcBef>
                <a:spcPts val="0"/>
              </a:spcBef>
              <a:spcAft>
                <a:spcPts val="600"/>
              </a:spcAft>
            </a:pPr>
            <a:r>
              <a:rPr sz="1050" b="0" i="0">
                <a:solidFill>
                  <a:srgbClr val="1B2633"/>
                </a:solidFill>
                <a:latin typeface="Arial"/>
              </a:rPr>
              <a:t>Tentative restée au stade de l’étude des MIB — jamais exploitable.</a:t>
            </a:r>
          </a:p>
        </p:txBody>
      </p:sp>
      <p:sp>
        <p:nvSpPr>
          <p:cNvPr id="19" name="Rectangle 18"/>
          <p:cNvSpPr/>
          <p:nvPr/>
        </p:nvSpPr>
        <p:spPr>
          <a:xfrm>
            <a:off x="502920" y="3758182"/>
            <a:ext cx="960120" cy="91440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758182"/>
            <a:ext cx="960120" cy="914400"/>
          </a:xfrm>
          <a:prstGeom prst="rect">
            <a:avLst/>
          </a:prstGeom>
          <a:noFill/>
        </p:spPr>
        <p:txBody>
          <a:bodyPr wrap="square" anchor="ctr" lIns="0" rIns="0" tIns="0" bIns="0">
            <a:spAutoFit/>
          </a:bodyPr>
          <a:lstStyle/>
          <a:p>
            <a:pPr algn="ctr">
              <a:lnSpc>
                <a:spcPct val="100000"/>
              </a:lnSpc>
              <a:spcBef>
                <a:spcPts val="0"/>
              </a:spcBef>
              <a:spcAft>
                <a:spcPts val="600"/>
              </a:spcAft>
            </a:pPr>
            <a:r>
              <a:rPr sz="1800" b="1" i="0">
                <a:solidFill>
                  <a:srgbClr val="FFFFFF"/>
                </a:solidFill>
                <a:latin typeface="Arial"/>
              </a:rPr>
              <a:t>2025</a:t>
            </a:r>
          </a:p>
        </p:txBody>
      </p:sp>
      <p:sp>
        <p:nvSpPr>
          <p:cNvPr id="21" name="Rounded Rectangle 20"/>
          <p:cNvSpPr/>
          <p:nvPr/>
        </p:nvSpPr>
        <p:spPr>
          <a:xfrm>
            <a:off x="1572768" y="3758182"/>
            <a:ext cx="4160520" cy="9144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55648" y="3849622"/>
            <a:ext cx="3840480" cy="3657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F1B2D"/>
                </a:solidFill>
                <a:latin typeface="Arial"/>
              </a:rPr>
              <a:t>Projet Aphélie</a:t>
            </a:r>
          </a:p>
        </p:txBody>
      </p:sp>
      <p:sp>
        <p:nvSpPr>
          <p:cNvPr id="23" name="TextBox 22"/>
          <p:cNvSpPr txBox="1"/>
          <p:nvPr/>
        </p:nvSpPr>
        <p:spPr>
          <a:xfrm>
            <a:off x="1755648" y="4178806"/>
            <a:ext cx="3840480" cy="457200"/>
          </a:xfrm>
          <a:prstGeom prst="rect">
            <a:avLst/>
          </a:prstGeom>
          <a:noFill/>
        </p:spPr>
        <p:txBody>
          <a:bodyPr wrap="square" anchor="t" lIns="0" rIns="0" tIns="0" bIns="0">
            <a:spAutoFit/>
          </a:bodyPr>
          <a:lstStyle/>
          <a:p>
            <a:pPr algn="l">
              <a:lnSpc>
                <a:spcPct val="100000"/>
              </a:lnSpc>
              <a:spcBef>
                <a:spcPts val="0"/>
              </a:spcBef>
              <a:spcAft>
                <a:spcPts val="600"/>
              </a:spcAft>
            </a:pPr>
            <a:r>
              <a:rPr sz="1050" b="0" i="0">
                <a:solidFill>
                  <a:srgbClr val="1B2633"/>
                </a:solidFill>
                <a:latin typeface="Arial"/>
              </a:rPr>
              <a:t>Refonte complète confiée à l’alternant : enfin une solution opérationnelle.</a:t>
            </a:r>
          </a:p>
        </p:txBody>
      </p:sp>
      <p:sp>
        <p:nvSpPr>
          <p:cNvPr id="24" name="Rounded Rectangle 23"/>
          <p:cNvSpPr/>
          <p:nvPr/>
        </p:nvSpPr>
        <p:spPr>
          <a:xfrm>
            <a:off x="6080760" y="1463040"/>
            <a:ext cx="5623560" cy="466344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80760" y="1463040"/>
            <a:ext cx="562356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1645920"/>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LE BESOIN À COUVRIR (PÉRIMÈTRE INITIAL)</a:t>
            </a:r>
          </a:p>
        </p:txBody>
      </p:sp>
      <p:sp>
        <p:nvSpPr>
          <p:cNvPr id="27" name="TextBox 26"/>
          <p:cNvSpPr txBox="1"/>
          <p:nvPr/>
        </p:nvSpPr>
        <p:spPr>
          <a:xfrm>
            <a:off x="6355080" y="2148840"/>
            <a:ext cx="5074920" cy="457200"/>
          </a:xfrm>
          <a:prstGeom prst="rect">
            <a:avLst/>
          </a:prstGeom>
          <a:noFill/>
        </p:spPr>
        <p:txBody>
          <a:bodyPr wrap="square" lIns="0" rIns="0" tIns="0" bIns="0">
            <a:spAutoFit/>
          </a:bodyPr>
          <a:lstStyle/>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Parc : </a:t>
            </a:r>
            <a:r>
              <a:rPr sz="1300" b="0">
                <a:solidFill>
                  <a:srgbClr val="FFFFFF"/>
                </a:solidFill>
                <a:latin typeface="Arial"/>
              </a:rPr>
              <a:t>30 à 50 faisceaux Ericsson MINI-LINK (IDU).</a:t>
            </a:r>
          </a:p>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Temps réel : </a:t>
            </a:r>
            <a:r>
              <a:rPr sz="1300" b="0">
                <a:solidFill>
                  <a:srgbClr val="FFFFFF"/>
                </a:solidFill>
                <a:latin typeface="Arial"/>
              </a:rPr>
              <a:t>polling 1 min sur les niveaux Rx (réception) et Tx (émission).</a:t>
            </a:r>
          </a:p>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Alertes : </a:t>
            </a:r>
            <a:r>
              <a:rPr sz="1300" b="0">
                <a:solidFill>
                  <a:srgbClr val="FFFFFF"/>
                </a:solidFill>
                <a:latin typeface="Arial"/>
              </a:rPr>
              <a:t>traps SNMP classées sur 5 niveaux de criticité, traduites en clair.</a:t>
            </a:r>
          </a:p>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Cartographie : </a:t>
            </a:r>
            <a:r>
              <a:rPr sz="1300" b="0">
                <a:solidFill>
                  <a:srgbClr val="FFFFFF"/>
                </a:solidFill>
                <a:latin typeface="Arial"/>
              </a:rPr>
              <a:t>vue dynamique, icônes colorées + segments de liaison.</a:t>
            </a:r>
          </a:p>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Notification proactive : </a:t>
            </a:r>
            <a:r>
              <a:rPr sz="1300" b="0">
                <a:solidFill>
                  <a:srgbClr val="FFFFFF"/>
                </a:solidFill>
                <a:latin typeface="Arial"/>
              </a:rPr>
              <a:t>e-mail automatique aux équipes d’astreinte sur seuil critique.</a:t>
            </a:r>
          </a:p>
          <a:p>
            <a:pPr>
              <a:lnSpc>
                <a:spcPct val="105000"/>
              </a:lnSpc>
              <a:spcBef>
                <a:spcPts val="0"/>
              </a:spcBef>
              <a:spcAft>
                <a:spcPts val="1000"/>
              </a:spcAft>
            </a:pPr>
            <a:r>
              <a:rPr sz="1300" b="1">
                <a:solidFill>
                  <a:srgbClr val="00B4C8"/>
                </a:solidFill>
                <a:latin typeface="Arial"/>
              </a:rPr>
              <a:t>▸  </a:t>
            </a:r>
            <a:r>
              <a:rPr sz="1300" b="1">
                <a:solidFill>
                  <a:srgbClr val="FFFFFF"/>
                </a:solidFill>
                <a:latin typeface="Arial"/>
              </a:rPr>
              <a:t>Haute disponibilité : </a:t>
            </a:r>
            <a:r>
              <a:rPr sz="1300" b="0">
                <a:solidFill>
                  <a:srgbClr val="FFFFFF"/>
                </a:solidFill>
                <a:latin typeface="Arial"/>
              </a:rPr>
              <a:t>la supervision ne doit pas devenir elle-même un point faible.</a:t>
            </a:r>
          </a:p>
        </p:txBody>
      </p:sp>
      <p:sp>
        <p:nvSpPr>
          <p:cNvPr id="28" name="TextBox 27"/>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9" name="TextBox 28"/>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 — CADRAGE</a:t>
            </a:r>
          </a:p>
          <a:p>
            <a:pPr algn="l">
              <a:lnSpc>
                <a:spcPct val="100000"/>
              </a:lnSpc>
              <a:spcBef>
                <a:spcPts val="0"/>
              </a:spcBef>
              <a:spcAft>
                <a:spcPts val="600"/>
              </a:spcAft>
            </a:pPr>
            <a:r>
              <a:rPr sz="2200" b="1" i="0">
                <a:solidFill>
                  <a:srgbClr val="FFFFFF"/>
                </a:solidFill>
                <a:latin typeface="Arial"/>
              </a:rPr>
              <a:t>Le besoin en synthèse — pourquoi, pour qui, comment, où</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371600"/>
            <a:ext cx="5486400" cy="22402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71600"/>
            <a:ext cx="5486400" cy="4572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71600"/>
            <a:ext cx="5120640" cy="45720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FFFFFF"/>
                </a:solidFill>
                <a:latin typeface="Arial"/>
              </a:rPr>
              <a:t>POURQUOI</a:t>
            </a:r>
          </a:p>
        </p:txBody>
      </p:sp>
      <p:sp>
        <p:nvSpPr>
          <p:cNvPr id="11" name="TextBox 10"/>
          <p:cNvSpPr txBox="1"/>
          <p:nvPr/>
        </p:nvSpPr>
        <p:spPr>
          <a:xfrm>
            <a:off x="731520" y="1993392"/>
            <a:ext cx="502920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Supervision obsolète : 1 module sur 2 HS, fausses alarmes.</a:t>
            </a:r>
          </a:p>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~3 ans sans outil → pannes signalées par les clients.</a:t>
            </a:r>
          </a:p>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Parc critique : hôpitaux, industrie continue, OIV.</a:t>
            </a:r>
          </a:p>
        </p:txBody>
      </p:sp>
      <p:sp>
        <p:nvSpPr>
          <p:cNvPr id="12" name="Rounded Rectangle 11"/>
          <p:cNvSpPr/>
          <p:nvPr/>
        </p:nvSpPr>
        <p:spPr>
          <a:xfrm>
            <a:off x="6217920" y="1371600"/>
            <a:ext cx="5486400" cy="22402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486400" cy="45720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371600"/>
            <a:ext cx="5120640" cy="45720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FFFFFF"/>
                </a:solidFill>
                <a:latin typeface="Arial"/>
              </a:rPr>
              <a:t>POUR QUI</a:t>
            </a:r>
          </a:p>
        </p:txBody>
      </p:sp>
      <p:sp>
        <p:nvSpPr>
          <p:cNvPr id="15" name="TextBox 14"/>
          <p:cNvSpPr txBox="1"/>
          <p:nvPr/>
        </p:nvSpPr>
        <p:spPr>
          <a:xfrm>
            <a:off x="6446520" y="1993392"/>
            <a:ext cx="502920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1B3A5C"/>
                </a:solidFill>
                <a:latin typeface="Arial"/>
              </a:rPr>
              <a:t>▸  </a:t>
            </a:r>
            <a:r>
              <a:rPr sz="1200">
                <a:solidFill>
                  <a:srgbClr val="1B2633"/>
                </a:solidFill>
                <a:latin typeface="Arial"/>
              </a:rPr>
              <a:t>Techniciens / NOC : diagnostic immédiat, moins de déplacements.</a:t>
            </a:r>
          </a:p>
          <a:p>
            <a:pPr>
              <a:lnSpc>
                <a:spcPct val="105000"/>
              </a:lnSpc>
              <a:spcBef>
                <a:spcPts val="0"/>
              </a:spcBef>
              <a:spcAft>
                <a:spcPts val="900"/>
              </a:spcAft>
            </a:pPr>
            <a:r>
              <a:rPr sz="1200" b="1">
                <a:solidFill>
                  <a:srgbClr val="1B3A5C"/>
                </a:solidFill>
                <a:latin typeface="Arial"/>
              </a:rPr>
              <a:t>▸  </a:t>
            </a:r>
            <a:r>
              <a:rPr sz="1200">
                <a:solidFill>
                  <a:srgbClr val="1B2633"/>
                </a:solidFill>
                <a:latin typeface="Arial"/>
              </a:rPr>
              <a:t>Chef de projet &amp; responsable d’affaires : pilotage.</a:t>
            </a:r>
          </a:p>
          <a:p>
            <a:pPr>
              <a:lnSpc>
                <a:spcPct val="105000"/>
              </a:lnSpc>
              <a:spcBef>
                <a:spcPts val="0"/>
              </a:spcBef>
              <a:spcAft>
                <a:spcPts val="900"/>
              </a:spcAft>
            </a:pPr>
            <a:r>
              <a:rPr sz="1200" b="1">
                <a:solidFill>
                  <a:srgbClr val="1B3A5C"/>
                </a:solidFill>
                <a:latin typeface="Arial"/>
              </a:rPr>
              <a:t>▸  </a:t>
            </a:r>
            <a:r>
              <a:rPr sz="1200">
                <a:solidFill>
                  <a:srgbClr val="1B2633"/>
                </a:solidFill>
                <a:latin typeface="Arial"/>
              </a:rPr>
              <a:t>Clients &amp; agence : continuité de service + rentabilité.</a:t>
            </a:r>
          </a:p>
        </p:txBody>
      </p:sp>
      <p:sp>
        <p:nvSpPr>
          <p:cNvPr id="16" name="Rounded Rectangle 15"/>
          <p:cNvSpPr/>
          <p:nvPr/>
        </p:nvSpPr>
        <p:spPr>
          <a:xfrm>
            <a:off x="502920" y="3794760"/>
            <a:ext cx="5486400" cy="22402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794760"/>
            <a:ext cx="5486400" cy="45720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794760"/>
            <a:ext cx="5120640" cy="45720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FFFFFF"/>
                </a:solidFill>
                <a:latin typeface="Arial"/>
              </a:rPr>
              <a:t>COMMENT</a:t>
            </a:r>
          </a:p>
        </p:txBody>
      </p:sp>
      <p:sp>
        <p:nvSpPr>
          <p:cNvPr id="19" name="TextBox 18"/>
          <p:cNvSpPr txBox="1"/>
          <p:nvPr/>
        </p:nvSpPr>
        <p:spPr>
          <a:xfrm>
            <a:off x="731520" y="4416552"/>
            <a:ext cx="502920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2EC48F"/>
                </a:solidFill>
                <a:latin typeface="Arial"/>
              </a:rPr>
              <a:t>▸  </a:t>
            </a:r>
            <a:r>
              <a:rPr sz="1200">
                <a:solidFill>
                  <a:srgbClr val="1B2633"/>
                </a:solidFill>
                <a:latin typeface="Arial"/>
              </a:rPr>
              <a:t>RUT956 → tunnel VPN / RMS → Zabbix → Grafana → serveur HPE.</a:t>
            </a:r>
          </a:p>
          <a:p>
            <a:pPr>
              <a:lnSpc>
                <a:spcPct val="105000"/>
              </a:lnSpc>
              <a:spcBef>
                <a:spcPts val="0"/>
              </a:spcBef>
              <a:spcAft>
                <a:spcPts val="900"/>
              </a:spcAft>
            </a:pPr>
            <a:r>
              <a:rPr sz="1200" b="1">
                <a:solidFill>
                  <a:srgbClr val="2EC48F"/>
                </a:solidFill>
                <a:latin typeface="Arial"/>
              </a:rPr>
              <a:t>▸  </a:t>
            </a:r>
            <a:r>
              <a:rPr sz="1200">
                <a:solidFill>
                  <a:srgbClr val="1B2633"/>
                </a:solidFill>
                <a:latin typeface="Arial"/>
              </a:rPr>
              <a:t>SNMP polling 1 min + traps ; templates génériques.</a:t>
            </a:r>
          </a:p>
          <a:p>
            <a:pPr>
              <a:lnSpc>
                <a:spcPct val="105000"/>
              </a:lnSpc>
              <a:spcBef>
                <a:spcPts val="0"/>
              </a:spcBef>
              <a:spcAft>
                <a:spcPts val="900"/>
              </a:spcAft>
            </a:pPr>
            <a:r>
              <a:rPr sz="1200" b="1">
                <a:solidFill>
                  <a:srgbClr val="2EC48F"/>
                </a:solidFill>
                <a:latin typeface="Arial"/>
              </a:rPr>
              <a:t>▸  </a:t>
            </a:r>
            <a:r>
              <a:rPr sz="1200">
                <a:solidFill>
                  <a:srgbClr val="1B2633"/>
                </a:solidFill>
                <a:latin typeface="Arial"/>
              </a:rPr>
              <a:t>Sécurité EBIOS RM : MFA + durcissement / NoNat.</a:t>
            </a:r>
          </a:p>
        </p:txBody>
      </p:sp>
      <p:sp>
        <p:nvSpPr>
          <p:cNvPr id="20" name="Rounded Rectangle 19"/>
          <p:cNvSpPr/>
          <p:nvPr/>
        </p:nvSpPr>
        <p:spPr>
          <a:xfrm>
            <a:off x="6217920" y="3794760"/>
            <a:ext cx="5486400" cy="22402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794760"/>
            <a:ext cx="5486400" cy="4572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794760"/>
            <a:ext cx="5120640" cy="457200"/>
          </a:xfrm>
          <a:prstGeom prst="rect">
            <a:avLst/>
          </a:prstGeom>
          <a:noFill/>
        </p:spPr>
        <p:txBody>
          <a:bodyPr wrap="square" anchor="ctr" lIns="0" rIns="0" tIns="0" bIns="0">
            <a:spAutoFit/>
          </a:bodyPr>
          <a:lstStyle/>
          <a:p>
            <a:pPr algn="l">
              <a:lnSpc>
                <a:spcPct val="100000"/>
              </a:lnSpc>
              <a:spcBef>
                <a:spcPts val="0"/>
              </a:spcBef>
              <a:spcAft>
                <a:spcPts val="600"/>
              </a:spcAft>
            </a:pPr>
            <a:r>
              <a:rPr sz="1400" b="1" i="0">
                <a:solidFill>
                  <a:srgbClr val="FFFFFF"/>
                </a:solidFill>
                <a:latin typeface="Arial"/>
              </a:rPr>
              <a:t>OÙ / QUOI</a:t>
            </a:r>
          </a:p>
        </p:txBody>
      </p:sp>
      <p:sp>
        <p:nvSpPr>
          <p:cNvPr id="23" name="TextBox 22"/>
          <p:cNvSpPr txBox="1"/>
          <p:nvPr/>
        </p:nvSpPr>
        <p:spPr>
          <a:xfrm>
            <a:off x="6446520" y="4416552"/>
            <a:ext cx="502920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0F1B2D"/>
                </a:solidFill>
                <a:latin typeface="Arial"/>
              </a:rPr>
              <a:t>▸  </a:t>
            </a:r>
            <a:r>
              <a:rPr sz="1200">
                <a:solidFill>
                  <a:srgbClr val="1B2633"/>
                </a:solidFill>
                <a:latin typeface="Arial"/>
              </a:rPr>
              <a:t>Sites dispersés en France (zones sans fibre).</a:t>
            </a:r>
          </a:p>
          <a:p>
            <a:pPr>
              <a:lnSpc>
                <a:spcPct val="105000"/>
              </a:lnSpc>
              <a:spcBef>
                <a:spcPts val="0"/>
              </a:spcBef>
              <a:spcAft>
                <a:spcPts val="900"/>
              </a:spcAft>
            </a:pPr>
            <a:r>
              <a:rPr sz="1200" b="1">
                <a:solidFill>
                  <a:srgbClr val="0F1B2D"/>
                </a:solidFill>
                <a:latin typeface="Arial"/>
              </a:rPr>
              <a:t>▸  </a:t>
            </a:r>
            <a:r>
              <a:rPr sz="1200">
                <a:solidFill>
                  <a:srgbClr val="1B2633"/>
                </a:solidFill>
                <a:latin typeface="Arial"/>
              </a:rPr>
              <a:t>Périmètre : 16 clients, 30-50 faisceaux Ericsson MINI-LINK (IDU).</a:t>
            </a:r>
          </a:p>
          <a:p>
            <a:pPr>
              <a:lnSpc>
                <a:spcPct val="105000"/>
              </a:lnSpc>
              <a:spcBef>
                <a:spcPts val="0"/>
              </a:spcBef>
              <a:spcAft>
                <a:spcPts val="900"/>
              </a:spcAft>
            </a:pPr>
            <a:r>
              <a:rPr sz="1200" b="1">
                <a:solidFill>
                  <a:srgbClr val="0F1B2D"/>
                </a:solidFill>
                <a:latin typeface="Arial"/>
              </a:rPr>
              <a:t>▸  </a:t>
            </a:r>
            <a:r>
              <a:rPr sz="1200">
                <a:solidFill>
                  <a:srgbClr val="1B2633"/>
                </a:solidFill>
                <a:latin typeface="Arial"/>
              </a:rPr>
              <a:t>Hors périmètre : IA locale, portail Entra ID (pistes).</a:t>
            </a:r>
          </a:p>
        </p:txBody>
      </p:sp>
      <p:sp>
        <p:nvSpPr>
          <p:cNvPr id="24" name="TextBox 23"/>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5" name="TextBox 24"/>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a:t>
            </a:r>
          </a:p>
          <a:p>
            <a:pPr algn="l">
              <a:lnSpc>
                <a:spcPct val="100000"/>
              </a:lnSpc>
              <a:spcBef>
                <a:spcPts val="0"/>
              </a:spcBef>
              <a:spcAft>
                <a:spcPts val="600"/>
              </a:spcAft>
            </a:pPr>
            <a:r>
              <a:rPr sz="2200" b="1" i="0">
                <a:solidFill>
                  <a:srgbClr val="FFFFFF"/>
                </a:solidFill>
                <a:latin typeface="Arial"/>
              </a:rPr>
              <a:t>Étude de marché &amp; choix technologiques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097280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Deux décisions structurantes, instruites par filtres successifs (souveraineté, modèle économique, maturité).</a:t>
            </a:r>
          </a:p>
        </p:txBody>
      </p:sp>
      <p:sp>
        <p:nvSpPr>
          <p:cNvPr id="9" name="Rounded Rectangle 8"/>
          <p:cNvSpPr/>
          <p:nvPr/>
        </p:nvSpPr>
        <p:spPr>
          <a:xfrm>
            <a:off x="502920" y="1783080"/>
            <a:ext cx="5486400" cy="42062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5486400" cy="566928"/>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10512"/>
            <a:ext cx="5120640" cy="512064"/>
          </a:xfrm>
          <a:prstGeom prst="rect">
            <a:avLst/>
          </a:prstGeom>
          <a:noFill/>
        </p:spPr>
        <p:txBody>
          <a:bodyPr wrap="square" anchor="ctr" lIns="0" rIns="0" tIns="0" bIns="0">
            <a:spAutoFit/>
          </a:bodyPr>
          <a:lstStyle/>
          <a:p>
            <a:pPr algn="l">
              <a:lnSpc>
                <a:spcPct val="100000"/>
              </a:lnSpc>
              <a:spcBef>
                <a:spcPts val="0"/>
              </a:spcBef>
              <a:spcAft>
                <a:spcPts val="600"/>
              </a:spcAft>
            </a:pPr>
            <a:r>
              <a:rPr sz="1350" b="1" i="0">
                <a:solidFill>
                  <a:srgbClr val="FFFFFF"/>
                </a:solidFill>
                <a:latin typeface="Arial"/>
              </a:rPr>
              <a:t>① VECTEUR DE TRANSPORT</a:t>
            </a:r>
          </a:p>
        </p:txBody>
      </p:sp>
      <p:sp>
        <p:nvSpPr>
          <p:cNvPr id="12" name="TextBox 11"/>
          <p:cNvSpPr txBox="1"/>
          <p:nvPr/>
        </p:nvSpPr>
        <p:spPr>
          <a:xfrm>
            <a:off x="731520" y="2514600"/>
            <a:ext cx="5029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Cisco  vs  Sierra Wireless  vs  </a:t>
            </a:r>
            <a:r>
              <a:rPr sz="1300" b="1" i="0">
                <a:solidFill>
                  <a:srgbClr val="2EC48F"/>
                </a:solidFill>
                <a:latin typeface="Arial"/>
              </a:rPr>
              <a:t>Teltonika ✓</a:t>
            </a:r>
          </a:p>
        </p:txBody>
      </p:sp>
      <p:sp>
        <p:nvSpPr>
          <p:cNvPr id="13" name="TextBox 12"/>
          <p:cNvSpPr txBox="1"/>
          <p:nvPr/>
        </p:nvSpPr>
        <p:spPr>
          <a:xfrm>
            <a:off x="731520" y="3017520"/>
            <a:ext cx="5029200" cy="457200"/>
          </a:xfrm>
          <a:prstGeom prst="rect">
            <a:avLst/>
          </a:prstGeom>
          <a:noFill/>
        </p:spPr>
        <p:txBody>
          <a:bodyPr wrap="square" lIns="0" rIns="0" tIns="0" bIns="0">
            <a:spAutoFit/>
          </a:bodyPr>
          <a:lstStyle/>
          <a:p>
            <a:pPr>
              <a:lnSpc>
                <a:spcPct val="105000"/>
              </a:lnSpc>
              <a:spcBef>
                <a:spcPts val="0"/>
              </a:spcBef>
              <a:spcAft>
                <a:spcPts val="900"/>
              </a:spcAft>
            </a:pPr>
            <a:r>
              <a:rPr sz="1250" b="1">
                <a:solidFill>
                  <a:srgbClr val="00B4C8"/>
                </a:solidFill>
                <a:latin typeface="Arial"/>
              </a:rPr>
              <a:t>▸  </a:t>
            </a:r>
            <a:r>
              <a:rPr sz="1250" b="1">
                <a:solidFill>
                  <a:srgbClr val="1B2633"/>
                </a:solidFill>
                <a:latin typeface="Arial"/>
              </a:rPr>
              <a:t>Teltonika RUT956 + RMS</a:t>
            </a:r>
            <a:r>
              <a:rPr sz="1250" b="0">
                <a:solidFill>
                  <a:srgbClr val="1B2633"/>
                </a:solidFill>
                <a:latin typeface="Arial"/>
              </a:rPr>
              <a:t> : management 100 % Cloud, léger et intuitif.</a:t>
            </a:r>
          </a:p>
          <a:p>
            <a:pPr>
              <a:lnSpc>
                <a:spcPct val="105000"/>
              </a:lnSpc>
              <a:spcBef>
                <a:spcPts val="0"/>
              </a:spcBef>
              <a:spcAft>
                <a:spcPts val="900"/>
              </a:spcAft>
            </a:pPr>
            <a:r>
              <a:rPr sz="1250" b="1">
                <a:solidFill>
                  <a:srgbClr val="00B4C8"/>
                </a:solidFill>
                <a:latin typeface="Arial"/>
              </a:rPr>
              <a:t>▸  </a:t>
            </a:r>
            <a:r>
              <a:rPr sz="1250" b="1">
                <a:solidFill>
                  <a:srgbClr val="1B2633"/>
                </a:solidFill>
                <a:latin typeface="Arial"/>
              </a:rPr>
              <a:t>Sécurité</a:t>
            </a:r>
            <a:r>
              <a:rPr sz="1250" b="0">
                <a:solidFill>
                  <a:srgbClr val="1B2633"/>
                </a:solidFill>
                <a:latin typeface="Arial"/>
              </a:rPr>
              <a:t> : VPN Hub déployé en quelques clics, accès même derrière NAT opérateur.</a:t>
            </a:r>
          </a:p>
          <a:p>
            <a:pPr>
              <a:lnSpc>
                <a:spcPct val="105000"/>
              </a:lnSpc>
              <a:spcBef>
                <a:spcPts val="0"/>
              </a:spcBef>
              <a:spcAft>
                <a:spcPts val="900"/>
              </a:spcAft>
            </a:pPr>
            <a:r>
              <a:rPr sz="1250" b="1">
                <a:solidFill>
                  <a:srgbClr val="00B4C8"/>
                </a:solidFill>
                <a:latin typeface="Arial"/>
              </a:rPr>
              <a:t>▸  </a:t>
            </a:r>
            <a:r>
              <a:rPr sz="1250" b="1">
                <a:solidFill>
                  <a:srgbClr val="1B2633"/>
                </a:solidFill>
                <a:latin typeface="Arial"/>
              </a:rPr>
              <a:t>Coût</a:t>
            </a:r>
            <a:r>
              <a:rPr sz="1250" b="0">
                <a:solidFill>
                  <a:srgbClr val="1B2633"/>
                </a:solidFill>
                <a:latin typeface="Arial"/>
              </a:rPr>
              <a:t> : modèle à crédits optimisé (≠ licences Cisco onéreuses).</a:t>
            </a:r>
          </a:p>
          <a:p>
            <a:pPr>
              <a:lnSpc>
                <a:spcPct val="105000"/>
              </a:lnSpc>
              <a:spcBef>
                <a:spcPts val="0"/>
              </a:spcBef>
              <a:spcAft>
                <a:spcPts val="900"/>
              </a:spcAft>
            </a:pPr>
            <a:r>
              <a:rPr sz="1250" b="1">
                <a:solidFill>
                  <a:srgbClr val="00B4C8"/>
                </a:solidFill>
                <a:latin typeface="Arial"/>
              </a:rPr>
              <a:t>▸  </a:t>
            </a:r>
            <a:r>
              <a:rPr sz="1250" b="1">
                <a:solidFill>
                  <a:srgbClr val="1B2633"/>
                </a:solidFill>
                <a:latin typeface="Arial"/>
              </a:rPr>
              <a:t>Atouts</a:t>
            </a:r>
            <a:r>
              <a:rPr sz="1250" b="0">
                <a:solidFill>
                  <a:srgbClr val="1B2633"/>
                </a:solidFill>
                <a:latin typeface="Arial"/>
              </a:rPr>
              <a:t> : Dual-SIM (bascule 4G), retours d’expérience favorables dans le groupe VINCI.</a:t>
            </a:r>
          </a:p>
        </p:txBody>
      </p:sp>
      <p:sp>
        <p:nvSpPr>
          <p:cNvPr id="14" name="Rounded Rectangle 13"/>
          <p:cNvSpPr/>
          <p:nvPr/>
        </p:nvSpPr>
        <p:spPr>
          <a:xfrm>
            <a:off x="6217920" y="1783080"/>
            <a:ext cx="5486400" cy="42062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783080"/>
            <a:ext cx="5486400"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810512"/>
            <a:ext cx="5120640" cy="512064"/>
          </a:xfrm>
          <a:prstGeom prst="rect">
            <a:avLst/>
          </a:prstGeom>
          <a:noFill/>
        </p:spPr>
        <p:txBody>
          <a:bodyPr wrap="square" anchor="ctr" lIns="0" rIns="0" tIns="0" bIns="0">
            <a:spAutoFit/>
          </a:bodyPr>
          <a:lstStyle/>
          <a:p>
            <a:pPr algn="l">
              <a:lnSpc>
                <a:spcPct val="100000"/>
              </a:lnSpc>
              <a:spcBef>
                <a:spcPts val="0"/>
              </a:spcBef>
              <a:spcAft>
                <a:spcPts val="600"/>
              </a:spcAft>
            </a:pPr>
            <a:r>
              <a:rPr sz="1350" b="1" i="0">
                <a:solidFill>
                  <a:srgbClr val="FFFFFF"/>
                </a:solidFill>
                <a:latin typeface="Arial"/>
              </a:rPr>
              <a:t>② MOTEUR DE SUPERVISION</a:t>
            </a:r>
          </a:p>
        </p:txBody>
      </p:sp>
      <p:sp>
        <p:nvSpPr>
          <p:cNvPr id="17" name="TextBox 16"/>
          <p:cNvSpPr txBox="1"/>
          <p:nvPr/>
        </p:nvSpPr>
        <p:spPr>
          <a:xfrm>
            <a:off x="6446520" y="2514600"/>
            <a:ext cx="5029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0" i="0">
                <a:solidFill>
                  <a:srgbClr val="6B7A8C"/>
                </a:solidFill>
                <a:latin typeface="Arial"/>
              </a:rPr>
              <a:t>WhatsUp Gold · PRTG · Centreon  vs  </a:t>
            </a:r>
            <a:r>
              <a:rPr sz="1300" b="1" i="0">
                <a:solidFill>
                  <a:srgbClr val="2EC48F"/>
                </a:solidFill>
                <a:latin typeface="Arial"/>
              </a:rPr>
              <a:t>Zabbix ✓</a:t>
            </a:r>
          </a:p>
        </p:txBody>
      </p:sp>
      <p:sp>
        <p:nvSpPr>
          <p:cNvPr id="18" name="TextBox 17"/>
          <p:cNvSpPr txBox="1"/>
          <p:nvPr/>
        </p:nvSpPr>
        <p:spPr>
          <a:xfrm>
            <a:off x="6446520" y="3017520"/>
            <a:ext cx="5029200" cy="457200"/>
          </a:xfrm>
          <a:prstGeom prst="rect">
            <a:avLst/>
          </a:prstGeom>
          <a:noFill/>
        </p:spPr>
        <p:txBody>
          <a:bodyPr wrap="square" lIns="0" rIns="0" tIns="0" bIns="0">
            <a:spAutoFit/>
          </a:bodyPr>
          <a:lstStyle/>
          <a:p>
            <a:pPr>
              <a:lnSpc>
                <a:spcPct val="105000"/>
              </a:lnSpc>
              <a:spcBef>
                <a:spcPts val="0"/>
              </a:spcBef>
              <a:spcAft>
                <a:spcPts val="800"/>
              </a:spcAft>
            </a:pPr>
            <a:r>
              <a:rPr sz="1250" b="1">
                <a:solidFill>
                  <a:srgbClr val="00B4C8"/>
                </a:solidFill>
                <a:latin typeface="Arial"/>
              </a:rPr>
              <a:t>▸  </a:t>
            </a:r>
            <a:r>
              <a:rPr sz="1250" b="1">
                <a:solidFill>
                  <a:srgbClr val="1B2633"/>
                </a:solidFill>
                <a:latin typeface="Arial"/>
              </a:rPr>
              <a:t>100 % open source</a:t>
            </a:r>
            <a:r>
              <a:rPr sz="1250" b="0">
                <a:solidFill>
                  <a:srgbClr val="1B2633"/>
                </a:solidFill>
                <a:latin typeface="Arial"/>
              </a:rPr>
              <a:t> : suppression des coûts de licence, scalabilité totale.</a:t>
            </a:r>
          </a:p>
          <a:p>
            <a:pPr>
              <a:lnSpc>
                <a:spcPct val="105000"/>
              </a:lnSpc>
              <a:spcBef>
                <a:spcPts val="0"/>
              </a:spcBef>
              <a:spcAft>
                <a:spcPts val="800"/>
              </a:spcAft>
            </a:pPr>
            <a:r>
              <a:rPr sz="1250" b="1">
                <a:solidFill>
                  <a:srgbClr val="00B4C8"/>
                </a:solidFill>
                <a:latin typeface="Arial"/>
              </a:rPr>
              <a:t>▸  </a:t>
            </a:r>
            <a:r>
              <a:rPr sz="1250" b="1">
                <a:solidFill>
                  <a:srgbClr val="1B2633"/>
                </a:solidFill>
                <a:latin typeface="Arial"/>
              </a:rPr>
              <a:t>Moteur très souple</a:t>
            </a:r>
            <a:r>
              <a:rPr sz="1250" b="0">
                <a:solidFill>
                  <a:srgbClr val="1B2633"/>
                </a:solidFill>
                <a:latin typeface="Arial"/>
              </a:rPr>
              <a:t> : création libre d’items, déclencheurs et prétraitements.</a:t>
            </a:r>
          </a:p>
          <a:p>
            <a:pPr>
              <a:lnSpc>
                <a:spcPct val="105000"/>
              </a:lnSpc>
              <a:spcBef>
                <a:spcPts val="0"/>
              </a:spcBef>
              <a:spcAft>
                <a:spcPts val="800"/>
              </a:spcAft>
            </a:pPr>
            <a:r>
              <a:rPr sz="1250" b="1">
                <a:solidFill>
                  <a:srgbClr val="00B4C8"/>
                </a:solidFill>
                <a:latin typeface="Arial"/>
              </a:rPr>
              <a:t>▸  </a:t>
            </a:r>
            <a:r>
              <a:rPr sz="1250" b="1">
                <a:solidFill>
                  <a:srgbClr val="1B2633"/>
                </a:solidFill>
                <a:latin typeface="Arial"/>
              </a:rPr>
              <a:t>Interopérabilité native</a:t>
            </a:r>
            <a:r>
              <a:rPr sz="1250" b="0">
                <a:solidFill>
                  <a:srgbClr val="1B2633"/>
                </a:solidFill>
                <a:latin typeface="Arial"/>
              </a:rPr>
              <a:t> : polling SNMP optimisé sur tunnels VPN.</a:t>
            </a:r>
          </a:p>
          <a:p>
            <a:pPr>
              <a:lnSpc>
                <a:spcPct val="105000"/>
              </a:lnSpc>
              <a:spcBef>
                <a:spcPts val="0"/>
              </a:spcBef>
              <a:spcAft>
                <a:spcPts val="800"/>
              </a:spcAft>
            </a:pPr>
            <a:r>
              <a:rPr sz="1250" b="1">
                <a:solidFill>
                  <a:srgbClr val="00B4C8"/>
                </a:solidFill>
                <a:latin typeface="Arial"/>
              </a:rPr>
              <a:t>▸  </a:t>
            </a:r>
            <a:r>
              <a:rPr sz="1250" b="1">
                <a:solidFill>
                  <a:srgbClr val="1B2633"/>
                </a:solidFill>
                <a:latin typeface="Arial"/>
              </a:rPr>
              <a:t>Couplage parfait avec Grafana</a:t>
            </a:r>
            <a:r>
              <a:rPr sz="1250" b="0">
                <a:solidFill>
                  <a:srgbClr val="1B2633"/>
                </a:solidFill>
                <a:latin typeface="Arial"/>
              </a:rPr>
              <a:t> pour la restitution visuelle.</a:t>
            </a:r>
          </a:p>
          <a:p>
            <a:pPr>
              <a:lnSpc>
                <a:spcPct val="105000"/>
              </a:lnSpc>
              <a:spcBef>
                <a:spcPts val="0"/>
              </a:spcBef>
              <a:spcAft>
                <a:spcPts val="800"/>
              </a:spcAft>
            </a:pPr>
            <a:r>
              <a:rPr sz="1250" b="1">
                <a:solidFill>
                  <a:srgbClr val="00B4C8"/>
                </a:solidFill>
                <a:latin typeface="Arial"/>
              </a:rPr>
              <a:t>▸  </a:t>
            </a:r>
            <a:r>
              <a:rPr sz="1250" b="1">
                <a:solidFill>
                  <a:srgbClr val="1B2633"/>
                </a:solidFill>
                <a:latin typeface="Arial"/>
              </a:rPr>
              <a:t>Urbanisation SI</a:t>
            </a:r>
            <a:r>
              <a:rPr sz="1250" b="0">
                <a:solidFill>
                  <a:srgbClr val="1B2633"/>
                </a:solidFill>
                <a:latin typeface="Arial"/>
              </a:rPr>
              <a:t> : déjà utilisé par la Direction Technique.</a:t>
            </a:r>
          </a:p>
        </p:txBody>
      </p:sp>
      <p:sp>
        <p:nvSpPr>
          <p:cNvPr id="19" name="TextBox 18"/>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0" name="TextBox 19"/>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 — POURQUOI CES CHOIX</a:t>
            </a:r>
          </a:p>
          <a:p>
            <a:pPr algn="l">
              <a:lnSpc>
                <a:spcPct val="100000"/>
              </a:lnSpc>
              <a:spcBef>
                <a:spcPts val="0"/>
              </a:spcBef>
              <a:spcAft>
                <a:spcPts val="600"/>
              </a:spcAft>
            </a:pPr>
            <a:r>
              <a:rPr sz="2200" b="1" i="0">
                <a:solidFill>
                  <a:srgbClr val="FFFFFF"/>
                </a:solidFill>
                <a:latin typeface="Arial"/>
              </a:rPr>
              <a:t>Justification des choix techniques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371600"/>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71600"/>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4813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Zabbix, pas PRTG/Centreon ?</a:t>
            </a:r>
          </a:p>
        </p:txBody>
      </p:sp>
      <p:sp>
        <p:nvSpPr>
          <p:cNvPr id="11" name="TextBox 10"/>
          <p:cNvSpPr txBox="1"/>
          <p:nvPr/>
        </p:nvSpPr>
        <p:spPr>
          <a:xfrm>
            <a:off x="758952" y="1975104"/>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Open source (0 licence), moteur d’items très souple, couplage parfait avec Grafana, déjà urbanisé dans le groupe.</a:t>
            </a:r>
          </a:p>
        </p:txBody>
      </p:sp>
      <p:sp>
        <p:nvSpPr>
          <p:cNvPr id="12" name="Rounded Rectangle 11"/>
          <p:cNvSpPr/>
          <p:nvPr/>
        </p:nvSpPr>
        <p:spPr>
          <a:xfrm>
            <a:off x="6217920" y="1371600"/>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4813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Teltonika, pas Cisco ?</a:t>
            </a:r>
          </a:p>
        </p:txBody>
      </p:sp>
      <p:sp>
        <p:nvSpPr>
          <p:cNvPr id="15" name="TextBox 14"/>
          <p:cNvSpPr txBox="1"/>
          <p:nvPr/>
        </p:nvSpPr>
        <p:spPr>
          <a:xfrm>
            <a:off x="6473952" y="1975104"/>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RMS nativement Cloud, VPN Hub en quelques clics, accès derrière le NAT opérateur, coût optimisé, Dual-SIM.</a:t>
            </a:r>
          </a:p>
        </p:txBody>
      </p:sp>
      <p:sp>
        <p:nvSpPr>
          <p:cNvPr id="16" name="Rounded Rectangle 15"/>
          <p:cNvSpPr/>
          <p:nvPr/>
        </p:nvSpPr>
        <p:spPr>
          <a:xfrm>
            <a:off x="502920" y="2944368"/>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944368"/>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54096"/>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écarter Huawei / Robustel ?</a:t>
            </a:r>
          </a:p>
        </p:txBody>
      </p:sp>
      <p:sp>
        <p:nvSpPr>
          <p:cNvPr id="19" name="TextBox 18"/>
          <p:cNvSpPr txBox="1"/>
          <p:nvPr/>
        </p:nvSpPr>
        <p:spPr>
          <a:xfrm>
            <a:off x="758952" y="3547872"/>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Souveraineté et recommandations ANSSI : clients santé / énergie, certains OIV.</a:t>
            </a:r>
          </a:p>
        </p:txBody>
      </p:sp>
      <p:sp>
        <p:nvSpPr>
          <p:cNvPr id="20" name="Rounded Rectangle 19"/>
          <p:cNvSpPr/>
          <p:nvPr/>
        </p:nvSpPr>
        <p:spPr>
          <a:xfrm>
            <a:off x="6217920" y="2944368"/>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944368"/>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054096"/>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un serveur physique, pas le cloud ?</a:t>
            </a:r>
          </a:p>
        </p:txBody>
      </p:sp>
      <p:sp>
        <p:nvSpPr>
          <p:cNvPr id="23" name="TextBox 22"/>
          <p:cNvSpPr txBox="1"/>
          <p:nvPr/>
        </p:nvSpPr>
        <p:spPr>
          <a:xfrm>
            <a:off x="6473952" y="3547872"/>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DAT + devis : le coût récurrent d’une VM dépassait l’achat d’un serveur dédié sur la durée de vie.</a:t>
            </a:r>
          </a:p>
        </p:txBody>
      </p:sp>
      <p:sp>
        <p:nvSpPr>
          <p:cNvPr id="24" name="Rounded Rectangle 23"/>
          <p:cNvSpPr/>
          <p:nvPr/>
        </p:nvSpPr>
        <p:spPr>
          <a:xfrm>
            <a:off x="502920" y="4517136"/>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517136"/>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4626864"/>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un polling à la minute ?</a:t>
            </a:r>
          </a:p>
        </p:txBody>
      </p:sp>
      <p:sp>
        <p:nvSpPr>
          <p:cNvPr id="27" name="TextBox 26"/>
          <p:cNvSpPr txBox="1"/>
          <p:nvPr/>
        </p:nvSpPr>
        <p:spPr>
          <a:xfrm>
            <a:off x="758952" y="5120640"/>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Voir l’évolution réelle du signal : baisse lente = désalignement, chute brutale = panne franche.</a:t>
            </a:r>
          </a:p>
        </p:txBody>
      </p:sp>
      <p:sp>
        <p:nvSpPr>
          <p:cNvPr id="28" name="Rounded Rectangle 27"/>
          <p:cNvSpPr/>
          <p:nvPr/>
        </p:nvSpPr>
        <p:spPr>
          <a:xfrm>
            <a:off x="6217920" y="4517136"/>
            <a:ext cx="5486400" cy="14173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17920" y="4517136"/>
            <a:ext cx="91440" cy="141732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626864"/>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À quoi servent les règles NoNat ?</a:t>
            </a:r>
          </a:p>
        </p:txBody>
      </p:sp>
      <p:sp>
        <p:nvSpPr>
          <p:cNvPr id="31" name="TextBox 30"/>
          <p:cNvSpPr txBox="1"/>
          <p:nvPr/>
        </p:nvSpPr>
        <p:spPr>
          <a:xfrm>
            <a:off x="6473952" y="5120640"/>
            <a:ext cx="5074920" cy="73152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Préserver l’IP source de chaque IDU dans le VPN → identifier individuellement chaque faisceau en alarme.</a:t>
            </a:r>
          </a:p>
        </p:txBody>
      </p:sp>
      <p:sp>
        <p:nvSpPr>
          <p:cNvPr id="32" name="TextBox 31"/>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3" name="TextBox 32"/>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 — PILOTAGE</a:t>
            </a:r>
          </a:p>
          <a:p>
            <a:pPr algn="l">
              <a:lnSpc>
                <a:spcPct val="100000"/>
              </a:lnSpc>
              <a:spcBef>
                <a:spcPts val="0"/>
              </a:spcBef>
              <a:spcAft>
                <a:spcPts val="600"/>
              </a:spcAft>
            </a:pPr>
            <a:r>
              <a:rPr sz="2200" b="1" i="0">
                <a:solidFill>
                  <a:srgbClr val="FFFFFF"/>
                </a:solidFill>
                <a:latin typeface="Arial"/>
              </a:rPr>
              <a:t>Planning, jalons &amp; analyse des écarts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5 jalons séquentiels (J1→J5) : chaque livrable conditionne le suivant.</a:t>
            </a:r>
          </a:p>
        </p:txBody>
      </p:sp>
      <p:sp>
        <p:nvSpPr>
          <p:cNvPr id="9" name="Rounded Rectangle 8"/>
          <p:cNvSpPr/>
          <p:nvPr/>
        </p:nvSpPr>
        <p:spPr>
          <a:xfrm>
            <a:off x="502920" y="1783080"/>
            <a:ext cx="2148840" cy="11430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2148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1920240"/>
            <a:ext cx="1874520" cy="365760"/>
          </a:xfrm>
          <a:prstGeom prst="rect">
            <a:avLst/>
          </a:prstGeom>
          <a:noFill/>
        </p:spPr>
        <p:txBody>
          <a:bodyPr wrap="square" anchor="t" lIns="0" rIns="0" tIns="0" bIns="0">
            <a:spAutoFit/>
          </a:bodyPr>
          <a:lstStyle/>
          <a:p>
            <a:pPr algn="l">
              <a:lnSpc>
                <a:spcPct val="100000"/>
              </a:lnSpc>
              <a:spcBef>
                <a:spcPts val="0"/>
              </a:spcBef>
              <a:spcAft>
                <a:spcPts val="600"/>
              </a:spcAft>
            </a:pPr>
            <a:r>
              <a:rPr sz="2000" b="1" i="0">
                <a:solidFill>
                  <a:srgbClr val="00B4C8"/>
                </a:solidFill>
                <a:latin typeface="Arial"/>
              </a:rPr>
              <a:t>J1</a:t>
            </a:r>
          </a:p>
        </p:txBody>
      </p:sp>
      <p:sp>
        <p:nvSpPr>
          <p:cNvPr id="12" name="TextBox 11"/>
          <p:cNvSpPr txBox="1"/>
          <p:nvPr/>
        </p:nvSpPr>
        <p:spPr>
          <a:xfrm>
            <a:off x="667512" y="2331720"/>
            <a:ext cx="1874520" cy="548640"/>
          </a:xfrm>
          <a:prstGeom prst="rect">
            <a:avLst/>
          </a:prstGeom>
          <a:noFill/>
        </p:spPr>
        <p:txBody>
          <a:bodyPr wrap="square" anchor="t" lIns="0" rIns="0" tIns="0" bIns="0">
            <a:spAutoFit/>
          </a:bodyPr>
          <a:lstStyle/>
          <a:p>
            <a:pPr algn="l">
              <a:lnSpc>
                <a:spcPct val="95000"/>
              </a:lnSpc>
              <a:spcBef>
                <a:spcPts val="0"/>
              </a:spcBef>
              <a:spcAft>
                <a:spcPts val="600"/>
              </a:spcAft>
            </a:pPr>
            <a:r>
              <a:rPr sz="1150" b="1" i="0">
                <a:solidFill>
                  <a:srgbClr val="FFFFFF"/>
                </a:solidFill>
                <a:latin typeface="Arial"/>
              </a:rPr>
              <a:t>Étude &amp; cadrage MIB</a:t>
            </a:r>
          </a:p>
        </p:txBody>
      </p:sp>
      <p:sp>
        <p:nvSpPr>
          <p:cNvPr id="13" name="Rounded Rectangle 12"/>
          <p:cNvSpPr/>
          <p:nvPr/>
        </p:nvSpPr>
        <p:spPr>
          <a:xfrm>
            <a:off x="2752344" y="1783080"/>
            <a:ext cx="2148840" cy="11430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52344" y="1783080"/>
            <a:ext cx="2148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1920240"/>
            <a:ext cx="1874520" cy="365760"/>
          </a:xfrm>
          <a:prstGeom prst="rect">
            <a:avLst/>
          </a:prstGeom>
          <a:noFill/>
        </p:spPr>
        <p:txBody>
          <a:bodyPr wrap="square" anchor="t" lIns="0" rIns="0" tIns="0" bIns="0">
            <a:spAutoFit/>
          </a:bodyPr>
          <a:lstStyle/>
          <a:p>
            <a:pPr algn="l">
              <a:lnSpc>
                <a:spcPct val="100000"/>
              </a:lnSpc>
              <a:spcBef>
                <a:spcPts val="0"/>
              </a:spcBef>
              <a:spcAft>
                <a:spcPts val="600"/>
              </a:spcAft>
            </a:pPr>
            <a:r>
              <a:rPr sz="2000" b="1" i="0">
                <a:solidFill>
                  <a:srgbClr val="00B4C8"/>
                </a:solidFill>
                <a:latin typeface="Arial"/>
              </a:rPr>
              <a:t>J2</a:t>
            </a:r>
          </a:p>
        </p:txBody>
      </p:sp>
      <p:sp>
        <p:nvSpPr>
          <p:cNvPr id="16" name="TextBox 15"/>
          <p:cNvSpPr txBox="1"/>
          <p:nvPr/>
        </p:nvSpPr>
        <p:spPr>
          <a:xfrm>
            <a:off x="2916936" y="2331720"/>
            <a:ext cx="1874520" cy="548640"/>
          </a:xfrm>
          <a:prstGeom prst="rect">
            <a:avLst/>
          </a:prstGeom>
          <a:noFill/>
        </p:spPr>
        <p:txBody>
          <a:bodyPr wrap="square" anchor="t" lIns="0" rIns="0" tIns="0" bIns="0">
            <a:spAutoFit/>
          </a:bodyPr>
          <a:lstStyle/>
          <a:p>
            <a:pPr algn="l">
              <a:lnSpc>
                <a:spcPct val="95000"/>
              </a:lnSpc>
              <a:spcBef>
                <a:spcPts val="0"/>
              </a:spcBef>
              <a:spcAft>
                <a:spcPts val="600"/>
              </a:spcAft>
            </a:pPr>
            <a:r>
              <a:rPr sz="1150" b="1" i="0">
                <a:solidFill>
                  <a:srgbClr val="FFFFFF"/>
                </a:solidFill>
                <a:latin typeface="Arial"/>
              </a:rPr>
              <a:t>Maquettage Zabbix</a:t>
            </a:r>
          </a:p>
        </p:txBody>
      </p:sp>
      <p:sp>
        <p:nvSpPr>
          <p:cNvPr id="17" name="Rounded Rectangle 16"/>
          <p:cNvSpPr/>
          <p:nvPr/>
        </p:nvSpPr>
        <p:spPr>
          <a:xfrm>
            <a:off x="5001768" y="1783080"/>
            <a:ext cx="2148840" cy="11430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01768" y="1783080"/>
            <a:ext cx="2148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1920240"/>
            <a:ext cx="1874520" cy="365760"/>
          </a:xfrm>
          <a:prstGeom prst="rect">
            <a:avLst/>
          </a:prstGeom>
          <a:noFill/>
        </p:spPr>
        <p:txBody>
          <a:bodyPr wrap="square" anchor="t" lIns="0" rIns="0" tIns="0" bIns="0">
            <a:spAutoFit/>
          </a:bodyPr>
          <a:lstStyle/>
          <a:p>
            <a:pPr algn="l">
              <a:lnSpc>
                <a:spcPct val="100000"/>
              </a:lnSpc>
              <a:spcBef>
                <a:spcPts val="0"/>
              </a:spcBef>
              <a:spcAft>
                <a:spcPts val="600"/>
              </a:spcAft>
            </a:pPr>
            <a:r>
              <a:rPr sz="2000" b="1" i="0">
                <a:solidFill>
                  <a:srgbClr val="00B4C8"/>
                </a:solidFill>
                <a:latin typeface="Arial"/>
              </a:rPr>
              <a:t>J3</a:t>
            </a:r>
          </a:p>
        </p:txBody>
      </p:sp>
      <p:sp>
        <p:nvSpPr>
          <p:cNvPr id="20" name="TextBox 19"/>
          <p:cNvSpPr txBox="1"/>
          <p:nvPr/>
        </p:nvSpPr>
        <p:spPr>
          <a:xfrm>
            <a:off x="5166360" y="2331720"/>
            <a:ext cx="1874520" cy="548640"/>
          </a:xfrm>
          <a:prstGeom prst="rect">
            <a:avLst/>
          </a:prstGeom>
          <a:noFill/>
        </p:spPr>
        <p:txBody>
          <a:bodyPr wrap="square" anchor="t" lIns="0" rIns="0" tIns="0" bIns="0">
            <a:spAutoFit/>
          </a:bodyPr>
          <a:lstStyle/>
          <a:p>
            <a:pPr algn="l">
              <a:lnSpc>
                <a:spcPct val="95000"/>
              </a:lnSpc>
              <a:spcBef>
                <a:spcPts val="0"/>
              </a:spcBef>
              <a:spcAft>
                <a:spcPts val="600"/>
              </a:spcAft>
            </a:pPr>
            <a:r>
              <a:rPr sz="1150" b="1" i="0">
                <a:solidFill>
                  <a:srgbClr val="FFFFFF"/>
                </a:solidFill>
                <a:latin typeface="Arial"/>
              </a:rPr>
              <a:t>Déploiement client</a:t>
            </a:r>
          </a:p>
        </p:txBody>
      </p:sp>
      <p:sp>
        <p:nvSpPr>
          <p:cNvPr id="21" name="Rounded Rectangle 20"/>
          <p:cNvSpPr/>
          <p:nvPr/>
        </p:nvSpPr>
        <p:spPr>
          <a:xfrm>
            <a:off x="7251192" y="1783080"/>
            <a:ext cx="2148840" cy="11430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51192" y="1783080"/>
            <a:ext cx="2148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15784" y="1920240"/>
            <a:ext cx="1874520" cy="365760"/>
          </a:xfrm>
          <a:prstGeom prst="rect">
            <a:avLst/>
          </a:prstGeom>
          <a:noFill/>
        </p:spPr>
        <p:txBody>
          <a:bodyPr wrap="square" anchor="t" lIns="0" rIns="0" tIns="0" bIns="0">
            <a:spAutoFit/>
          </a:bodyPr>
          <a:lstStyle/>
          <a:p>
            <a:pPr algn="l">
              <a:lnSpc>
                <a:spcPct val="100000"/>
              </a:lnSpc>
              <a:spcBef>
                <a:spcPts val="0"/>
              </a:spcBef>
              <a:spcAft>
                <a:spcPts val="600"/>
              </a:spcAft>
            </a:pPr>
            <a:r>
              <a:rPr sz="2000" b="1" i="0">
                <a:solidFill>
                  <a:srgbClr val="00B4C8"/>
                </a:solidFill>
                <a:latin typeface="Arial"/>
              </a:rPr>
              <a:t>J4</a:t>
            </a:r>
          </a:p>
        </p:txBody>
      </p:sp>
      <p:sp>
        <p:nvSpPr>
          <p:cNvPr id="24" name="TextBox 23"/>
          <p:cNvSpPr txBox="1"/>
          <p:nvPr/>
        </p:nvSpPr>
        <p:spPr>
          <a:xfrm>
            <a:off x="7415784" y="2331720"/>
            <a:ext cx="1874520" cy="548640"/>
          </a:xfrm>
          <a:prstGeom prst="rect">
            <a:avLst/>
          </a:prstGeom>
          <a:noFill/>
        </p:spPr>
        <p:txBody>
          <a:bodyPr wrap="square" anchor="t" lIns="0" rIns="0" tIns="0" bIns="0">
            <a:spAutoFit/>
          </a:bodyPr>
          <a:lstStyle/>
          <a:p>
            <a:pPr algn="l">
              <a:lnSpc>
                <a:spcPct val="95000"/>
              </a:lnSpc>
              <a:spcBef>
                <a:spcPts val="0"/>
              </a:spcBef>
              <a:spcAft>
                <a:spcPts val="600"/>
              </a:spcAft>
            </a:pPr>
            <a:r>
              <a:rPr sz="1150" b="1" i="0">
                <a:solidFill>
                  <a:srgbClr val="FFFFFF"/>
                </a:solidFill>
                <a:latin typeface="Arial"/>
              </a:rPr>
              <a:t>Grafana &amp; cartographie</a:t>
            </a:r>
          </a:p>
        </p:txBody>
      </p:sp>
      <p:sp>
        <p:nvSpPr>
          <p:cNvPr id="25" name="Rounded Rectangle 24"/>
          <p:cNvSpPr/>
          <p:nvPr/>
        </p:nvSpPr>
        <p:spPr>
          <a:xfrm>
            <a:off x="9500616" y="1783080"/>
            <a:ext cx="2148840" cy="11430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0616" y="1783080"/>
            <a:ext cx="214884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65208" y="1920240"/>
            <a:ext cx="1874520" cy="365760"/>
          </a:xfrm>
          <a:prstGeom prst="rect">
            <a:avLst/>
          </a:prstGeom>
          <a:noFill/>
        </p:spPr>
        <p:txBody>
          <a:bodyPr wrap="square" anchor="t" lIns="0" rIns="0" tIns="0" bIns="0">
            <a:spAutoFit/>
          </a:bodyPr>
          <a:lstStyle/>
          <a:p>
            <a:pPr algn="l">
              <a:lnSpc>
                <a:spcPct val="100000"/>
              </a:lnSpc>
              <a:spcBef>
                <a:spcPts val="0"/>
              </a:spcBef>
              <a:spcAft>
                <a:spcPts val="600"/>
              </a:spcAft>
            </a:pPr>
            <a:r>
              <a:rPr sz="2000" b="1" i="0">
                <a:solidFill>
                  <a:srgbClr val="00B4C8"/>
                </a:solidFill>
                <a:latin typeface="Arial"/>
              </a:rPr>
              <a:t>J5</a:t>
            </a:r>
          </a:p>
        </p:txBody>
      </p:sp>
      <p:sp>
        <p:nvSpPr>
          <p:cNvPr id="28" name="TextBox 27"/>
          <p:cNvSpPr txBox="1"/>
          <p:nvPr/>
        </p:nvSpPr>
        <p:spPr>
          <a:xfrm>
            <a:off x="9665208" y="2331720"/>
            <a:ext cx="1874520" cy="548640"/>
          </a:xfrm>
          <a:prstGeom prst="rect">
            <a:avLst/>
          </a:prstGeom>
          <a:noFill/>
        </p:spPr>
        <p:txBody>
          <a:bodyPr wrap="square" anchor="t" lIns="0" rIns="0" tIns="0" bIns="0">
            <a:spAutoFit/>
          </a:bodyPr>
          <a:lstStyle/>
          <a:p>
            <a:pPr algn="l">
              <a:lnSpc>
                <a:spcPct val="95000"/>
              </a:lnSpc>
              <a:spcBef>
                <a:spcPts val="0"/>
              </a:spcBef>
              <a:spcAft>
                <a:spcPts val="600"/>
              </a:spcAft>
            </a:pPr>
            <a:r>
              <a:rPr sz="1150" b="1" i="0">
                <a:solidFill>
                  <a:srgbClr val="FFFFFF"/>
                </a:solidFill>
                <a:latin typeface="Arial"/>
              </a:rPr>
              <a:t>Serveur &amp; production</a:t>
            </a:r>
          </a:p>
        </p:txBody>
      </p:sp>
      <p:sp>
        <p:nvSpPr>
          <p:cNvPr id="29" name="TextBox 28"/>
          <p:cNvSpPr txBox="1"/>
          <p:nvPr/>
        </p:nvSpPr>
        <p:spPr>
          <a:xfrm>
            <a:off x="502920" y="320040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UN RETARD DE 4 SEMAINES… ENTIÈREMENT EXPLIQUÉ</a:t>
            </a:r>
          </a:p>
        </p:txBody>
      </p:sp>
      <p:sp>
        <p:nvSpPr>
          <p:cNvPr id="30" name="TextBox 29"/>
          <p:cNvSpPr txBox="1"/>
          <p:nvPr/>
        </p:nvSpPr>
        <p:spPr>
          <a:xfrm>
            <a:off x="502920" y="3611880"/>
            <a:ext cx="5577840" cy="457200"/>
          </a:xfrm>
          <a:prstGeom prst="rect">
            <a:avLst/>
          </a:prstGeom>
          <a:noFill/>
        </p:spPr>
        <p:txBody>
          <a:bodyPr wrap="square" lIns="0" rIns="0" tIns="0" bIns="0">
            <a:spAutoFit/>
          </a:bodyPr>
          <a:lstStyle/>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J1 (+7 sem.) : </a:t>
            </a:r>
            <a:r>
              <a:rPr sz="1250" b="0">
                <a:solidFill>
                  <a:srgbClr val="1B2633"/>
                </a:solidFill>
                <a:latin typeface="Arial"/>
              </a:rPr>
              <a:t>MIB Ericsson MINI-LINK non documentées, aucune expertise interne — investigation imprévisible.</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J4 (+ interruptions) : </a:t>
            </a:r>
            <a:r>
              <a:rPr sz="1250" b="0">
                <a:solidFill>
                  <a:srgbClr val="1B2633"/>
                </a:solidFill>
                <a:latin typeface="Arial"/>
              </a:rPr>
              <a:t>32 jours ouvrés détournés vers des missions DIL/DIS contractuelles (priorité client).</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Les 5 jalons livrés à 100 %</a:t>
            </a:r>
            <a:r>
              <a:rPr sz="1250" b="0">
                <a:solidFill>
                  <a:srgbClr val="1B2633"/>
                </a:solidFill>
                <a:latin typeface="Arial"/>
              </a:rPr>
              <a:t> — périmètre conforme au cadrage.</a:t>
            </a:r>
          </a:p>
        </p:txBody>
      </p:sp>
      <p:sp>
        <p:nvSpPr>
          <p:cNvPr id="31" name="Rounded Rectangle 30"/>
          <p:cNvSpPr/>
          <p:nvPr/>
        </p:nvSpPr>
        <p:spPr>
          <a:xfrm>
            <a:off x="6400800" y="3383280"/>
            <a:ext cx="5303520" cy="26974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520440"/>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F1B2D"/>
                </a:solidFill>
                <a:latin typeface="Arial"/>
              </a:rPr>
              <a:t>CHIFFRES CLÉS DU PILOTAGE</a:t>
            </a:r>
          </a:p>
        </p:txBody>
      </p:sp>
      <p:sp>
        <p:nvSpPr>
          <p:cNvPr id="33" name="TextBox 32"/>
          <p:cNvSpPr txBox="1"/>
          <p:nvPr/>
        </p:nvSpPr>
        <p:spPr>
          <a:xfrm>
            <a:off x="6629400" y="3977639"/>
            <a:ext cx="2468880" cy="457200"/>
          </a:xfrm>
          <a:prstGeom prst="rect">
            <a:avLst/>
          </a:prstGeom>
          <a:noFill/>
        </p:spPr>
        <p:txBody>
          <a:bodyPr wrap="square" anchor="t" lIns="0" rIns="0" tIns="0" bIns="0">
            <a:spAutoFit/>
          </a:bodyPr>
          <a:lstStyle/>
          <a:p>
            <a:pPr algn="l">
              <a:lnSpc>
                <a:spcPct val="100000"/>
              </a:lnSpc>
              <a:spcBef>
                <a:spcPts val="0"/>
              </a:spcBef>
              <a:spcAft>
                <a:spcPts val="600"/>
              </a:spcAft>
            </a:pPr>
            <a:r>
              <a:rPr sz="2400" b="1" i="0">
                <a:solidFill>
                  <a:srgbClr val="00B4C8"/>
                </a:solidFill>
                <a:latin typeface="Arial"/>
              </a:rPr>
              <a:t>142,8 j</a:t>
            </a:r>
          </a:p>
        </p:txBody>
      </p:sp>
      <p:sp>
        <p:nvSpPr>
          <p:cNvPr id="34" name="TextBox 33"/>
          <p:cNvSpPr txBox="1"/>
          <p:nvPr/>
        </p:nvSpPr>
        <p:spPr>
          <a:xfrm>
            <a:off x="6629400" y="4398263"/>
            <a:ext cx="2468880" cy="36576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effort projet (1 001 h)</a:t>
            </a:r>
          </a:p>
        </p:txBody>
      </p:sp>
      <p:sp>
        <p:nvSpPr>
          <p:cNvPr id="35" name="TextBox 34"/>
          <p:cNvSpPr txBox="1"/>
          <p:nvPr/>
        </p:nvSpPr>
        <p:spPr>
          <a:xfrm>
            <a:off x="9235440" y="3977639"/>
            <a:ext cx="2468880" cy="457200"/>
          </a:xfrm>
          <a:prstGeom prst="rect">
            <a:avLst/>
          </a:prstGeom>
          <a:noFill/>
        </p:spPr>
        <p:txBody>
          <a:bodyPr wrap="square" anchor="t" lIns="0" rIns="0" tIns="0" bIns="0">
            <a:spAutoFit/>
          </a:bodyPr>
          <a:lstStyle/>
          <a:p>
            <a:pPr algn="l">
              <a:lnSpc>
                <a:spcPct val="100000"/>
              </a:lnSpc>
              <a:spcBef>
                <a:spcPts val="0"/>
              </a:spcBef>
              <a:spcAft>
                <a:spcPts val="600"/>
              </a:spcAft>
            </a:pPr>
            <a:r>
              <a:rPr sz="2400" b="1" i="0">
                <a:solidFill>
                  <a:srgbClr val="00B4C8"/>
                </a:solidFill>
                <a:latin typeface="Arial"/>
              </a:rPr>
              <a:t>81 %</a:t>
            </a:r>
          </a:p>
        </p:txBody>
      </p:sp>
      <p:sp>
        <p:nvSpPr>
          <p:cNvPr id="36" name="TextBox 35"/>
          <p:cNvSpPr txBox="1"/>
          <p:nvPr/>
        </p:nvSpPr>
        <p:spPr>
          <a:xfrm>
            <a:off x="9235440" y="4398263"/>
            <a:ext cx="2468880" cy="36576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du temps en entreprise</a:t>
            </a:r>
          </a:p>
        </p:txBody>
      </p:sp>
      <p:sp>
        <p:nvSpPr>
          <p:cNvPr id="37" name="TextBox 36"/>
          <p:cNvSpPr txBox="1"/>
          <p:nvPr/>
        </p:nvSpPr>
        <p:spPr>
          <a:xfrm>
            <a:off x="6629400" y="4937759"/>
            <a:ext cx="2468880" cy="457200"/>
          </a:xfrm>
          <a:prstGeom prst="rect">
            <a:avLst/>
          </a:prstGeom>
          <a:noFill/>
        </p:spPr>
        <p:txBody>
          <a:bodyPr wrap="square" anchor="t" lIns="0" rIns="0" tIns="0" bIns="0">
            <a:spAutoFit/>
          </a:bodyPr>
          <a:lstStyle/>
          <a:p>
            <a:pPr algn="l">
              <a:lnSpc>
                <a:spcPct val="100000"/>
              </a:lnSpc>
              <a:spcBef>
                <a:spcPts val="0"/>
              </a:spcBef>
              <a:spcAft>
                <a:spcPts val="600"/>
              </a:spcAft>
            </a:pPr>
            <a:r>
              <a:rPr sz="2400" b="1" i="0">
                <a:solidFill>
                  <a:srgbClr val="00B4C8"/>
                </a:solidFill>
                <a:latin typeface="Arial"/>
              </a:rPr>
              <a:t>100 %</a:t>
            </a:r>
          </a:p>
        </p:txBody>
      </p:sp>
      <p:sp>
        <p:nvSpPr>
          <p:cNvPr id="38" name="TextBox 37"/>
          <p:cNvSpPr txBox="1"/>
          <p:nvPr/>
        </p:nvSpPr>
        <p:spPr>
          <a:xfrm>
            <a:off x="6629400" y="5358383"/>
            <a:ext cx="2468880" cy="36576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des jalons livrés</a:t>
            </a:r>
          </a:p>
        </p:txBody>
      </p:sp>
      <p:sp>
        <p:nvSpPr>
          <p:cNvPr id="39" name="TextBox 38"/>
          <p:cNvSpPr txBox="1"/>
          <p:nvPr/>
        </p:nvSpPr>
        <p:spPr>
          <a:xfrm>
            <a:off x="9235440" y="4937759"/>
            <a:ext cx="2468880" cy="457200"/>
          </a:xfrm>
          <a:prstGeom prst="rect">
            <a:avLst/>
          </a:prstGeom>
          <a:noFill/>
        </p:spPr>
        <p:txBody>
          <a:bodyPr wrap="square" anchor="t" lIns="0" rIns="0" tIns="0" bIns="0">
            <a:spAutoFit/>
          </a:bodyPr>
          <a:lstStyle/>
          <a:p>
            <a:pPr algn="l">
              <a:lnSpc>
                <a:spcPct val="100000"/>
              </a:lnSpc>
              <a:spcBef>
                <a:spcPts val="0"/>
              </a:spcBef>
              <a:spcAft>
                <a:spcPts val="600"/>
              </a:spcAft>
            </a:pPr>
            <a:r>
              <a:rPr sz="2400" b="1" i="0">
                <a:solidFill>
                  <a:srgbClr val="00B4C8"/>
                </a:solidFill>
                <a:latin typeface="Arial"/>
              </a:rPr>
              <a:t>0</a:t>
            </a:r>
          </a:p>
        </p:txBody>
      </p:sp>
      <p:sp>
        <p:nvSpPr>
          <p:cNvPr id="40" name="TextBox 39"/>
          <p:cNvSpPr txBox="1"/>
          <p:nvPr/>
        </p:nvSpPr>
        <p:spPr>
          <a:xfrm>
            <a:off x="9235440" y="5358383"/>
            <a:ext cx="2468880" cy="36576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jalon abandonné</a:t>
            </a:r>
          </a:p>
        </p:txBody>
      </p:sp>
      <p:sp>
        <p:nvSpPr>
          <p:cNvPr id="41" name="TextBox 40"/>
          <p:cNvSpPr txBox="1"/>
          <p:nvPr/>
        </p:nvSpPr>
        <p:spPr>
          <a:xfrm>
            <a:off x="502920" y="5806440"/>
            <a:ext cx="5669280" cy="54864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6B7A8C"/>
                </a:solidFill>
                <a:latin typeface="Arial"/>
              </a:rPr>
              <a:t>→ En retirant ces deux causes externes, la fin recalculée tombe </a:t>
            </a:r>
            <a:r>
              <a:rPr sz="1150" b="1" i="0">
                <a:solidFill>
                  <a:srgbClr val="2EC48F"/>
                </a:solidFill>
                <a:latin typeface="Arial"/>
              </a:rPr>
              <a:t>exactement à la date prévue</a:t>
            </a:r>
            <a:r>
              <a:rPr sz="1150" b="0" i="0">
                <a:solidFill>
                  <a:srgbClr val="6B7A8C"/>
                </a:solidFill>
                <a:latin typeface="Arial"/>
              </a:rPr>
              <a:t>.</a:t>
            </a:r>
          </a:p>
        </p:txBody>
      </p:sp>
      <p:sp>
        <p:nvSpPr>
          <p:cNvPr id="42" name="TextBox 41"/>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43" name="TextBox 42"/>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 — CYBERSÉCURITÉ</a:t>
            </a:r>
          </a:p>
          <a:p>
            <a:pPr algn="l">
              <a:lnSpc>
                <a:spcPct val="100000"/>
              </a:lnSpc>
              <a:spcBef>
                <a:spcPts val="0"/>
              </a:spcBef>
              <a:spcAft>
                <a:spcPts val="600"/>
              </a:spcAft>
            </a:pPr>
            <a:r>
              <a:rPr sz="2200" b="1" i="0">
                <a:solidFill>
                  <a:srgbClr val="FFFFFF"/>
                </a:solidFill>
                <a:latin typeface="Arial"/>
              </a:rPr>
              <a:t>Cartographie des risques cyber — EBIOS RM</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Méthode officielle ANSSI : modéliser le pire scénario d’attaque pour valider la défense.</a:t>
            </a:r>
          </a:p>
        </p:txBody>
      </p:sp>
      <p:sp>
        <p:nvSpPr>
          <p:cNvPr id="9" name="TextBox 8"/>
          <p:cNvSpPr txBox="1"/>
          <p:nvPr/>
        </p:nvSpPr>
        <p:spPr>
          <a:xfrm>
            <a:off x="502920" y="178308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E53E3E"/>
                </a:solidFill>
                <a:latin typeface="Arial"/>
              </a:rPr>
              <a:t>SCÉNARIO REDOUTÉ — ATTAQUE PAR REBOND (G4 critique)</a:t>
            </a:r>
          </a:p>
        </p:txBody>
      </p:sp>
      <p:sp>
        <p:nvSpPr>
          <p:cNvPr id="10" name="Rectangle 9"/>
          <p:cNvSpPr/>
          <p:nvPr/>
        </p:nvSpPr>
        <p:spPr>
          <a:xfrm>
            <a:off x="502920" y="2194560"/>
            <a:ext cx="109728" cy="86868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2194560"/>
            <a:ext cx="5029200" cy="868680"/>
          </a:xfrm>
          <a:prstGeom prst="roundRect">
            <a:avLst>
              <a:gd name="adj" fmla="val 6000"/>
            </a:avLst>
          </a:prstGeom>
          <a:solidFill>
            <a:srgbClr val="F4F7FA"/>
          </a:solidFill>
          <a:ln w="12700">
            <a:solidFill>
              <a:srgbClr val="EE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86000"/>
            <a:ext cx="466344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F1B2D"/>
                </a:solidFill>
                <a:latin typeface="Arial"/>
              </a:rPr>
              <a:t>1 · Infiltrer</a:t>
            </a:r>
          </a:p>
        </p:txBody>
      </p:sp>
      <p:sp>
        <p:nvSpPr>
          <p:cNvPr id="13" name="TextBox 12"/>
          <p:cNvSpPr txBox="1"/>
          <p:nvPr/>
        </p:nvSpPr>
        <p:spPr>
          <a:xfrm>
            <a:off x="868680" y="2615184"/>
            <a:ext cx="4663440" cy="41148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Vol des accès d’un technicien au portail RMS (phishing, dark web).</a:t>
            </a:r>
          </a:p>
        </p:txBody>
      </p:sp>
      <p:sp>
        <p:nvSpPr>
          <p:cNvPr id="14" name="Rectangle 13"/>
          <p:cNvSpPr/>
          <p:nvPr/>
        </p:nvSpPr>
        <p:spPr>
          <a:xfrm>
            <a:off x="502920" y="3182112"/>
            <a:ext cx="109728" cy="86868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5800" y="3182112"/>
            <a:ext cx="5029200" cy="868680"/>
          </a:xfrm>
          <a:prstGeom prst="roundRect">
            <a:avLst>
              <a:gd name="adj" fmla="val 6000"/>
            </a:avLst>
          </a:prstGeom>
          <a:solidFill>
            <a:srgbClr val="F4F7FA"/>
          </a:solidFill>
          <a:ln w="12700">
            <a:solidFill>
              <a:srgbClr val="EE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73552"/>
            <a:ext cx="466344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F1B2D"/>
                </a:solidFill>
                <a:latin typeface="Arial"/>
              </a:rPr>
              <a:t>2 · Trouver</a:t>
            </a:r>
          </a:p>
        </p:txBody>
      </p:sp>
      <p:sp>
        <p:nvSpPr>
          <p:cNvPr id="17" name="TextBox 16"/>
          <p:cNvSpPr txBox="1"/>
          <p:nvPr/>
        </p:nvSpPr>
        <p:spPr>
          <a:xfrm>
            <a:off x="868680" y="3602736"/>
            <a:ext cx="4663440" cy="41148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Via le VPN Hub, l’attaquant atteint un routeur RUT956 cible.</a:t>
            </a:r>
          </a:p>
        </p:txBody>
      </p:sp>
      <p:sp>
        <p:nvSpPr>
          <p:cNvPr id="18" name="Rectangle 17"/>
          <p:cNvSpPr/>
          <p:nvPr/>
        </p:nvSpPr>
        <p:spPr>
          <a:xfrm>
            <a:off x="502920" y="4169664"/>
            <a:ext cx="109728" cy="868680"/>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 y="4169664"/>
            <a:ext cx="5029200" cy="868680"/>
          </a:xfrm>
          <a:prstGeom prst="roundRect">
            <a:avLst>
              <a:gd name="adj" fmla="val 6000"/>
            </a:avLst>
          </a:prstGeom>
          <a:solidFill>
            <a:srgbClr val="F4F7FA"/>
          </a:solidFill>
          <a:ln w="12700">
            <a:solidFill>
              <a:srgbClr val="EE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61104"/>
            <a:ext cx="466344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1" i="0">
                <a:solidFill>
                  <a:srgbClr val="0F1B2D"/>
                </a:solidFill>
                <a:latin typeface="Arial"/>
              </a:rPr>
              <a:t>3 · Exploiter</a:t>
            </a:r>
          </a:p>
        </p:txBody>
      </p:sp>
      <p:sp>
        <p:nvSpPr>
          <p:cNvPr id="21" name="TextBox 20"/>
          <p:cNvSpPr txBox="1"/>
          <p:nvPr/>
        </p:nvSpPr>
        <p:spPr>
          <a:xfrm>
            <a:off x="868680" y="4590288"/>
            <a:ext cx="4663440" cy="41148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Rebond vers le LAN du client → propagation d’un rançongiciel.</a:t>
            </a:r>
          </a:p>
        </p:txBody>
      </p:sp>
      <p:sp>
        <p:nvSpPr>
          <p:cNvPr id="22" name="Rounded Rectangle 21"/>
          <p:cNvSpPr/>
          <p:nvPr/>
        </p:nvSpPr>
        <p:spPr>
          <a:xfrm>
            <a:off x="6080760" y="1783080"/>
            <a:ext cx="5623560" cy="214884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938528"/>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2EC48F"/>
                </a:solidFill>
                <a:latin typeface="Arial"/>
              </a:rPr>
              <a:t>DEUX MESURES DE TRAITEMENT</a:t>
            </a:r>
          </a:p>
        </p:txBody>
      </p:sp>
      <p:sp>
        <p:nvSpPr>
          <p:cNvPr id="24" name="TextBox 23"/>
          <p:cNvSpPr txBox="1"/>
          <p:nvPr/>
        </p:nvSpPr>
        <p:spPr>
          <a:xfrm>
            <a:off x="6355080" y="2377440"/>
            <a:ext cx="5120640" cy="457200"/>
          </a:xfrm>
          <a:prstGeom prst="rect">
            <a:avLst/>
          </a:prstGeom>
          <a:noFill/>
        </p:spPr>
        <p:txBody>
          <a:bodyPr wrap="square" lIns="0" rIns="0" tIns="0" bIns="0">
            <a:spAutoFit/>
          </a:bodyPr>
          <a:lstStyle/>
          <a:p>
            <a:pPr>
              <a:lnSpc>
                <a:spcPct val="105000"/>
              </a:lnSpc>
              <a:spcBef>
                <a:spcPts val="0"/>
              </a:spcBef>
              <a:spcAft>
                <a:spcPts val="1200"/>
              </a:spcAft>
            </a:pPr>
            <a:r>
              <a:rPr sz="1300" b="1">
                <a:solidFill>
                  <a:srgbClr val="2EC48F"/>
                </a:solidFill>
                <a:latin typeface="Arial"/>
              </a:rPr>
              <a:t>▸  </a:t>
            </a:r>
            <a:r>
              <a:rPr sz="1300" b="1">
                <a:solidFill>
                  <a:srgbClr val="FFFFFF"/>
                </a:solidFill>
                <a:latin typeface="Arial"/>
              </a:rPr>
              <a:t>MFA strict sur RMS</a:t>
            </a:r>
            <a:r>
              <a:rPr sz="1300" b="0">
                <a:solidFill>
                  <a:srgbClr val="FFFFFF"/>
                </a:solidFill>
                <a:latin typeface="Arial"/>
              </a:rPr>
              <a:t> → bloque la compromission initiale, même mot de passe volé.</a:t>
            </a:r>
          </a:p>
          <a:p>
            <a:pPr>
              <a:lnSpc>
                <a:spcPct val="105000"/>
              </a:lnSpc>
              <a:spcBef>
                <a:spcPts val="0"/>
              </a:spcBef>
              <a:spcAft>
                <a:spcPts val="1200"/>
              </a:spcAft>
            </a:pPr>
            <a:r>
              <a:rPr sz="1300" b="1">
                <a:solidFill>
                  <a:srgbClr val="2EC48F"/>
                </a:solidFill>
                <a:latin typeface="Arial"/>
              </a:rPr>
              <a:t>▸  </a:t>
            </a:r>
            <a:r>
              <a:rPr sz="1300" b="1">
                <a:solidFill>
                  <a:srgbClr val="FFFFFF"/>
                </a:solidFill>
                <a:latin typeface="Arial"/>
              </a:rPr>
              <a:t>Durcissement RUT956 (NoNat / blocage des ports)</a:t>
            </a:r>
            <a:r>
              <a:rPr sz="1300" b="0">
                <a:solidFill>
                  <a:srgbClr val="FFFFFF"/>
                </a:solidFill>
                <a:latin typeface="Arial"/>
              </a:rPr>
              <a:t> → bloque toute latéralisation vers le LAN client.</a:t>
            </a:r>
          </a:p>
        </p:txBody>
      </p:sp>
      <p:sp>
        <p:nvSpPr>
          <p:cNvPr id="25" name="Rounded Rectangle 24"/>
          <p:cNvSpPr/>
          <p:nvPr/>
        </p:nvSpPr>
        <p:spPr>
          <a:xfrm>
            <a:off x="6080760" y="4114800"/>
            <a:ext cx="5623560" cy="20116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4251960"/>
            <a:ext cx="512064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F1B2D"/>
                </a:solidFill>
                <a:latin typeface="Arial"/>
              </a:rPr>
              <a:t>RÉSULTAT — VRAISEMBLANCE</a:t>
            </a:r>
          </a:p>
        </p:txBody>
      </p:sp>
      <p:sp>
        <p:nvSpPr>
          <p:cNvPr id="27" name="Rounded Rectangle 26"/>
          <p:cNvSpPr/>
          <p:nvPr/>
        </p:nvSpPr>
        <p:spPr>
          <a:xfrm>
            <a:off x="6355080" y="4709160"/>
            <a:ext cx="2194560" cy="914400"/>
          </a:xfrm>
          <a:prstGeom prst="round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4709160"/>
            <a:ext cx="2194560" cy="914400"/>
          </a:xfrm>
          <a:prstGeom prst="rect">
            <a:avLst/>
          </a:prstGeom>
          <a:noFill/>
        </p:spPr>
        <p:txBody>
          <a:bodyPr wrap="square" anchor="ctr" lIns="0" rIns="0" tIns="0" bIns="0">
            <a:spAutoFit/>
          </a:bodyPr>
          <a:lstStyle/>
          <a:p>
            <a:pPr algn="ctr">
              <a:lnSpc>
                <a:spcPct val="100000"/>
              </a:lnSpc>
              <a:spcBef>
                <a:spcPts val="0"/>
              </a:spcBef>
              <a:spcAft>
                <a:spcPts val="600"/>
              </a:spcAft>
            </a:pPr>
            <a:r>
              <a:rPr sz="3000" b="1" i="0">
                <a:solidFill>
                  <a:srgbClr val="FFFFFF"/>
                </a:solidFill>
                <a:latin typeface="Arial"/>
              </a:rPr>
              <a:t>V3</a:t>
            </a:r>
          </a:p>
          <a:p>
            <a:pPr algn="ctr">
              <a:lnSpc>
                <a:spcPct val="100000"/>
              </a:lnSpc>
              <a:spcBef>
                <a:spcPts val="0"/>
              </a:spcBef>
              <a:spcAft>
                <a:spcPts val="600"/>
              </a:spcAft>
            </a:pPr>
            <a:r>
              <a:rPr sz="1000" b="0" i="0">
                <a:solidFill>
                  <a:srgbClr val="FFFFFF"/>
                </a:solidFill>
                <a:latin typeface="Arial"/>
              </a:rPr>
              <a:t>Très vraisemblable</a:t>
            </a:r>
          </a:p>
        </p:txBody>
      </p:sp>
      <p:sp>
        <p:nvSpPr>
          <p:cNvPr id="29" name="TextBox 28"/>
          <p:cNvSpPr txBox="1"/>
          <p:nvPr/>
        </p:nvSpPr>
        <p:spPr>
          <a:xfrm>
            <a:off x="8641080" y="4937760"/>
            <a:ext cx="731520" cy="457200"/>
          </a:xfrm>
          <a:prstGeom prst="rect">
            <a:avLst/>
          </a:prstGeom>
          <a:noFill/>
        </p:spPr>
        <p:txBody>
          <a:bodyPr wrap="square" anchor="t" lIns="0" rIns="0" tIns="0" bIns="0">
            <a:spAutoFit/>
          </a:bodyPr>
          <a:lstStyle/>
          <a:p>
            <a:pPr algn="ctr">
              <a:lnSpc>
                <a:spcPct val="100000"/>
              </a:lnSpc>
              <a:spcBef>
                <a:spcPts val="0"/>
              </a:spcBef>
              <a:spcAft>
                <a:spcPts val="600"/>
              </a:spcAft>
            </a:pPr>
            <a:r>
              <a:rPr sz="3000" b="1" i="0">
                <a:solidFill>
                  <a:srgbClr val="00B4C8"/>
                </a:solidFill>
                <a:latin typeface="Arial"/>
              </a:rPr>
              <a:t>→</a:t>
            </a:r>
          </a:p>
        </p:txBody>
      </p:sp>
      <p:sp>
        <p:nvSpPr>
          <p:cNvPr id="30" name="Rounded Rectangle 29"/>
          <p:cNvSpPr/>
          <p:nvPr/>
        </p:nvSpPr>
        <p:spPr>
          <a:xfrm>
            <a:off x="9372600" y="4709160"/>
            <a:ext cx="2194560" cy="914400"/>
          </a:xfrm>
          <a:prstGeom prst="round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72600" y="4709160"/>
            <a:ext cx="2194560" cy="914400"/>
          </a:xfrm>
          <a:prstGeom prst="rect">
            <a:avLst/>
          </a:prstGeom>
          <a:noFill/>
        </p:spPr>
        <p:txBody>
          <a:bodyPr wrap="square" anchor="ctr" lIns="0" rIns="0" tIns="0" bIns="0">
            <a:spAutoFit/>
          </a:bodyPr>
          <a:lstStyle/>
          <a:p>
            <a:pPr algn="ctr">
              <a:lnSpc>
                <a:spcPct val="100000"/>
              </a:lnSpc>
              <a:spcBef>
                <a:spcPts val="0"/>
              </a:spcBef>
              <a:spcAft>
                <a:spcPts val="600"/>
              </a:spcAft>
            </a:pPr>
            <a:r>
              <a:rPr sz="3000" b="1" i="0">
                <a:solidFill>
                  <a:srgbClr val="FFFFFF"/>
                </a:solidFill>
                <a:latin typeface="Arial"/>
              </a:rPr>
              <a:t>V1</a:t>
            </a:r>
          </a:p>
          <a:p>
            <a:pPr algn="ctr">
              <a:lnSpc>
                <a:spcPct val="100000"/>
              </a:lnSpc>
              <a:spcBef>
                <a:spcPts val="0"/>
              </a:spcBef>
              <a:spcAft>
                <a:spcPts val="600"/>
              </a:spcAft>
            </a:pPr>
            <a:r>
              <a:rPr sz="1000" b="0" i="0">
                <a:solidFill>
                  <a:srgbClr val="FFFFFF"/>
                </a:solidFill>
                <a:latin typeface="Arial"/>
              </a:rPr>
              <a:t>Peu vraisemblable</a:t>
            </a:r>
          </a:p>
        </p:txBody>
      </p:sp>
      <p:sp>
        <p:nvSpPr>
          <p:cNvPr id="32" name="TextBox 31"/>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3" name="TextBox 32"/>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2</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2 — CONDUITE DE PROJET</a:t>
            </a:r>
          </a:p>
          <a:p>
            <a:pPr algn="l">
              <a:lnSpc>
                <a:spcPct val="100000"/>
              </a:lnSpc>
              <a:spcBef>
                <a:spcPts val="0"/>
              </a:spcBef>
              <a:spcAft>
                <a:spcPts val="600"/>
              </a:spcAft>
            </a:pPr>
            <a:r>
              <a:rPr sz="2200" b="1" i="0">
                <a:solidFill>
                  <a:srgbClr val="FFFFFF"/>
                </a:solidFill>
                <a:latin typeface="Arial"/>
              </a:rPr>
              <a:t>Pilotage : méthode, charge &amp; maîtrise des écarts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Les choix de conduite de projet, et la transparence assumée sur les écarts.</a:t>
            </a:r>
          </a:p>
        </p:txBody>
      </p:sp>
      <p:sp>
        <p:nvSpPr>
          <p:cNvPr id="9" name="Rounded Rectangle 8"/>
          <p:cNvSpPr/>
          <p:nvPr/>
        </p:nvSpPr>
        <p:spPr>
          <a:xfrm>
            <a:off x="502920" y="1828800"/>
            <a:ext cx="5486400" cy="18288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28800"/>
            <a:ext cx="91440" cy="1828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9385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Pourquoi ce projet maintenant, pas avant ?</a:t>
            </a:r>
          </a:p>
        </p:txBody>
      </p:sp>
      <p:sp>
        <p:nvSpPr>
          <p:cNvPr id="12" name="TextBox 11"/>
          <p:cNvSpPr txBox="1"/>
          <p:nvPr/>
        </p:nvSpPr>
        <p:spPr>
          <a:xfrm>
            <a:off x="758952" y="2432304"/>
            <a:ext cx="5074920" cy="11430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Départs successifs + intégration VINCI/Axians (2019) ont mobilisé les ressources ; la bande passante s’est libérée + un alternant dédié.</a:t>
            </a:r>
          </a:p>
        </p:txBody>
      </p:sp>
      <p:sp>
        <p:nvSpPr>
          <p:cNvPr id="13" name="Rounded Rectangle 12"/>
          <p:cNvSpPr/>
          <p:nvPr/>
        </p:nvSpPr>
        <p:spPr>
          <a:xfrm>
            <a:off x="6217920" y="1828800"/>
            <a:ext cx="5486400" cy="18288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28800"/>
            <a:ext cx="91440" cy="1828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385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Comment sont justifiées les 1 001 heures ?</a:t>
            </a:r>
          </a:p>
        </p:txBody>
      </p:sp>
      <p:sp>
        <p:nvSpPr>
          <p:cNvPr id="16" name="TextBox 15"/>
          <p:cNvSpPr txBox="1"/>
          <p:nvPr/>
        </p:nvSpPr>
        <p:spPr>
          <a:xfrm>
            <a:off x="6473952" y="2432304"/>
            <a:ext cx="5074920" cy="11430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Calcul tâche par tâche (GanttProject), recoupé aux 176 jours disponibles (81 %) — cohérent à 0,7 %.</a:t>
            </a:r>
          </a:p>
        </p:txBody>
      </p:sp>
      <p:sp>
        <p:nvSpPr>
          <p:cNvPr id="17" name="Rounded Rectangle 16"/>
          <p:cNvSpPr/>
          <p:nvPr/>
        </p:nvSpPr>
        <p:spPr>
          <a:xfrm>
            <a:off x="502920" y="3886200"/>
            <a:ext cx="5486400" cy="18288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886200"/>
            <a:ext cx="91440" cy="1828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9959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Le retard de 4 semaines, d’où vient-il ?</a:t>
            </a:r>
          </a:p>
        </p:txBody>
      </p:sp>
      <p:sp>
        <p:nvSpPr>
          <p:cNvPr id="20" name="TextBox 19"/>
          <p:cNvSpPr txBox="1"/>
          <p:nvPr/>
        </p:nvSpPr>
        <p:spPr>
          <a:xfrm>
            <a:off x="758952" y="4489704"/>
            <a:ext cx="5074920" cy="11430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J1 MIB Ericsson non anticipable (+7 sem.) + 32 j de missions DIL/DIS. Sans ces causes externes → date prévue.</a:t>
            </a:r>
          </a:p>
        </p:txBody>
      </p:sp>
      <p:sp>
        <p:nvSpPr>
          <p:cNvPr id="21" name="Rounded Rectangle 20"/>
          <p:cNvSpPr/>
          <p:nvPr/>
        </p:nvSpPr>
        <p:spPr>
          <a:xfrm>
            <a:off x="6217920" y="3886200"/>
            <a:ext cx="5486400" cy="18288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886200"/>
            <a:ext cx="91440" cy="1828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995928"/>
            <a:ext cx="5074920" cy="502920"/>
          </a:xfrm>
          <a:prstGeom prst="rect">
            <a:avLst/>
          </a:prstGeom>
          <a:noFill/>
        </p:spPr>
        <p:txBody>
          <a:bodyPr wrap="square" anchor="t" lIns="0" rIns="0" tIns="0" bIns="0">
            <a:spAutoFit/>
          </a:bodyPr>
          <a:lstStyle/>
          <a:p>
            <a:pPr algn="l">
              <a:lnSpc>
                <a:spcPct val="98000"/>
              </a:lnSpc>
              <a:spcBef>
                <a:spcPts val="0"/>
              </a:spcBef>
              <a:spcAft>
                <a:spcPts val="600"/>
              </a:spcAft>
            </a:pPr>
            <a:r>
              <a:rPr sz="1250" b="1" i="0">
                <a:solidFill>
                  <a:srgbClr val="0F1B2D"/>
                </a:solidFill>
                <a:latin typeface="Arial"/>
              </a:rPr>
              <a:t>Comment le risque cyber est-il maîtrisé ?</a:t>
            </a:r>
          </a:p>
        </p:txBody>
      </p:sp>
      <p:sp>
        <p:nvSpPr>
          <p:cNvPr id="24" name="TextBox 23"/>
          <p:cNvSpPr txBox="1"/>
          <p:nvPr/>
        </p:nvSpPr>
        <p:spPr>
          <a:xfrm>
            <a:off x="6473952" y="4489704"/>
            <a:ext cx="5074920" cy="114300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 </a:t>
            </a:r>
            <a:r>
              <a:rPr sz="1150" b="0" i="0">
                <a:solidFill>
                  <a:srgbClr val="1B2633"/>
                </a:solidFill>
                <a:latin typeface="Arial"/>
              </a:rPr>
              <a:t>EBIOS RM : MFA strict (compromission) + NoNat/durcissement (latéralisation) → vraisemblance V3 ramenée à V1.</a:t>
            </a:r>
          </a:p>
        </p:txBody>
      </p:sp>
      <p:sp>
        <p:nvSpPr>
          <p:cNvPr id="25" name="TextBox 24"/>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6" name="TextBox 25"/>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3</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3</a:t>
            </a:r>
          </a:p>
          <a:p>
            <a:pPr algn="l">
              <a:lnSpc>
                <a:spcPct val="100000"/>
              </a:lnSpc>
              <a:spcBef>
                <a:spcPts val="0"/>
              </a:spcBef>
              <a:spcAft>
                <a:spcPts val="600"/>
              </a:spcAft>
            </a:pPr>
            <a:r>
              <a:rPr sz="2200" b="1" i="0">
                <a:solidFill>
                  <a:srgbClr val="FFFFFF"/>
                </a:solidFill>
                <a:latin typeface="Arial"/>
              </a:rPr>
              <a:t>Réalisation — Architecture matérielle</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 Placer l’intelligence au plus près des équipements » — chaîne de bout en bout, du site client au serveur Axians.</a:t>
            </a:r>
          </a:p>
        </p:txBody>
      </p:sp>
      <p:sp>
        <p:nvSpPr>
          <p:cNvPr id="9" name="Rounded Rectangle 8"/>
          <p:cNvSpPr/>
          <p:nvPr/>
        </p:nvSpPr>
        <p:spPr>
          <a:xfrm>
            <a:off x="502920" y="1828800"/>
            <a:ext cx="3611880" cy="3657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28800"/>
            <a:ext cx="3611880" cy="5486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28800"/>
            <a:ext cx="3611880" cy="548640"/>
          </a:xfrm>
          <a:prstGeom prst="rect">
            <a:avLst/>
          </a:prstGeom>
          <a:noFill/>
        </p:spPr>
        <p:txBody>
          <a:bodyPr wrap="square" anchor="ctr" lIns="0" rIns="0" tIns="0" bIns="0">
            <a:spAutoFit/>
          </a:bodyPr>
          <a:lstStyle/>
          <a:p>
            <a:pPr algn="ctr">
              <a:lnSpc>
                <a:spcPct val="100000"/>
              </a:lnSpc>
              <a:spcBef>
                <a:spcPts val="0"/>
              </a:spcBef>
              <a:spcAft>
                <a:spcPts val="600"/>
              </a:spcAft>
            </a:pPr>
            <a:r>
              <a:rPr sz="1300" b="1" i="0">
                <a:solidFill>
                  <a:srgbClr val="FFFFFF"/>
                </a:solidFill>
                <a:latin typeface="Arial"/>
              </a:rPr>
              <a:t>SITE CLIENT</a:t>
            </a:r>
          </a:p>
        </p:txBody>
      </p:sp>
      <p:sp>
        <p:nvSpPr>
          <p:cNvPr id="12" name="Rounded Rectangle 11"/>
          <p:cNvSpPr/>
          <p:nvPr/>
        </p:nvSpPr>
        <p:spPr>
          <a:xfrm>
            <a:off x="685800" y="26060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2606040"/>
            <a:ext cx="73152" cy="12344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432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Faisceau hertzien</a:t>
            </a:r>
          </a:p>
        </p:txBody>
      </p:sp>
      <p:sp>
        <p:nvSpPr>
          <p:cNvPr id="15" name="TextBox 14"/>
          <p:cNvSpPr txBox="1"/>
          <p:nvPr/>
        </p:nvSpPr>
        <p:spPr>
          <a:xfrm>
            <a:off x="868680" y="32278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Ericsson MINI-LINK / NEC iPASOLINK</a:t>
            </a:r>
          </a:p>
        </p:txBody>
      </p:sp>
      <p:sp>
        <p:nvSpPr>
          <p:cNvPr id="16" name="Rounded Rectangle 15"/>
          <p:cNvSpPr/>
          <p:nvPr/>
        </p:nvSpPr>
        <p:spPr>
          <a:xfrm>
            <a:off x="685800" y="39776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977640"/>
            <a:ext cx="73152" cy="12344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1148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Routeur RUT956</a:t>
            </a:r>
          </a:p>
        </p:txBody>
      </p:sp>
      <p:sp>
        <p:nvSpPr>
          <p:cNvPr id="19" name="TextBox 18"/>
          <p:cNvSpPr txBox="1"/>
          <p:nvPr/>
        </p:nvSpPr>
        <p:spPr>
          <a:xfrm>
            <a:off x="868680" y="45994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Routeur + pare-feu + VPN dans 1 boîtier</a:t>
            </a:r>
          </a:p>
        </p:txBody>
      </p:sp>
      <p:sp>
        <p:nvSpPr>
          <p:cNvPr id="20" name="TextBox 19"/>
          <p:cNvSpPr txBox="1"/>
          <p:nvPr/>
        </p:nvSpPr>
        <p:spPr>
          <a:xfrm>
            <a:off x="4069080" y="3383280"/>
            <a:ext cx="502920" cy="548640"/>
          </a:xfrm>
          <a:prstGeom prst="rect">
            <a:avLst/>
          </a:prstGeom>
          <a:noFill/>
        </p:spPr>
        <p:txBody>
          <a:bodyPr wrap="square" anchor="t" lIns="0" rIns="0" tIns="0" bIns="0">
            <a:spAutoFit/>
          </a:bodyPr>
          <a:lstStyle/>
          <a:p>
            <a:pPr algn="ctr">
              <a:lnSpc>
                <a:spcPct val="100000"/>
              </a:lnSpc>
              <a:spcBef>
                <a:spcPts val="0"/>
              </a:spcBef>
              <a:spcAft>
                <a:spcPts val="600"/>
              </a:spcAft>
            </a:pPr>
            <a:r>
              <a:rPr sz="2600" b="1" i="0">
                <a:solidFill>
                  <a:srgbClr val="00B4C8"/>
                </a:solidFill>
                <a:latin typeface="Arial"/>
              </a:rPr>
              <a:t>→</a:t>
            </a:r>
          </a:p>
        </p:txBody>
      </p:sp>
      <p:sp>
        <p:nvSpPr>
          <p:cNvPr id="21" name="Rounded Rectangle 20"/>
          <p:cNvSpPr/>
          <p:nvPr/>
        </p:nvSpPr>
        <p:spPr>
          <a:xfrm>
            <a:off x="4389120" y="1828800"/>
            <a:ext cx="3611880" cy="3657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1828800"/>
            <a:ext cx="3611880" cy="54864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1828800"/>
            <a:ext cx="3611880" cy="548640"/>
          </a:xfrm>
          <a:prstGeom prst="rect">
            <a:avLst/>
          </a:prstGeom>
          <a:noFill/>
        </p:spPr>
        <p:txBody>
          <a:bodyPr wrap="square" anchor="ctr" lIns="0" rIns="0" tIns="0" bIns="0">
            <a:spAutoFit/>
          </a:bodyPr>
          <a:lstStyle/>
          <a:p>
            <a:pPr algn="ctr">
              <a:lnSpc>
                <a:spcPct val="100000"/>
              </a:lnSpc>
              <a:spcBef>
                <a:spcPts val="0"/>
              </a:spcBef>
              <a:spcAft>
                <a:spcPts val="600"/>
              </a:spcAft>
            </a:pPr>
            <a:r>
              <a:rPr sz="1300" b="1" i="0">
                <a:solidFill>
                  <a:srgbClr val="FFFFFF"/>
                </a:solidFill>
                <a:latin typeface="Arial"/>
              </a:rPr>
              <a:t>TRANSPORT SÉCURISÉ</a:t>
            </a:r>
          </a:p>
        </p:txBody>
      </p:sp>
      <p:sp>
        <p:nvSpPr>
          <p:cNvPr id="24" name="Rounded Rectangle 23"/>
          <p:cNvSpPr/>
          <p:nvPr/>
        </p:nvSpPr>
        <p:spPr>
          <a:xfrm>
            <a:off x="4572000" y="26060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2606040"/>
            <a:ext cx="73152" cy="123444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27432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Tunnel VPN chiffré</a:t>
            </a:r>
          </a:p>
        </p:txBody>
      </p:sp>
      <p:sp>
        <p:nvSpPr>
          <p:cNvPr id="27" name="TextBox 26"/>
          <p:cNvSpPr txBox="1"/>
          <p:nvPr/>
        </p:nvSpPr>
        <p:spPr>
          <a:xfrm>
            <a:off x="4754880" y="32278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Sur le réseau IP du client (pas de SIM dédiée)</a:t>
            </a:r>
          </a:p>
        </p:txBody>
      </p:sp>
      <p:sp>
        <p:nvSpPr>
          <p:cNvPr id="28" name="Rounded Rectangle 27"/>
          <p:cNvSpPr/>
          <p:nvPr/>
        </p:nvSpPr>
        <p:spPr>
          <a:xfrm>
            <a:off x="4572000" y="39776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0" y="3977640"/>
            <a:ext cx="73152" cy="123444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41148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Cloud RMS Teltonika</a:t>
            </a:r>
          </a:p>
        </p:txBody>
      </p:sp>
      <p:sp>
        <p:nvSpPr>
          <p:cNvPr id="31" name="TextBox 30"/>
          <p:cNvSpPr txBox="1"/>
          <p:nvPr/>
        </p:nvSpPr>
        <p:spPr>
          <a:xfrm>
            <a:off x="4754880" y="45994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Administration distante + MFA</a:t>
            </a:r>
          </a:p>
        </p:txBody>
      </p:sp>
      <p:sp>
        <p:nvSpPr>
          <p:cNvPr id="32" name="TextBox 31"/>
          <p:cNvSpPr txBox="1"/>
          <p:nvPr/>
        </p:nvSpPr>
        <p:spPr>
          <a:xfrm>
            <a:off x="7955280" y="3383280"/>
            <a:ext cx="502920" cy="548640"/>
          </a:xfrm>
          <a:prstGeom prst="rect">
            <a:avLst/>
          </a:prstGeom>
          <a:noFill/>
        </p:spPr>
        <p:txBody>
          <a:bodyPr wrap="square" anchor="t" lIns="0" rIns="0" tIns="0" bIns="0">
            <a:spAutoFit/>
          </a:bodyPr>
          <a:lstStyle/>
          <a:p>
            <a:pPr algn="ctr">
              <a:lnSpc>
                <a:spcPct val="100000"/>
              </a:lnSpc>
              <a:spcBef>
                <a:spcPts val="0"/>
              </a:spcBef>
              <a:spcAft>
                <a:spcPts val="600"/>
              </a:spcAft>
            </a:pPr>
            <a:r>
              <a:rPr sz="2600" b="1" i="0">
                <a:solidFill>
                  <a:srgbClr val="00B4C8"/>
                </a:solidFill>
                <a:latin typeface="Arial"/>
              </a:rPr>
              <a:t>→</a:t>
            </a:r>
          </a:p>
        </p:txBody>
      </p:sp>
      <p:sp>
        <p:nvSpPr>
          <p:cNvPr id="33" name="Rounded Rectangle 32"/>
          <p:cNvSpPr/>
          <p:nvPr/>
        </p:nvSpPr>
        <p:spPr>
          <a:xfrm>
            <a:off x="8275320" y="1828800"/>
            <a:ext cx="3611880" cy="3657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75320" y="1828800"/>
            <a:ext cx="3611880" cy="5486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1828800"/>
            <a:ext cx="3611880" cy="548640"/>
          </a:xfrm>
          <a:prstGeom prst="rect">
            <a:avLst/>
          </a:prstGeom>
          <a:noFill/>
        </p:spPr>
        <p:txBody>
          <a:bodyPr wrap="square" anchor="ctr" lIns="0" rIns="0" tIns="0" bIns="0">
            <a:spAutoFit/>
          </a:bodyPr>
          <a:lstStyle/>
          <a:p>
            <a:pPr algn="ctr">
              <a:lnSpc>
                <a:spcPct val="100000"/>
              </a:lnSpc>
              <a:spcBef>
                <a:spcPts val="0"/>
              </a:spcBef>
              <a:spcAft>
                <a:spcPts val="600"/>
              </a:spcAft>
            </a:pPr>
            <a:r>
              <a:rPr sz="1300" b="1" i="0">
                <a:solidFill>
                  <a:srgbClr val="FFFFFF"/>
                </a:solidFill>
                <a:latin typeface="Arial"/>
              </a:rPr>
              <a:t>INFRASTRUCTURE AXIANS</a:t>
            </a:r>
          </a:p>
        </p:txBody>
      </p:sp>
      <p:sp>
        <p:nvSpPr>
          <p:cNvPr id="36" name="Rounded Rectangle 35"/>
          <p:cNvSpPr/>
          <p:nvPr/>
        </p:nvSpPr>
        <p:spPr>
          <a:xfrm>
            <a:off x="8458200" y="26060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58200" y="2606040"/>
            <a:ext cx="73152" cy="12344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41080" y="27432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Serveur HPE DL360</a:t>
            </a:r>
          </a:p>
        </p:txBody>
      </p:sp>
      <p:sp>
        <p:nvSpPr>
          <p:cNvPr id="39" name="TextBox 38"/>
          <p:cNvSpPr txBox="1"/>
          <p:nvPr/>
        </p:nvSpPr>
        <p:spPr>
          <a:xfrm>
            <a:off x="8641080" y="32278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Debian 13 · 32 Go RAM · RAID 1</a:t>
            </a:r>
          </a:p>
        </p:txBody>
      </p:sp>
      <p:sp>
        <p:nvSpPr>
          <p:cNvPr id="40" name="Rounded Rectangle 39"/>
          <p:cNvSpPr/>
          <p:nvPr/>
        </p:nvSpPr>
        <p:spPr>
          <a:xfrm>
            <a:off x="8458200" y="3977640"/>
            <a:ext cx="3246120" cy="1234440"/>
          </a:xfrm>
          <a:prstGeom prst="roundRect">
            <a:avLst>
              <a:gd name="adj" fmla="val 6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58200" y="3977640"/>
            <a:ext cx="73152" cy="12344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41080" y="4114800"/>
            <a:ext cx="3017520" cy="457200"/>
          </a:xfrm>
          <a:prstGeom prst="rect">
            <a:avLst/>
          </a:prstGeom>
          <a:noFill/>
        </p:spPr>
        <p:txBody>
          <a:bodyPr wrap="square" anchor="t" lIns="0" rIns="0" tIns="0" bIns="0">
            <a:spAutoFit/>
          </a:bodyPr>
          <a:lstStyle/>
          <a:p>
            <a:pPr algn="l">
              <a:lnSpc>
                <a:spcPct val="95000"/>
              </a:lnSpc>
              <a:spcBef>
                <a:spcPts val="0"/>
              </a:spcBef>
              <a:spcAft>
                <a:spcPts val="600"/>
              </a:spcAft>
            </a:pPr>
            <a:r>
              <a:rPr sz="1300" b="1" i="0">
                <a:solidFill>
                  <a:srgbClr val="0F1B2D"/>
                </a:solidFill>
                <a:latin typeface="Arial"/>
              </a:rPr>
              <a:t>Zabbix + Grafana</a:t>
            </a:r>
          </a:p>
        </p:txBody>
      </p:sp>
      <p:sp>
        <p:nvSpPr>
          <p:cNvPr id="43" name="TextBox 42"/>
          <p:cNvSpPr txBox="1"/>
          <p:nvPr/>
        </p:nvSpPr>
        <p:spPr>
          <a:xfrm>
            <a:off x="8641080" y="4599432"/>
            <a:ext cx="3017520" cy="548640"/>
          </a:xfrm>
          <a:prstGeom prst="rect">
            <a:avLst/>
          </a:prstGeom>
          <a:noFill/>
        </p:spPr>
        <p:txBody>
          <a:bodyPr wrap="square" anchor="t" lIns="0" rIns="0" tIns="0" bIns="0">
            <a:spAutoFit/>
          </a:bodyPr>
          <a:lstStyle/>
          <a:p>
            <a:pPr algn="l">
              <a:lnSpc>
                <a:spcPct val="95000"/>
              </a:lnSpc>
              <a:spcBef>
                <a:spcPts val="0"/>
              </a:spcBef>
              <a:spcAft>
                <a:spcPts val="600"/>
              </a:spcAft>
            </a:pPr>
            <a:r>
              <a:rPr sz="1100" b="0" i="0">
                <a:solidFill>
                  <a:srgbClr val="1B2633"/>
                </a:solidFill>
                <a:latin typeface="Arial"/>
              </a:rPr>
              <a:t>Collecte SNMP + visualisation</a:t>
            </a:r>
          </a:p>
        </p:txBody>
      </p:sp>
      <p:sp>
        <p:nvSpPr>
          <p:cNvPr id="44" name="TextBox 43"/>
          <p:cNvSpPr txBox="1"/>
          <p:nvPr/>
        </p:nvSpPr>
        <p:spPr>
          <a:xfrm>
            <a:off x="502920" y="5669280"/>
            <a:ext cx="10972800" cy="45720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F1B2D"/>
                </a:solidFill>
                <a:latin typeface="Arial"/>
              </a:rPr>
              <a:t>Déploiement « Plug &amp; Play » : </a:t>
            </a:r>
            <a:r>
              <a:rPr sz="1250" b="0" i="0">
                <a:solidFill>
                  <a:srgbClr val="1B2633"/>
                </a:solidFill>
                <a:latin typeface="Arial"/>
              </a:rPr>
              <a:t>préconfiguration en atelier, mise en service à distance par téléphone, vagues de 10 routeurs — sans déplacement Axians.</a:t>
            </a:r>
          </a:p>
        </p:txBody>
      </p:sp>
      <p:sp>
        <p:nvSpPr>
          <p:cNvPr id="45" name="TextBox 44"/>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46" name="TextBox 45"/>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3</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3 — LE CŒUR TECHNIQUE</a:t>
            </a:r>
          </a:p>
          <a:p>
            <a:pPr algn="l">
              <a:lnSpc>
                <a:spcPct val="100000"/>
              </a:lnSpc>
              <a:spcBef>
                <a:spcPts val="0"/>
              </a:spcBef>
              <a:spcAft>
                <a:spcPts val="600"/>
              </a:spcAft>
            </a:pPr>
            <a:r>
              <a:rPr sz="2200" b="1" i="0">
                <a:solidFill>
                  <a:srgbClr val="FFFFFF"/>
                </a:solidFill>
                <a:latin typeface="Arial"/>
              </a:rPr>
              <a:t>Intégration Zabbix &amp; traduction des dictionnaires MIB</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LE DÉFI : DÉCODER L’ERICSSON MINI-LINK</a:t>
            </a:r>
          </a:p>
        </p:txBody>
      </p:sp>
      <p:sp>
        <p:nvSpPr>
          <p:cNvPr id="9" name="TextBox 8"/>
          <p:cNvSpPr txBox="1"/>
          <p:nvPr/>
        </p:nvSpPr>
        <p:spPr>
          <a:xfrm>
            <a:off x="502920" y="1691640"/>
            <a:ext cx="5577840" cy="457200"/>
          </a:xfrm>
          <a:prstGeom prst="rect">
            <a:avLst/>
          </a:prstGeom>
          <a:noFill/>
        </p:spPr>
        <p:txBody>
          <a:bodyPr wrap="square" lIns="0" rIns="0" tIns="0" bIns="0">
            <a:spAutoFit/>
          </a:bodyPr>
          <a:lstStyle/>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Centaines d’OID à trier</a:t>
            </a:r>
            <a:r>
              <a:rPr sz="1250" b="0">
                <a:solidFill>
                  <a:srgbClr val="1B2633"/>
                </a:solidFill>
                <a:latin typeface="Arial"/>
              </a:rPr>
              <a:t> : capture des trames SNMP directement sur les équipements en production.</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Valeurs piégeuses</a:t>
            </a:r>
            <a:r>
              <a:rPr sz="1250" b="0">
                <a:solidFill>
                  <a:srgbClr val="1B2633"/>
                </a:solidFill>
                <a:latin typeface="Arial"/>
              </a:rPr>
              <a:t> : Rx en dixièmes de dBm (-450 = -45,0 dBm) → prétraitement par multiplication dans le Template.</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Traps propriétaires</a:t>
            </a:r>
            <a:r>
              <a:rPr sz="1250" b="0">
                <a:solidFill>
                  <a:srgbClr val="1B2633"/>
                </a:solidFill>
                <a:latin typeface="Arial"/>
              </a:rPr>
              <a:t> : chaîne brute décodée champ par champ via expressions régulières (regex apprises en contexte).</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Horodatage hexadécimal</a:t>
            </a:r>
            <a:r>
              <a:rPr sz="1250" b="0">
                <a:solidFill>
                  <a:srgbClr val="1B2633"/>
                </a:solidFill>
                <a:latin typeface="Arial"/>
              </a:rPr>
              <a:t> + codes de cause traduits par table de correspondance.</a:t>
            </a:r>
          </a:p>
        </p:txBody>
      </p:sp>
      <p:sp>
        <p:nvSpPr>
          <p:cNvPr id="10" name="Rounded Rectangle 9"/>
          <p:cNvSpPr/>
          <p:nvPr/>
        </p:nvSpPr>
        <p:spPr>
          <a:xfrm>
            <a:off x="6400800" y="1554480"/>
            <a:ext cx="5303520" cy="22402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554480"/>
            <a:ext cx="530352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719072"/>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CE QUI A ÉTÉ PRODUIT</a:t>
            </a:r>
          </a:p>
        </p:txBody>
      </p:sp>
      <p:sp>
        <p:nvSpPr>
          <p:cNvPr id="13" name="TextBox 12"/>
          <p:cNvSpPr txBox="1"/>
          <p:nvPr/>
        </p:nvSpPr>
        <p:spPr>
          <a:xfrm>
            <a:off x="6675120" y="2148840"/>
            <a:ext cx="4846320" cy="457200"/>
          </a:xfrm>
          <a:prstGeom prst="rect">
            <a:avLst/>
          </a:prstGeom>
          <a:noFill/>
        </p:spPr>
        <p:txBody>
          <a:bodyPr wrap="square" lIns="0" rIns="0" tIns="0" bIns="0">
            <a:spAutoFit/>
          </a:bodyPr>
          <a:lstStyle/>
          <a:p>
            <a:pPr>
              <a:lnSpc>
                <a:spcPct val="105000"/>
              </a:lnSpc>
              <a:spcBef>
                <a:spcPts val="0"/>
              </a:spcBef>
              <a:spcAft>
                <a:spcPts val="900"/>
              </a:spcAft>
            </a:pPr>
            <a:r>
              <a:rPr sz="1250" b="1">
                <a:solidFill>
                  <a:srgbClr val="00B4C8"/>
                </a:solidFill>
                <a:latin typeface="Arial"/>
              </a:rPr>
              <a:t>▸  </a:t>
            </a:r>
            <a:r>
              <a:rPr sz="1250">
                <a:solidFill>
                  <a:srgbClr val="FFFFFF"/>
                </a:solidFill>
                <a:latin typeface="Arial"/>
              </a:rPr>
              <a:t>Référentiel OID validé — un actif technique inédit pour l’entreprise.</a:t>
            </a:r>
          </a:p>
          <a:p>
            <a:pPr>
              <a:lnSpc>
                <a:spcPct val="105000"/>
              </a:lnSpc>
              <a:spcBef>
                <a:spcPts val="0"/>
              </a:spcBef>
              <a:spcAft>
                <a:spcPts val="900"/>
              </a:spcAft>
            </a:pPr>
            <a:r>
              <a:rPr sz="1250" b="1">
                <a:solidFill>
                  <a:srgbClr val="00B4C8"/>
                </a:solidFill>
                <a:latin typeface="Arial"/>
              </a:rPr>
              <a:t>▸  </a:t>
            </a:r>
            <a:r>
              <a:rPr sz="1250">
                <a:solidFill>
                  <a:srgbClr val="FFFFFF"/>
                </a:solidFill>
                <a:latin typeface="Arial"/>
              </a:rPr>
              <a:t>Templates Zabbix génériques, réutilisables sur tout le parc MINI-LINK.</a:t>
            </a:r>
          </a:p>
          <a:p>
            <a:pPr>
              <a:lnSpc>
                <a:spcPct val="105000"/>
              </a:lnSpc>
              <a:spcBef>
                <a:spcPts val="0"/>
              </a:spcBef>
              <a:spcAft>
                <a:spcPts val="900"/>
              </a:spcAft>
            </a:pPr>
            <a:r>
              <a:rPr sz="1250" b="1">
                <a:solidFill>
                  <a:srgbClr val="00B4C8"/>
                </a:solidFill>
                <a:latin typeface="Arial"/>
              </a:rPr>
              <a:t>▸  </a:t>
            </a:r>
            <a:r>
              <a:rPr sz="1250">
                <a:solidFill>
                  <a:srgbClr val="FFFFFF"/>
                </a:solidFill>
                <a:latin typeface="Arial"/>
              </a:rPr>
              <a:t>4 niveaux de sévérité + trigger Rx &lt; −75 dBm (seuil de dégradation).</a:t>
            </a:r>
          </a:p>
        </p:txBody>
      </p:sp>
      <p:sp>
        <p:nvSpPr>
          <p:cNvPr id="14" name="Rounded Rectangle 13"/>
          <p:cNvSpPr/>
          <p:nvPr/>
        </p:nvSpPr>
        <p:spPr>
          <a:xfrm>
            <a:off x="6400800" y="3977639"/>
            <a:ext cx="5303520" cy="20574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4114800"/>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F1B2D"/>
                </a:solidFill>
                <a:latin typeface="Arial"/>
              </a:rPr>
              <a:t>EXEMPLE DE CHAÎNE DE TRAITEMENT</a:t>
            </a:r>
          </a:p>
        </p:txBody>
      </p:sp>
      <p:sp>
        <p:nvSpPr>
          <p:cNvPr id="16" name="Rounded Rectangle 15"/>
          <p:cNvSpPr/>
          <p:nvPr/>
        </p:nvSpPr>
        <p:spPr>
          <a:xfrm>
            <a:off x="6675120" y="4617720"/>
            <a:ext cx="1417320" cy="1005840"/>
          </a:xfrm>
          <a:prstGeom prst="roundRect">
            <a:avLst/>
          </a:prstGeom>
          <a:solidFill>
            <a:srgbClr val="FFFFFF"/>
          </a:solidFill>
          <a:ln w="19050">
            <a:solidFill>
              <a:srgbClr val="6B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4736592"/>
            <a:ext cx="1417320" cy="457200"/>
          </a:xfrm>
          <a:prstGeom prst="rect">
            <a:avLst/>
          </a:prstGeom>
          <a:noFill/>
        </p:spPr>
        <p:txBody>
          <a:bodyPr wrap="square" anchor="t" lIns="0" rIns="0" tIns="0" bIns="0">
            <a:spAutoFit/>
          </a:bodyPr>
          <a:lstStyle/>
          <a:p>
            <a:pPr algn="ctr">
              <a:lnSpc>
                <a:spcPct val="100000"/>
              </a:lnSpc>
              <a:spcBef>
                <a:spcPts val="0"/>
              </a:spcBef>
              <a:spcAft>
                <a:spcPts val="600"/>
              </a:spcAft>
            </a:pPr>
            <a:r>
              <a:rPr sz="1700" b="1" i="0">
                <a:solidFill>
                  <a:srgbClr val="6B7A8C"/>
                </a:solidFill>
                <a:latin typeface="Arial"/>
              </a:rPr>
              <a:t>-450</a:t>
            </a:r>
          </a:p>
        </p:txBody>
      </p:sp>
      <p:sp>
        <p:nvSpPr>
          <p:cNvPr id="18" name="TextBox 17"/>
          <p:cNvSpPr txBox="1"/>
          <p:nvPr/>
        </p:nvSpPr>
        <p:spPr>
          <a:xfrm>
            <a:off x="6675120" y="5193792"/>
            <a:ext cx="1417320" cy="365760"/>
          </a:xfrm>
          <a:prstGeom prst="rect">
            <a:avLst/>
          </a:prstGeom>
          <a:noFill/>
        </p:spPr>
        <p:txBody>
          <a:bodyPr wrap="square" anchor="t" lIns="0" rIns="0" tIns="0" bIns="0">
            <a:spAutoFit/>
          </a:bodyPr>
          <a:lstStyle/>
          <a:p>
            <a:pPr algn="ctr">
              <a:lnSpc>
                <a:spcPct val="100000"/>
              </a:lnSpc>
              <a:spcBef>
                <a:spcPts val="0"/>
              </a:spcBef>
              <a:spcAft>
                <a:spcPts val="600"/>
              </a:spcAft>
            </a:pPr>
            <a:r>
              <a:rPr sz="950" b="0" i="0">
                <a:solidFill>
                  <a:srgbClr val="1B2633"/>
                </a:solidFill>
                <a:latin typeface="Arial"/>
              </a:rPr>
              <a:t>valeur brute SNMP</a:t>
            </a:r>
          </a:p>
        </p:txBody>
      </p:sp>
      <p:sp>
        <p:nvSpPr>
          <p:cNvPr id="19" name="TextBox 18"/>
          <p:cNvSpPr txBox="1"/>
          <p:nvPr/>
        </p:nvSpPr>
        <p:spPr>
          <a:xfrm>
            <a:off x="8046720" y="4754880"/>
            <a:ext cx="411480" cy="548640"/>
          </a:xfrm>
          <a:prstGeom prst="rect">
            <a:avLst/>
          </a:prstGeom>
          <a:noFill/>
        </p:spPr>
        <p:txBody>
          <a:bodyPr wrap="square" anchor="t" lIns="0" rIns="0" tIns="0" bIns="0">
            <a:spAutoFit/>
          </a:bodyPr>
          <a:lstStyle/>
          <a:p>
            <a:pPr algn="ctr">
              <a:lnSpc>
                <a:spcPct val="100000"/>
              </a:lnSpc>
              <a:spcBef>
                <a:spcPts val="0"/>
              </a:spcBef>
              <a:spcAft>
                <a:spcPts val="600"/>
              </a:spcAft>
            </a:pPr>
            <a:r>
              <a:rPr sz="2200" b="1" i="0">
                <a:solidFill>
                  <a:srgbClr val="00B4C8"/>
                </a:solidFill>
                <a:latin typeface="Arial"/>
              </a:rPr>
              <a:t>→</a:t>
            </a:r>
          </a:p>
        </p:txBody>
      </p:sp>
      <p:sp>
        <p:nvSpPr>
          <p:cNvPr id="20" name="Rounded Rectangle 19"/>
          <p:cNvSpPr/>
          <p:nvPr/>
        </p:nvSpPr>
        <p:spPr>
          <a:xfrm>
            <a:off x="8458200" y="4617720"/>
            <a:ext cx="1417320" cy="1005840"/>
          </a:xfrm>
          <a:prstGeom prst="roundRect">
            <a:avLst/>
          </a:prstGeom>
          <a:solidFill>
            <a:srgbClr val="FFFFFF"/>
          </a:solidFill>
          <a:ln w="19050">
            <a:solidFill>
              <a:srgbClr val="00B4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4736592"/>
            <a:ext cx="1417320" cy="457200"/>
          </a:xfrm>
          <a:prstGeom prst="rect">
            <a:avLst/>
          </a:prstGeom>
          <a:noFill/>
        </p:spPr>
        <p:txBody>
          <a:bodyPr wrap="square" anchor="t" lIns="0" rIns="0" tIns="0" bIns="0">
            <a:spAutoFit/>
          </a:bodyPr>
          <a:lstStyle/>
          <a:p>
            <a:pPr algn="ctr">
              <a:lnSpc>
                <a:spcPct val="100000"/>
              </a:lnSpc>
              <a:spcBef>
                <a:spcPts val="0"/>
              </a:spcBef>
              <a:spcAft>
                <a:spcPts val="600"/>
              </a:spcAft>
            </a:pPr>
            <a:r>
              <a:rPr sz="1700" b="1" i="0">
                <a:solidFill>
                  <a:srgbClr val="00B4C8"/>
                </a:solidFill>
                <a:latin typeface="Arial"/>
              </a:rPr>
              <a:t>× 0,1</a:t>
            </a:r>
          </a:p>
        </p:txBody>
      </p:sp>
      <p:sp>
        <p:nvSpPr>
          <p:cNvPr id="22" name="TextBox 21"/>
          <p:cNvSpPr txBox="1"/>
          <p:nvPr/>
        </p:nvSpPr>
        <p:spPr>
          <a:xfrm>
            <a:off x="8458200" y="5193792"/>
            <a:ext cx="1417320" cy="365760"/>
          </a:xfrm>
          <a:prstGeom prst="rect">
            <a:avLst/>
          </a:prstGeom>
          <a:noFill/>
        </p:spPr>
        <p:txBody>
          <a:bodyPr wrap="square" anchor="t" lIns="0" rIns="0" tIns="0" bIns="0">
            <a:spAutoFit/>
          </a:bodyPr>
          <a:lstStyle/>
          <a:p>
            <a:pPr algn="ctr">
              <a:lnSpc>
                <a:spcPct val="100000"/>
              </a:lnSpc>
              <a:spcBef>
                <a:spcPts val="0"/>
              </a:spcBef>
              <a:spcAft>
                <a:spcPts val="600"/>
              </a:spcAft>
            </a:pPr>
            <a:r>
              <a:rPr sz="950" b="0" i="0">
                <a:solidFill>
                  <a:srgbClr val="1B2633"/>
                </a:solidFill>
                <a:latin typeface="Arial"/>
              </a:rPr>
              <a:t>prétraitement</a:t>
            </a:r>
          </a:p>
        </p:txBody>
      </p:sp>
      <p:sp>
        <p:nvSpPr>
          <p:cNvPr id="23" name="TextBox 22"/>
          <p:cNvSpPr txBox="1"/>
          <p:nvPr/>
        </p:nvSpPr>
        <p:spPr>
          <a:xfrm>
            <a:off x="9829800" y="4754880"/>
            <a:ext cx="411480" cy="548640"/>
          </a:xfrm>
          <a:prstGeom prst="rect">
            <a:avLst/>
          </a:prstGeom>
          <a:noFill/>
        </p:spPr>
        <p:txBody>
          <a:bodyPr wrap="square" anchor="t" lIns="0" rIns="0" tIns="0" bIns="0">
            <a:spAutoFit/>
          </a:bodyPr>
          <a:lstStyle/>
          <a:p>
            <a:pPr algn="ctr">
              <a:lnSpc>
                <a:spcPct val="100000"/>
              </a:lnSpc>
              <a:spcBef>
                <a:spcPts val="0"/>
              </a:spcBef>
              <a:spcAft>
                <a:spcPts val="600"/>
              </a:spcAft>
            </a:pPr>
            <a:r>
              <a:rPr sz="2200" b="1" i="0">
                <a:solidFill>
                  <a:srgbClr val="00B4C8"/>
                </a:solidFill>
                <a:latin typeface="Arial"/>
              </a:rPr>
              <a:t>→</a:t>
            </a:r>
          </a:p>
        </p:txBody>
      </p:sp>
      <p:sp>
        <p:nvSpPr>
          <p:cNvPr id="24" name="Rounded Rectangle 23"/>
          <p:cNvSpPr/>
          <p:nvPr/>
        </p:nvSpPr>
        <p:spPr>
          <a:xfrm>
            <a:off x="10241280" y="4617720"/>
            <a:ext cx="1417320" cy="1005840"/>
          </a:xfrm>
          <a:prstGeom prst="roundRect">
            <a:avLst/>
          </a:prstGeom>
          <a:solidFill>
            <a:srgbClr val="FFFFFF"/>
          </a:solidFill>
          <a:ln w="19050">
            <a:solidFill>
              <a:srgbClr val="2EC4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80" y="4736592"/>
            <a:ext cx="1417320" cy="457200"/>
          </a:xfrm>
          <a:prstGeom prst="rect">
            <a:avLst/>
          </a:prstGeom>
          <a:noFill/>
        </p:spPr>
        <p:txBody>
          <a:bodyPr wrap="square" anchor="t" lIns="0" rIns="0" tIns="0" bIns="0">
            <a:spAutoFit/>
          </a:bodyPr>
          <a:lstStyle/>
          <a:p>
            <a:pPr algn="ctr">
              <a:lnSpc>
                <a:spcPct val="100000"/>
              </a:lnSpc>
              <a:spcBef>
                <a:spcPts val="0"/>
              </a:spcBef>
              <a:spcAft>
                <a:spcPts val="600"/>
              </a:spcAft>
            </a:pPr>
            <a:r>
              <a:rPr sz="1700" b="1" i="0">
                <a:solidFill>
                  <a:srgbClr val="2EC48F"/>
                </a:solidFill>
                <a:latin typeface="Arial"/>
              </a:rPr>
              <a:t>-45,0 dBm</a:t>
            </a:r>
          </a:p>
        </p:txBody>
      </p:sp>
      <p:sp>
        <p:nvSpPr>
          <p:cNvPr id="26" name="TextBox 25"/>
          <p:cNvSpPr txBox="1"/>
          <p:nvPr/>
        </p:nvSpPr>
        <p:spPr>
          <a:xfrm>
            <a:off x="10241280" y="5193792"/>
            <a:ext cx="1417320" cy="365760"/>
          </a:xfrm>
          <a:prstGeom prst="rect">
            <a:avLst/>
          </a:prstGeom>
          <a:noFill/>
        </p:spPr>
        <p:txBody>
          <a:bodyPr wrap="square" anchor="t" lIns="0" rIns="0" tIns="0" bIns="0">
            <a:spAutoFit/>
          </a:bodyPr>
          <a:lstStyle/>
          <a:p>
            <a:pPr algn="ctr">
              <a:lnSpc>
                <a:spcPct val="100000"/>
              </a:lnSpc>
              <a:spcBef>
                <a:spcPts val="0"/>
              </a:spcBef>
              <a:spcAft>
                <a:spcPts val="600"/>
              </a:spcAft>
            </a:pPr>
            <a:r>
              <a:rPr sz="950" b="0" i="0">
                <a:solidFill>
                  <a:srgbClr val="1B2633"/>
                </a:solidFill>
                <a:latin typeface="Arial"/>
              </a:rPr>
              <a:t>stocké &amp; affiché</a:t>
            </a:r>
          </a:p>
        </p:txBody>
      </p:sp>
      <p:sp>
        <p:nvSpPr>
          <p:cNvPr id="27" name="TextBox 26"/>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8" name="TextBox 27"/>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3</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3 — SÉCURISATION</a:t>
            </a:r>
          </a:p>
          <a:p>
            <a:pPr algn="l">
              <a:lnSpc>
                <a:spcPct val="100000"/>
              </a:lnSpc>
              <a:spcBef>
                <a:spcPts val="0"/>
              </a:spcBef>
              <a:spcAft>
                <a:spcPts val="600"/>
              </a:spcAft>
            </a:pPr>
            <a:r>
              <a:rPr sz="2200" b="1" i="0">
                <a:solidFill>
                  <a:srgbClr val="FFFFFF"/>
                </a:solidFill>
                <a:latin typeface="Arial"/>
              </a:rPr>
              <a:t>Durcissement des flux &amp; identification des faisceaux</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POSTURE FERMÉE PAR DÉFAUT</a:t>
            </a:r>
          </a:p>
        </p:txBody>
      </p:sp>
      <p:sp>
        <p:nvSpPr>
          <p:cNvPr id="9" name="TextBox 8"/>
          <p:cNvSpPr txBox="1"/>
          <p:nvPr/>
        </p:nvSpPr>
        <p:spPr>
          <a:xfrm>
            <a:off x="502920" y="1737360"/>
            <a:ext cx="5577840" cy="457200"/>
          </a:xfrm>
          <a:prstGeom prst="rect">
            <a:avLst/>
          </a:prstGeom>
          <a:noFill/>
        </p:spPr>
        <p:txBody>
          <a:bodyPr wrap="square" lIns="0" rIns="0" tIns="0" bIns="0">
            <a:spAutoFit/>
          </a:bodyPr>
          <a:lstStyle/>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 Tout ce qui n’est pas autorisé est rejeté »</a:t>
            </a:r>
            <a:r>
              <a:rPr sz="1250" b="0">
                <a:solidFill>
                  <a:srgbClr val="1B2633"/>
                </a:solidFill>
                <a:latin typeface="Arial"/>
              </a:rPr>
              <a:t> — pare-feu en REJECT par défaut.</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Interfaces d’admin (SSH/HTTP/CLI) désactivées côté WAN</a:t>
            </a:r>
            <a:r>
              <a:rPr sz="1250" b="0">
                <a:solidFill>
                  <a:srgbClr val="1B2633"/>
                </a:solidFill>
                <a:latin typeface="Arial"/>
              </a:rPr>
              <a:t> : admin uniquement via tunnel RMS chiffré + MFA.</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Zonage strict</a:t>
            </a:r>
            <a:r>
              <a:rPr sz="1250" b="0">
                <a:solidFill>
                  <a:srgbClr val="1B2633"/>
                </a:solidFill>
                <a:latin typeface="Arial"/>
              </a:rPr>
              <a:t> : LAN / WAN / OpenVPN / RMS, aucun transit non prévu.</a:t>
            </a:r>
          </a:p>
          <a:p>
            <a:pPr>
              <a:lnSpc>
                <a:spcPct val="105000"/>
              </a:lnSpc>
              <a:spcBef>
                <a:spcPts val="0"/>
              </a:spcBef>
              <a:spcAft>
                <a:spcPts val="1000"/>
              </a:spcAft>
            </a:pPr>
            <a:r>
              <a:rPr sz="1250" b="1">
                <a:solidFill>
                  <a:srgbClr val="00B4C8"/>
                </a:solidFill>
                <a:latin typeface="Arial"/>
              </a:rPr>
              <a:t>▸  </a:t>
            </a:r>
            <a:r>
              <a:rPr sz="1250" b="1">
                <a:solidFill>
                  <a:srgbClr val="1B2633"/>
                </a:solidFill>
                <a:latin typeface="Arial"/>
              </a:rPr>
              <a:t>Seul flux entrant autorisé</a:t>
            </a:r>
            <a:r>
              <a:rPr sz="1250" b="0">
                <a:solidFill>
                  <a:srgbClr val="1B2633"/>
                </a:solidFill>
                <a:latin typeface="Arial"/>
              </a:rPr>
              <a:t> : le tunnel de supervision.</a:t>
            </a:r>
          </a:p>
        </p:txBody>
      </p:sp>
      <p:sp>
        <p:nvSpPr>
          <p:cNvPr id="10" name="Rounded Rectangle 9"/>
          <p:cNvSpPr/>
          <p:nvPr/>
        </p:nvSpPr>
        <p:spPr>
          <a:xfrm>
            <a:off x="6400800" y="1463040"/>
            <a:ext cx="5303520" cy="466344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463040"/>
            <a:ext cx="5303520" cy="5080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27632"/>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EC48F"/>
                </a:solidFill>
                <a:latin typeface="Arial"/>
              </a:rPr>
              <a:t>LES RÈGLES NoNat — IDENTIFIER CHAQUE FAISCEAU</a:t>
            </a:r>
          </a:p>
        </p:txBody>
      </p:sp>
      <p:sp>
        <p:nvSpPr>
          <p:cNvPr id="13" name="TextBox 12"/>
          <p:cNvSpPr txBox="1"/>
          <p:nvPr/>
        </p:nvSpPr>
        <p:spPr>
          <a:xfrm>
            <a:off x="6675120" y="2103120"/>
            <a:ext cx="4846320" cy="914400"/>
          </a:xfrm>
          <a:prstGeom prst="rect">
            <a:avLst/>
          </a:prstGeom>
          <a:noFill/>
        </p:spPr>
        <p:txBody>
          <a:bodyPr wrap="square" anchor="t" lIns="0" rIns="0" tIns="0" bIns="0">
            <a:spAutoFit/>
          </a:bodyPr>
          <a:lstStyle/>
          <a:p>
            <a:pPr algn="l">
              <a:lnSpc>
                <a:spcPct val="110000"/>
              </a:lnSpc>
              <a:spcBef>
                <a:spcPts val="0"/>
              </a:spcBef>
              <a:spcAft>
                <a:spcPts val="600"/>
              </a:spcAft>
            </a:pPr>
            <a:r>
              <a:rPr sz="1200" b="0" i="0">
                <a:solidFill>
                  <a:srgbClr val="FFFFFF"/>
                </a:solidFill>
                <a:latin typeface="Arial"/>
              </a:rPr>
              <a:t>Sans NoNat, le masquerade remplace l’IP de chaque IDU par celle du routeur : tous les faisceaux d’un site apparaissent identiques dans Zabbix.</a:t>
            </a:r>
          </a:p>
        </p:txBody>
      </p:sp>
      <p:sp>
        <p:nvSpPr>
          <p:cNvPr id="14" name="Rounded Rectangle 13"/>
          <p:cNvSpPr/>
          <p:nvPr/>
        </p:nvSpPr>
        <p:spPr>
          <a:xfrm>
            <a:off x="6675120" y="3200400"/>
            <a:ext cx="4754880" cy="960120"/>
          </a:xfrm>
          <a:prstGeom prst="roundRect">
            <a:avLst>
              <a:gd name="adj" fmla="val 6000"/>
            </a:avLst>
          </a:prstGeom>
          <a:solidFill>
            <a:srgbClr val="2A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291840"/>
            <a:ext cx="44805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E53E3E"/>
                </a:solidFill>
                <a:latin typeface="Arial"/>
              </a:rPr>
              <a:t>✗ Sans NoNat</a:t>
            </a:r>
          </a:p>
        </p:txBody>
      </p:sp>
      <p:sp>
        <p:nvSpPr>
          <p:cNvPr id="16" name="TextBox 15"/>
          <p:cNvSpPr txBox="1"/>
          <p:nvPr/>
        </p:nvSpPr>
        <p:spPr>
          <a:xfrm>
            <a:off x="6858000" y="3639312"/>
            <a:ext cx="4480560" cy="457200"/>
          </a:xfrm>
          <a:prstGeom prst="rect">
            <a:avLst/>
          </a:prstGeom>
          <a:noFill/>
        </p:spPr>
        <p:txBody>
          <a:bodyPr wrap="square" anchor="t" lIns="0" rIns="0" tIns="0" bIns="0">
            <a:spAutoFit/>
          </a:bodyPr>
          <a:lstStyle/>
          <a:p>
            <a:pPr algn="l">
              <a:lnSpc>
                <a:spcPct val="95000"/>
              </a:lnSpc>
              <a:spcBef>
                <a:spcPts val="0"/>
              </a:spcBef>
              <a:spcAft>
                <a:spcPts val="600"/>
              </a:spcAft>
            </a:pPr>
            <a:r>
              <a:rPr sz="1050" b="0" i="0">
                <a:solidFill>
                  <a:srgbClr val="E8C8C8"/>
                </a:solidFill>
                <a:latin typeface="Arial"/>
              </a:rPr>
              <a:t>3 faisceaux → 1 seule IP source → supervision individuelle impossible.</a:t>
            </a:r>
          </a:p>
        </p:txBody>
      </p:sp>
      <p:sp>
        <p:nvSpPr>
          <p:cNvPr id="17" name="Rounded Rectangle 16"/>
          <p:cNvSpPr/>
          <p:nvPr/>
        </p:nvSpPr>
        <p:spPr>
          <a:xfrm>
            <a:off x="6675120" y="4297680"/>
            <a:ext cx="4754880" cy="960120"/>
          </a:xfrm>
          <a:prstGeom prst="roundRect">
            <a:avLst>
              <a:gd name="adj" fmla="val 6000"/>
            </a:avLst>
          </a:prstGeom>
          <a:solidFill>
            <a:srgbClr val="122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4389120"/>
            <a:ext cx="44805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EC48F"/>
                </a:solidFill>
                <a:latin typeface="Arial"/>
              </a:rPr>
              <a:t>✓ Avec NoNat (ciblé SNMP)</a:t>
            </a:r>
          </a:p>
        </p:txBody>
      </p:sp>
      <p:sp>
        <p:nvSpPr>
          <p:cNvPr id="19" name="TextBox 18"/>
          <p:cNvSpPr txBox="1"/>
          <p:nvPr/>
        </p:nvSpPr>
        <p:spPr>
          <a:xfrm>
            <a:off x="6858000" y="4736592"/>
            <a:ext cx="4480560" cy="457200"/>
          </a:xfrm>
          <a:prstGeom prst="rect">
            <a:avLst/>
          </a:prstGeom>
          <a:noFill/>
        </p:spPr>
        <p:txBody>
          <a:bodyPr wrap="square" anchor="t" lIns="0" rIns="0" tIns="0" bIns="0">
            <a:spAutoFit/>
          </a:bodyPr>
          <a:lstStyle/>
          <a:p>
            <a:pPr algn="l">
              <a:lnSpc>
                <a:spcPct val="95000"/>
              </a:lnSpc>
              <a:spcBef>
                <a:spcPts val="0"/>
              </a:spcBef>
              <a:spcAft>
                <a:spcPts val="600"/>
              </a:spcAft>
            </a:pPr>
            <a:r>
              <a:rPr sz="1050" b="0" i="0">
                <a:solidFill>
                  <a:srgbClr val="C8E8D8"/>
                </a:solidFill>
                <a:latin typeface="Arial"/>
              </a:rPr>
              <a:t>IP source préservée → chaque faisceau identifié précisément en alarme.</a:t>
            </a:r>
          </a:p>
        </p:txBody>
      </p:sp>
      <p:sp>
        <p:nvSpPr>
          <p:cNvPr id="20" name="TextBox 19"/>
          <p:cNvSpPr txBox="1"/>
          <p:nvPr/>
        </p:nvSpPr>
        <p:spPr>
          <a:xfrm>
            <a:off x="6675120" y="5440680"/>
            <a:ext cx="4754880" cy="548640"/>
          </a:xfrm>
          <a:prstGeom prst="rect">
            <a:avLst/>
          </a:prstGeom>
          <a:noFill/>
        </p:spPr>
        <p:txBody>
          <a:bodyPr wrap="square" anchor="t" lIns="0" rIns="0" tIns="0" bIns="0">
            <a:spAutoFit/>
          </a:bodyPr>
          <a:lstStyle/>
          <a:p>
            <a:pPr algn="l">
              <a:lnSpc>
                <a:spcPct val="100000"/>
              </a:lnSpc>
              <a:spcBef>
                <a:spcPts val="0"/>
              </a:spcBef>
              <a:spcAft>
                <a:spcPts val="600"/>
              </a:spcAft>
            </a:pPr>
            <a:r>
              <a:rPr sz="1050" b="1" i="0">
                <a:solidFill>
                  <a:srgbClr val="B9C7D6"/>
                </a:solidFill>
                <a:latin typeface="Arial"/>
              </a:rPr>
              <a:t>Désactivation limitée au seul trafic de supervision → cloisonnement préservé.</a:t>
            </a:r>
          </a:p>
        </p:txBody>
      </p:sp>
      <p:sp>
        <p:nvSpPr>
          <p:cNvPr id="21" name="TextBox 20"/>
          <p:cNvSpPr txBox="1"/>
          <p:nvPr/>
        </p:nvSpPr>
        <p:spPr>
          <a:xfrm>
            <a:off x="502920" y="5120640"/>
            <a:ext cx="5577840" cy="1005840"/>
          </a:xfrm>
          <a:prstGeom prst="rect">
            <a:avLst/>
          </a:prstGeom>
          <a:noFill/>
        </p:spPr>
        <p:txBody>
          <a:bodyPr wrap="square" anchor="t" lIns="0" rIns="0" tIns="0" bIns="0">
            <a:spAutoFit/>
          </a:bodyPr>
          <a:lstStyle/>
          <a:p>
            <a:pPr algn="l">
              <a:lnSpc>
                <a:spcPct val="110000"/>
              </a:lnSpc>
              <a:spcBef>
                <a:spcPts val="0"/>
              </a:spcBef>
              <a:spcAft>
                <a:spcPts val="400"/>
              </a:spcAft>
            </a:pPr>
            <a:r>
              <a:rPr sz="1250" b="1" i="0">
                <a:solidFill>
                  <a:srgbClr val="0F1B2D"/>
                </a:solidFill>
                <a:latin typeface="Arial"/>
              </a:rPr>
              <a:t>Traduction opérationnelle directe des mesures EBIOS RM</a:t>
            </a:r>
          </a:p>
          <a:p>
            <a:pPr algn="l">
              <a:lnSpc>
                <a:spcPct val="110000"/>
              </a:lnSpc>
              <a:spcBef>
                <a:spcPts val="0"/>
              </a:spcBef>
              <a:spcAft>
                <a:spcPts val="400"/>
              </a:spcAft>
            </a:pPr>
            <a:r>
              <a:rPr sz="1200" b="0" i="0">
                <a:solidFill>
                  <a:srgbClr val="1B2633"/>
                </a:solidFill>
                <a:latin typeface="Arial"/>
              </a:rPr>
              <a:t>→ la surface d’attaque exposée chez le client est réduite au strict minimum.</a:t>
            </a:r>
          </a:p>
        </p:txBody>
      </p:sp>
      <p:sp>
        <p:nvSpPr>
          <p:cNvPr id="22" name="TextBox 21"/>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3" name="TextBox 22"/>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3</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3 — L’INTERFACE</a:t>
            </a:r>
          </a:p>
          <a:p>
            <a:pPr algn="l">
              <a:lnSpc>
                <a:spcPct val="100000"/>
              </a:lnSpc>
              <a:spcBef>
                <a:spcPts val="0"/>
              </a:spcBef>
              <a:spcAft>
                <a:spcPts val="600"/>
              </a:spcAft>
            </a:pPr>
            <a:r>
              <a:rPr sz="2200" b="1" i="0">
                <a:solidFill>
                  <a:srgbClr val="FFFFFF"/>
                </a:solidFill>
                <a:latin typeface="Arial"/>
              </a:rPr>
              <a:t>Restitution visuelle &amp; cartographie dynamique</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Deux niveaux de lecture pour transformer un flux de données brut en information immédiate.</a:t>
            </a:r>
          </a:p>
        </p:txBody>
      </p:sp>
      <p:sp>
        <p:nvSpPr>
          <p:cNvPr id="9" name="Rounded Rectangle 8"/>
          <p:cNvSpPr/>
          <p:nvPr/>
        </p:nvSpPr>
        <p:spPr>
          <a:xfrm>
            <a:off x="502920" y="1828800"/>
            <a:ext cx="5486400" cy="42062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28800"/>
            <a:ext cx="5486400" cy="54864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5120640" cy="548640"/>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FFFFFF"/>
                </a:solidFill>
                <a:latin typeface="Arial"/>
              </a:rPr>
              <a:t>NIVEAU OPÉRATIONNEL — ZABBIX</a:t>
            </a:r>
          </a:p>
        </p:txBody>
      </p:sp>
      <p:sp>
        <p:nvSpPr>
          <p:cNvPr id="12" name="Hexagon 11"/>
          <p:cNvSpPr/>
          <p:nvPr/>
        </p:nvSpPr>
        <p:spPr>
          <a:xfrm>
            <a:off x="868680" y="2606040"/>
            <a:ext cx="1371600" cy="777240"/>
          </a:xfrm>
          <a:prstGeom prst="hexagon">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060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-42 dBm</a:t>
            </a:r>
          </a:p>
        </p:txBody>
      </p:sp>
      <p:sp>
        <p:nvSpPr>
          <p:cNvPr id="14" name="Hexagon 13"/>
          <p:cNvSpPr/>
          <p:nvPr/>
        </p:nvSpPr>
        <p:spPr>
          <a:xfrm>
            <a:off x="2560320" y="2606040"/>
            <a:ext cx="1371600" cy="777240"/>
          </a:xfrm>
          <a:prstGeom prst="hexagon">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0" y="26060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-43 dBm</a:t>
            </a:r>
          </a:p>
        </p:txBody>
      </p:sp>
      <p:sp>
        <p:nvSpPr>
          <p:cNvPr id="16" name="Hexagon 15"/>
          <p:cNvSpPr/>
          <p:nvPr/>
        </p:nvSpPr>
        <p:spPr>
          <a:xfrm>
            <a:off x="4251960" y="2606040"/>
            <a:ext cx="1371600" cy="777240"/>
          </a:xfrm>
          <a:prstGeom prst="hexagon">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26060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-44 dBm</a:t>
            </a:r>
          </a:p>
        </p:txBody>
      </p:sp>
      <p:sp>
        <p:nvSpPr>
          <p:cNvPr id="18" name="Hexagon 17"/>
          <p:cNvSpPr/>
          <p:nvPr/>
        </p:nvSpPr>
        <p:spPr>
          <a:xfrm>
            <a:off x="868680" y="3520440"/>
            <a:ext cx="1371600" cy="777240"/>
          </a:xfrm>
          <a:prstGeom prst="hexagon">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5204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-45 dBm</a:t>
            </a:r>
          </a:p>
        </p:txBody>
      </p:sp>
      <p:sp>
        <p:nvSpPr>
          <p:cNvPr id="20" name="Hexagon 19"/>
          <p:cNvSpPr/>
          <p:nvPr/>
        </p:nvSpPr>
        <p:spPr>
          <a:xfrm>
            <a:off x="2560320" y="3520440"/>
            <a:ext cx="1371600" cy="777240"/>
          </a:xfrm>
          <a:prstGeom prst="hexagon">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0" y="35204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-46 dBm</a:t>
            </a:r>
          </a:p>
        </p:txBody>
      </p:sp>
      <p:sp>
        <p:nvSpPr>
          <p:cNvPr id="22" name="Hexagon 21"/>
          <p:cNvSpPr/>
          <p:nvPr/>
        </p:nvSpPr>
        <p:spPr>
          <a:xfrm>
            <a:off x="4251960" y="3520440"/>
            <a:ext cx="1371600" cy="777240"/>
          </a:xfrm>
          <a:prstGeom prst="hexagon">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60" y="3520440"/>
            <a:ext cx="1371600" cy="777240"/>
          </a:xfrm>
          <a:prstGeom prst="rect">
            <a:avLst/>
          </a:prstGeom>
          <a:noFill/>
        </p:spPr>
        <p:txBody>
          <a:bodyPr wrap="square" anchor="ctr" lIns="0" rIns="0" tIns="0" bIns="0">
            <a:spAutoFit/>
          </a:bodyPr>
          <a:lstStyle/>
          <a:p>
            <a:pPr algn="ctr">
              <a:lnSpc>
                <a:spcPct val="100000"/>
              </a:lnSpc>
              <a:spcBef>
                <a:spcPts val="0"/>
              </a:spcBef>
              <a:spcAft>
                <a:spcPts val="600"/>
              </a:spcAft>
            </a:pPr>
            <a:r>
              <a:rPr sz="1100" b="1" i="0">
                <a:solidFill>
                  <a:srgbClr val="FFFFFF"/>
                </a:solidFill>
                <a:latin typeface="Arial"/>
              </a:rPr>
              <a:t>-47 dBm</a:t>
            </a:r>
          </a:p>
        </p:txBody>
      </p:sp>
      <p:sp>
        <p:nvSpPr>
          <p:cNvPr id="24" name="TextBox 23"/>
          <p:cNvSpPr txBox="1"/>
          <p:nvPr/>
        </p:nvSpPr>
        <p:spPr>
          <a:xfrm>
            <a:off x="777240" y="4526280"/>
            <a:ext cx="5029200" cy="457200"/>
          </a:xfrm>
          <a:prstGeom prst="rect">
            <a:avLst/>
          </a:prstGeom>
          <a:noFill/>
        </p:spPr>
        <p:txBody>
          <a:bodyPr wrap="square" lIns="0" rIns="0" tIns="0" bIns="0">
            <a:spAutoFit/>
          </a:bodyPr>
          <a:lstStyle/>
          <a:p>
            <a:pPr>
              <a:lnSpc>
                <a:spcPct val="105000"/>
              </a:lnSpc>
              <a:spcBef>
                <a:spcPts val="0"/>
              </a:spcBef>
              <a:spcAft>
                <a:spcPts val="700"/>
              </a:spcAft>
            </a:pPr>
            <a:r>
              <a:rPr sz="1150" b="1">
                <a:solidFill>
                  <a:srgbClr val="00B4C8"/>
                </a:solidFill>
                <a:latin typeface="Arial"/>
              </a:rPr>
              <a:t>▸  </a:t>
            </a:r>
            <a:r>
              <a:rPr sz="1150">
                <a:solidFill>
                  <a:srgbClr val="1B2633"/>
                </a:solidFill>
                <a:latin typeface="Arial"/>
              </a:rPr>
              <a:t>Panneaux hexagonaux Rx en temps réel (rouge dès qu’une alarme est active).</a:t>
            </a:r>
          </a:p>
          <a:p>
            <a:pPr>
              <a:lnSpc>
                <a:spcPct val="105000"/>
              </a:lnSpc>
              <a:spcBef>
                <a:spcPts val="0"/>
              </a:spcBef>
              <a:spcAft>
                <a:spcPts val="700"/>
              </a:spcAft>
            </a:pPr>
            <a:r>
              <a:rPr sz="1150" b="1">
                <a:solidFill>
                  <a:srgbClr val="00B4C8"/>
                </a:solidFill>
                <a:latin typeface="Arial"/>
              </a:rPr>
              <a:t>▸  </a:t>
            </a:r>
            <a:r>
              <a:rPr sz="1150">
                <a:solidFill>
                  <a:srgbClr val="1B2633"/>
                </a:solidFill>
                <a:latin typeface="Arial"/>
              </a:rPr>
              <a:t>Tables Rx/Tx par hôte + panneaux de disponibilité (SLO) par client.</a:t>
            </a:r>
          </a:p>
          <a:p>
            <a:pPr>
              <a:lnSpc>
                <a:spcPct val="105000"/>
              </a:lnSpc>
              <a:spcBef>
                <a:spcPts val="0"/>
              </a:spcBef>
              <a:spcAft>
                <a:spcPts val="700"/>
              </a:spcAft>
            </a:pPr>
            <a:r>
              <a:rPr sz="1150" b="1">
                <a:solidFill>
                  <a:srgbClr val="00B4C8"/>
                </a:solidFill>
                <a:latin typeface="Arial"/>
              </a:rPr>
              <a:t>▸  </a:t>
            </a:r>
            <a:r>
              <a:rPr sz="1150">
                <a:solidFill>
                  <a:srgbClr val="1B2633"/>
                </a:solidFill>
                <a:latin typeface="Arial"/>
              </a:rPr>
              <a:t>E-mail automatique d’alerte ET de résolution, acquittement nominatif.</a:t>
            </a:r>
          </a:p>
        </p:txBody>
      </p:sp>
      <p:sp>
        <p:nvSpPr>
          <p:cNvPr id="25" name="Rounded Rectangle 24"/>
          <p:cNvSpPr/>
          <p:nvPr/>
        </p:nvSpPr>
        <p:spPr>
          <a:xfrm>
            <a:off x="6217920" y="1828800"/>
            <a:ext cx="5486400" cy="420624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828800"/>
            <a:ext cx="5486400" cy="54864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1828800"/>
            <a:ext cx="5120640" cy="548640"/>
          </a:xfrm>
          <a:prstGeom prst="rect">
            <a:avLst/>
          </a:prstGeom>
          <a:noFill/>
        </p:spPr>
        <p:txBody>
          <a:bodyPr wrap="square" anchor="ctr" lIns="0" rIns="0" tIns="0" bIns="0">
            <a:spAutoFit/>
          </a:bodyPr>
          <a:lstStyle/>
          <a:p>
            <a:pPr algn="l">
              <a:lnSpc>
                <a:spcPct val="100000"/>
              </a:lnSpc>
              <a:spcBef>
                <a:spcPts val="0"/>
              </a:spcBef>
              <a:spcAft>
                <a:spcPts val="600"/>
              </a:spcAft>
            </a:pPr>
            <a:r>
              <a:rPr sz="1300" b="1" i="0">
                <a:solidFill>
                  <a:srgbClr val="FFFFFF"/>
                </a:solidFill>
                <a:latin typeface="Arial"/>
              </a:rPr>
              <a:t>NIVEAU CARTOGRAPHIQUE — GRAFANA</a:t>
            </a:r>
          </a:p>
        </p:txBody>
      </p:sp>
      <p:sp>
        <p:nvSpPr>
          <p:cNvPr id="28" name="Rounded Rectangle 27"/>
          <p:cNvSpPr/>
          <p:nvPr/>
        </p:nvSpPr>
        <p:spPr>
          <a:xfrm>
            <a:off x="6492240" y="2606040"/>
            <a:ext cx="4937760" cy="1783080"/>
          </a:xfrm>
          <a:prstGeom prst="roundRect">
            <a:avLst/>
          </a:prstGeom>
          <a:solidFill>
            <a:srgbClr val="E3E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49440" y="2926080"/>
            <a:ext cx="164592" cy="164592"/>
          </a:xfrm>
          <a:prstGeom prst="ellipse">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503920" y="2743200"/>
            <a:ext cx="164592" cy="164592"/>
          </a:xfrm>
          <a:prstGeom prst="ellipse">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424160" y="3108960"/>
            <a:ext cx="164592" cy="164592"/>
          </a:xfrm>
          <a:prstGeom prst="ellipse">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498079" y="3840480"/>
            <a:ext cx="164592" cy="164592"/>
          </a:xfrm>
          <a:prstGeom prst="ellipse">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0" y="3931920"/>
            <a:ext cx="164592" cy="164592"/>
          </a:xfrm>
          <a:prstGeom prst="ellipse">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778240" y="3474720"/>
            <a:ext cx="164592" cy="164592"/>
          </a:xfrm>
          <a:prstGeom prst="ellipse">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V="1">
            <a:off x="7031736" y="2825496"/>
            <a:ext cx="1554480" cy="182880"/>
          </a:xfrm>
          <a:prstGeom prst="bentConnector3">
            <a:avLst/>
          </a:prstGeom>
          <a:ln w="25400">
            <a:solidFill>
              <a:srgbClr val="2EC48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586216" y="2825496"/>
            <a:ext cx="274320" cy="731519"/>
          </a:xfrm>
          <a:prstGeom prst="bentConnector3">
            <a:avLst/>
          </a:prstGeom>
          <a:ln w="25400">
            <a:solidFill>
              <a:srgbClr val="F2A63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860536" y="3191256"/>
            <a:ext cx="1645920" cy="365759"/>
          </a:xfrm>
          <a:prstGeom prst="bentConnector3">
            <a:avLst/>
          </a:prstGeom>
          <a:ln w="25400">
            <a:solidFill>
              <a:srgbClr val="E53E3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580375" y="3557015"/>
            <a:ext cx="1280161" cy="365761"/>
          </a:xfrm>
          <a:prstGeom prst="bentConnector3">
            <a:avLst/>
          </a:prstGeom>
          <a:ln w="25400">
            <a:solidFill>
              <a:srgbClr val="2EC48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774936" y="3191256"/>
            <a:ext cx="731520" cy="822959"/>
          </a:xfrm>
          <a:prstGeom prst="bentConnector3">
            <a:avLst/>
          </a:prstGeom>
          <a:ln w="25400">
            <a:solidFill>
              <a:srgbClr val="E53E3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46520" y="4526280"/>
            <a:ext cx="5029200" cy="457200"/>
          </a:xfrm>
          <a:prstGeom prst="rect">
            <a:avLst/>
          </a:prstGeom>
          <a:noFill/>
        </p:spPr>
        <p:txBody>
          <a:bodyPr wrap="square" lIns="0" rIns="0" tIns="0" bIns="0">
            <a:spAutoFit/>
          </a:bodyPr>
          <a:lstStyle/>
          <a:p>
            <a:pPr>
              <a:lnSpc>
                <a:spcPct val="105000"/>
              </a:lnSpc>
              <a:spcBef>
                <a:spcPts val="0"/>
              </a:spcBef>
              <a:spcAft>
                <a:spcPts val="700"/>
              </a:spcAft>
            </a:pPr>
            <a:r>
              <a:rPr sz="1150" b="1">
                <a:solidFill>
                  <a:srgbClr val="00B4C8"/>
                </a:solidFill>
                <a:latin typeface="Arial"/>
              </a:rPr>
              <a:t>▸  </a:t>
            </a:r>
            <a:r>
              <a:rPr sz="1150" b="1">
                <a:solidFill>
                  <a:srgbClr val="1B2633"/>
                </a:solidFill>
                <a:latin typeface="Arial"/>
              </a:rPr>
              <a:t>Script grafana_topology.py</a:t>
            </a:r>
            <a:r>
              <a:rPr sz="1150" b="0">
                <a:solidFill>
                  <a:srgbClr val="1B2633"/>
                </a:solidFill>
                <a:latin typeface="Arial"/>
              </a:rPr>
              <a:t> développé sur-mesure : lit MySQL Zabbix → GeoJSON (plugin Geomap).</a:t>
            </a:r>
          </a:p>
          <a:p>
            <a:pPr>
              <a:lnSpc>
                <a:spcPct val="105000"/>
              </a:lnSpc>
              <a:spcBef>
                <a:spcPts val="0"/>
              </a:spcBef>
              <a:spcAft>
                <a:spcPts val="700"/>
              </a:spcAft>
            </a:pPr>
            <a:r>
              <a:rPr sz="1150" b="1">
                <a:solidFill>
                  <a:srgbClr val="00B4C8"/>
                </a:solidFill>
                <a:latin typeface="Arial"/>
              </a:rPr>
              <a:t>▸  </a:t>
            </a:r>
            <a:r>
              <a:rPr sz="1150">
                <a:solidFill>
                  <a:srgbClr val="1B2633"/>
                </a:solidFill>
                <a:latin typeface="Arial"/>
              </a:rPr>
              <a:t>Liaisons tracées site-à-site ; trait rouge = faisceau en alarme.</a:t>
            </a:r>
          </a:p>
          <a:p>
            <a:pPr>
              <a:lnSpc>
                <a:spcPct val="105000"/>
              </a:lnSpc>
              <a:spcBef>
                <a:spcPts val="0"/>
              </a:spcBef>
              <a:spcAft>
                <a:spcPts val="700"/>
              </a:spcAft>
            </a:pPr>
            <a:r>
              <a:rPr sz="1150" b="1">
                <a:solidFill>
                  <a:srgbClr val="00B4C8"/>
                </a:solidFill>
                <a:latin typeface="Arial"/>
              </a:rPr>
              <a:t>▸  </a:t>
            </a:r>
            <a:r>
              <a:rPr sz="1150">
                <a:solidFill>
                  <a:srgbClr val="1B2633"/>
                </a:solidFill>
                <a:latin typeface="Arial"/>
              </a:rPr>
              <a:t>Pop-up : Rx/Tx, alarmes actives, lien direct vers l’équipement.</a:t>
            </a:r>
          </a:p>
        </p:txBody>
      </p:sp>
      <p:sp>
        <p:nvSpPr>
          <p:cNvPr id="41" name="TextBox 40"/>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42" name="TextBox 41"/>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3</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3 — AU-DELÀ DU PÉRIMÈTRE</a:t>
            </a:r>
          </a:p>
          <a:p>
            <a:pPr algn="l">
              <a:lnSpc>
                <a:spcPct val="100000"/>
              </a:lnSpc>
              <a:spcBef>
                <a:spcPts val="0"/>
              </a:spcBef>
              <a:spcAft>
                <a:spcPts val="600"/>
              </a:spcAft>
            </a:pPr>
            <a:r>
              <a:rPr sz="2200" b="1" i="0">
                <a:solidFill>
                  <a:srgbClr val="FFFFFF"/>
                </a:solidFill>
                <a:latin typeface="Arial"/>
              </a:rPr>
              <a:t>L’IA locale comme accélérateur technique</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411480"/>
          </a:xfrm>
          <a:prstGeom prst="rect">
            <a:avLst/>
          </a:prstGeom>
          <a:noFill/>
        </p:spPr>
        <p:txBody>
          <a:bodyPr wrap="square" anchor="t" lIns="0" rIns="0" tIns="0" bIns="0">
            <a:spAutoFit/>
          </a:bodyPr>
          <a:lstStyle/>
          <a:p>
            <a:pPr algn="l">
              <a:lnSpc>
                <a:spcPct val="100000"/>
              </a:lnSpc>
              <a:spcBef>
                <a:spcPts val="0"/>
              </a:spcBef>
              <a:spcAft>
                <a:spcPts val="600"/>
              </a:spcAft>
            </a:pPr>
            <a:r>
              <a:rPr sz="1300" b="0" i="0">
                <a:solidFill>
                  <a:srgbClr val="6B7A8C"/>
                </a:solidFill>
                <a:latin typeface="Arial"/>
              </a:rPr>
              <a:t>Deux prototypes exploratoires, exécutés </a:t>
            </a:r>
            <a:r>
              <a:rPr sz="1300" b="1" i="0">
                <a:solidFill>
                  <a:srgbClr val="00B4C8"/>
                </a:solidFill>
                <a:latin typeface="Arial"/>
              </a:rPr>
              <a:t>100 % en local (Ollama)</a:t>
            </a:r>
            <a:r>
              <a:rPr sz="1300" b="0" i="0">
                <a:solidFill>
                  <a:srgbClr val="6B7A8C"/>
                </a:solidFill>
                <a:latin typeface="Arial"/>
              </a:rPr>
              <a:t> — confidentialité des données, aucun cloud tiers.</a:t>
            </a:r>
          </a:p>
        </p:txBody>
      </p:sp>
      <p:sp>
        <p:nvSpPr>
          <p:cNvPr id="9" name="Rounded Rectangle 8"/>
          <p:cNvSpPr/>
          <p:nvPr/>
        </p:nvSpPr>
        <p:spPr>
          <a:xfrm>
            <a:off x="502920" y="1874519"/>
            <a:ext cx="5486400" cy="338328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74519"/>
            <a:ext cx="109728" cy="338328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57400"/>
            <a:ext cx="4937760" cy="45720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0F1B2D"/>
                </a:solidFill>
                <a:latin typeface="Arial"/>
              </a:rPr>
              <a:t>① Corrélation d’alarmes</a:t>
            </a:r>
          </a:p>
        </p:txBody>
      </p:sp>
      <p:sp>
        <p:nvSpPr>
          <p:cNvPr id="12" name="TextBox 11"/>
          <p:cNvSpPr txBox="1"/>
          <p:nvPr/>
        </p:nvSpPr>
        <p:spPr>
          <a:xfrm>
            <a:off x="822960" y="2514600"/>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Ollama + DBSCAN (clustering non supervisé)</a:t>
            </a:r>
          </a:p>
        </p:txBody>
      </p:sp>
      <p:sp>
        <p:nvSpPr>
          <p:cNvPr id="13" name="TextBox 12"/>
          <p:cNvSpPr txBox="1"/>
          <p:nvPr/>
        </p:nvSpPr>
        <p:spPr>
          <a:xfrm>
            <a:off x="822960" y="2971800"/>
            <a:ext cx="493776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Rapproche traps SNMP, niveaux Rx, logs Zabbix dans une même fenêtre temporelle.</a:t>
            </a:r>
          </a:p>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Objectif : faire émerger une cause racine à partir de signaux dispersés.</a:t>
            </a:r>
          </a:p>
          <a:p>
            <a:pPr>
              <a:lnSpc>
                <a:spcPct val="105000"/>
              </a:lnSpc>
              <a:spcBef>
                <a:spcPts val="0"/>
              </a:spcBef>
              <a:spcAft>
                <a:spcPts val="900"/>
              </a:spcAft>
            </a:pPr>
            <a:r>
              <a:rPr sz="1200" b="1">
                <a:solidFill>
                  <a:srgbClr val="00B4C8"/>
                </a:solidFill>
                <a:latin typeface="Arial"/>
              </a:rPr>
              <a:t>▸  </a:t>
            </a:r>
            <a:r>
              <a:rPr sz="1200">
                <a:solidFill>
                  <a:srgbClr val="1B2633"/>
                </a:solidFill>
                <a:latin typeface="Arial"/>
              </a:rPr>
              <a:t>Aide aussi à l’analyse des MIB et à la construction des regex.</a:t>
            </a:r>
          </a:p>
        </p:txBody>
      </p:sp>
      <p:sp>
        <p:nvSpPr>
          <p:cNvPr id="14" name="Rounded Rectangle 13"/>
          <p:cNvSpPr/>
          <p:nvPr/>
        </p:nvSpPr>
        <p:spPr>
          <a:xfrm>
            <a:off x="6217920" y="1874519"/>
            <a:ext cx="5486400" cy="338328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874519"/>
            <a:ext cx="109728" cy="338328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057400"/>
            <a:ext cx="4937760" cy="457200"/>
          </a:xfrm>
          <a:prstGeom prst="rect">
            <a:avLst/>
          </a:prstGeom>
          <a:noFill/>
        </p:spPr>
        <p:txBody>
          <a:bodyPr wrap="square" anchor="t" lIns="0" rIns="0" tIns="0" bIns="0">
            <a:spAutoFit/>
          </a:bodyPr>
          <a:lstStyle/>
          <a:p>
            <a:pPr algn="l">
              <a:lnSpc>
                <a:spcPct val="100000"/>
              </a:lnSpc>
              <a:spcBef>
                <a:spcPts val="0"/>
              </a:spcBef>
              <a:spcAft>
                <a:spcPts val="600"/>
              </a:spcAft>
            </a:pPr>
            <a:r>
              <a:rPr sz="1600" b="1" i="0">
                <a:solidFill>
                  <a:srgbClr val="FFFFFF"/>
                </a:solidFill>
                <a:latin typeface="Arial"/>
              </a:rPr>
              <a:t>② Assistant conversationnel</a:t>
            </a:r>
          </a:p>
        </p:txBody>
      </p:sp>
      <p:sp>
        <p:nvSpPr>
          <p:cNvPr id="17" name="TextBox 16"/>
          <p:cNvSpPr txBox="1"/>
          <p:nvPr/>
        </p:nvSpPr>
        <p:spPr>
          <a:xfrm>
            <a:off x="6537960" y="2514600"/>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EC48F"/>
                </a:solidFill>
                <a:latin typeface="Arial"/>
              </a:rPr>
              <a:t>Modèle Mistral hébergé localement</a:t>
            </a:r>
          </a:p>
        </p:txBody>
      </p:sp>
      <p:sp>
        <p:nvSpPr>
          <p:cNvPr id="18" name="TextBox 17"/>
          <p:cNvSpPr txBox="1"/>
          <p:nvPr/>
        </p:nvSpPr>
        <p:spPr>
          <a:xfrm>
            <a:off x="6537960" y="2971800"/>
            <a:ext cx="4937760" cy="457200"/>
          </a:xfrm>
          <a:prstGeom prst="rect">
            <a:avLst/>
          </a:prstGeom>
          <a:noFill/>
        </p:spPr>
        <p:txBody>
          <a:bodyPr wrap="square" lIns="0" rIns="0" tIns="0" bIns="0">
            <a:spAutoFit/>
          </a:bodyPr>
          <a:lstStyle/>
          <a:p>
            <a:pPr>
              <a:lnSpc>
                <a:spcPct val="105000"/>
              </a:lnSpc>
              <a:spcBef>
                <a:spcPts val="0"/>
              </a:spcBef>
              <a:spcAft>
                <a:spcPts val="900"/>
              </a:spcAft>
            </a:pPr>
            <a:r>
              <a:rPr sz="1200" b="1">
                <a:solidFill>
                  <a:srgbClr val="2EC48F"/>
                </a:solidFill>
                <a:latin typeface="Arial"/>
              </a:rPr>
              <a:t>▸  </a:t>
            </a:r>
            <a:r>
              <a:rPr sz="1200">
                <a:solidFill>
                  <a:srgbClr val="FFFFFF"/>
                </a:solidFill>
                <a:latin typeface="Arial"/>
              </a:rPr>
              <a:t>Consultation de la supervision en langage naturel (utile en astreinte).</a:t>
            </a:r>
          </a:p>
          <a:p>
            <a:pPr>
              <a:lnSpc>
                <a:spcPct val="105000"/>
              </a:lnSpc>
              <a:spcBef>
                <a:spcPts val="0"/>
              </a:spcBef>
              <a:spcAft>
                <a:spcPts val="900"/>
              </a:spcAft>
            </a:pPr>
            <a:r>
              <a:rPr sz="1200" b="1">
                <a:solidFill>
                  <a:srgbClr val="2EC48F"/>
                </a:solidFill>
                <a:latin typeface="Arial"/>
              </a:rPr>
              <a:t>▸  </a:t>
            </a:r>
            <a:r>
              <a:rPr sz="1200">
                <a:solidFill>
                  <a:srgbClr val="FFFFFF"/>
                </a:solidFill>
                <a:latin typeface="Arial"/>
              </a:rPr>
              <a:t>Intégré au portail centralisé (SSO Microsoft Entra ID + MFA).</a:t>
            </a:r>
          </a:p>
          <a:p>
            <a:pPr>
              <a:lnSpc>
                <a:spcPct val="105000"/>
              </a:lnSpc>
              <a:spcBef>
                <a:spcPts val="0"/>
              </a:spcBef>
              <a:spcAft>
                <a:spcPts val="900"/>
              </a:spcAft>
            </a:pPr>
            <a:r>
              <a:rPr sz="1200" b="1">
                <a:solidFill>
                  <a:srgbClr val="2EC48F"/>
                </a:solidFill>
                <a:latin typeface="Arial"/>
              </a:rPr>
              <a:t>▸  </a:t>
            </a:r>
            <a:r>
              <a:rPr sz="1200">
                <a:solidFill>
                  <a:srgbClr val="FFFFFF"/>
                </a:solidFill>
                <a:latin typeface="Arial"/>
              </a:rPr>
              <a:t>Choix Mistral : français, taille adaptée au serveur HPE, modèle ouvert.</a:t>
            </a:r>
          </a:p>
        </p:txBody>
      </p:sp>
      <p:sp>
        <p:nvSpPr>
          <p:cNvPr id="19" name="Rounded Rectangle 18"/>
          <p:cNvSpPr/>
          <p:nvPr/>
        </p:nvSpPr>
        <p:spPr>
          <a:xfrm>
            <a:off x="502920" y="5440680"/>
            <a:ext cx="11201400" cy="685800"/>
          </a:xfrm>
          <a:prstGeom prst="roundRect">
            <a:avLst>
              <a:gd name="adj" fmla="val 6000"/>
            </a:avLst>
          </a:prstGeom>
          <a:solidFill>
            <a:srgbClr val="FD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440680"/>
            <a:ext cx="91440" cy="6858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40680"/>
            <a:ext cx="10789920" cy="685800"/>
          </a:xfrm>
          <a:prstGeom prst="rect">
            <a:avLst/>
          </a:prstGeom>
          <a:noFill/>
        </p:spPr>
        <p:txBody>
          <a:bodyPr wrap="square" anchor="ctr" lIns="0" rIns="0" tIns="0" bIns="0">
            <a:spAutoFit/>
          </a:bodyPr>
          <a:lstStyle/>
          <a:p>
            <a:pPr algn="l">
              <a:lnSpc>
                <a:spcPct val="100000"/>
              </a:lnSpc>
              <a:spcBef>
                <a:spcPts val="0"/>
              </a:spcBef>
              <a:spcAft>
                <a:spcPts val="600"/>
              </a:spcAft>
            </a:pPr>
            <a:r>
              <a:rPr sz="1250" b="1" i="0">
                <a:solidFill>
                  <a:srgbClr val="F2A63B"/>
                </a:solidFill>
                <a:latin typeface="Arial"/>
              </a:rPr>
              <a:t>Posture honnête : </a:t>
            </a:r>
            <a:r>
              <a:rPr sz="1250" b="0" i="0">
                <a:solidFill>
                  <a:srgbClr val="1B2633"/>
                </a:solidFill>
                <a:latin typeface="Arial"/>
              </a:rPr>
              <a:t>ce sont des pistes d’expérimentation validant un intérêt — pas encore des fonctions industrialisées en production.</a:t>
            </a:r>
          </a:p>
        </p:txBody>
      </p:sp>
      <p:sp>
        <p:nvSpPr>
          <p:cNvPr id="22" name="TextBox 21"/>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23" name="TextBox 22"/>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4</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4</a:t>
            </a:r>
          </a:p>
          <a:p>
            <a:pPr algn="l">
              <a:lnSpc>
                <a:spcPct val="100000"/>
              </a:lnSpc>
              <a:spcBef>
                <a:spcPts val="0"/>
              </a:spcBef>
              <a:spcAft>
                <a:spcPts val="600"/>
              </a:spcAft>
            </a:pPr>
            <a:r>
              <a:rPr sz="2200" b="1" i="0">
                <a:solidFill>
                  <a:srgbClr val="FFFFFF"/>
                </a:solidFill>
                <a:latin typeface="Arial"/>
              </a:rPr>
              <a:t>Impacts financiers — Rentabilité (ROI / TCO)</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2697480" cy="1371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91440" cy="13716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563624"/>
            <a:ext cx="233172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00B4C8"/>
                </a:solidFill>
                <a:latin typeface="Arial"/>
              </a:rPr>
              <a:t>310 %</a:t>
            </a:r>
          </a:p>
        </p:txBody>
      </p:sp>
      <p:sp>
        <p:nvSpPr>
          <p:cNvPr id="11" name="TextBox 10"/>
          <p:cNvSpPr txBox="1"/>
          <p:nvPr/>
        </p:nvSpPr>
        <p:spPr>
          <a:xfrm>
            <a:off x="758952" y="2203704"/>
            <a:ext cx="2331720" cy="50292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ROI cumulé à 5 ans</a:t>
            </a:r>
          </a:p>
        </p:txBody>
      </p:sp>
      <p:sp>
        <p:nvSpPr>
          <p:cNvPr id="12" name="Rounded Rectangle 11"/>
          <p:cNvSpPr/>
          <p:nvPr/>
        </p:nvSpPr>
        <p:spPr>
          <a:xfrm>
            <a:off x="3337560" y="1417320"/>
            <a:ext cx="2697480" cy="1371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417320"/>
            <a:ext cx="91440" cy="137160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563624"/>
            <a:ext cx="233172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2EC48F"/>
                </a:solidFill>
                <a:latin typeface="Arial"/>
              </a:rPr>
              <a:t>14,6 mois</a:t>
            </a:r>
          </a:p>
        </p:txBody>
      </p:sp>
      <p:sp>
        <p:nvSpPr>
          <p:cNvPr id="15" name="TextBox 14"/>
          <p:cNvSpPr txBox="1"/>
          <p:nvPr/>
        </p:nvSpPr>
        <p:spPr>
          <a:xfrm>
            <a:off x="3593592" y="2203704"/>
            <a:ext cx="2331720" cy="50292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Point mort après mise en prod.</a:t>
            </a:r>
          </a:p>
        </p:txBody>
      </p:sp>
      <p:sp>
        <p:nvSpPr>
          <p:cNvPr id="16" name="Rounded Rectangle 15"/>
          <p:cNvSpPr/>
          <p:nvPr/>
        </p:nvSpPr>
        <p:spPr>
          <a:xfrm>
            <a:off x="6172200" y="1417320"/>
            <a:ext cx="2697480" cy="1371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1417320"/>
            <a:ext cx="91440" cy="13716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563624"/>
            <a:ext cx="233172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00B4C8"/>
                </a:solidFill>
                <a:latin typeface="Arial"/>
              </a:rPr>
              <a:t>176 284 €</a:t>
            </a:r>
          </a:p>
        </p:txBody>
      </p:sp>
      <p:sp>
        <p:nvSpPr>
          <p:cNvPr id="19" name="TextBox 18"/>
          <p:cNvSpPr txBox="1"/>
          <p:nvPr/>
        </p:nvSpPr>
        <p:spPr>
          <a:xfrm>
            <a:off x="6428232" y="2203704"/>
            <a:ext cx="2331720" cy="50292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Gain net absolu sur 5 ans</a:t>
            </a:r>
          </a:p>
        </p:txBody>
      </p:sp>
      <p:sp>
        <p:nvSpPr>
          <p:cNvPr id="20" name="Rounded Rectangle 19"/>
          <p:cNvSpPr/>
          <p:nvPr/>
        </p:nvSpPr>
        <p:spPr>
          <a:xfrm>
            <a:off x="9006840" y="1417320"/>
            <a:ext cx="2697480" cy="137160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1417320"/>
            <a:ext cx="91440" cy="13716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2872" y="1563624"/>
            <a:ext cx="233172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0F1B2D"/>
                </a:solidFill>
                <a:latin typeface="Arial"/>
              </a:rPr>
              <a:t>56 646 €</a:t>
            </a:r>
          </a:p>
        </p:txBody>
      </p:sp>
      <p:sp>
        <p:nvSpPr>
          <p:cNvPr id="23" name="TextBox 22"/>
          <p:cNvSpPr txBox="1"/>
          <p:nvPr/>
        </p:nvSpPr>
        <p:spPr>
          <a:xfrm>
            <a:off x="9262872" y="2203704"/>
            <a:ext cx="2331720" cy="50292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Investissement total (TCO)</a:t>
            </a:r>
          </a:p>
        </p:txBody>
      </p:sp>
      <p:sp>
        <p:nvSpPr>
          <p:cNvPr id="24" name="TextBox 23"/>
          <p:cNvSpPr txBox="1"/>
          <p:nvPr/>
        </p:nvSpPr>
        <p:spPr>
          <a:xfrm>
            <a:off x="502920" y="306324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0B4C8"/>
                </a:solidFill>
                <a:latin typeface="Arial"/>
              </a:rPr>
              <a:t>STRUCTURE DU COÛT (TCO)</a:t>
            </a:r>
          </a:p>
        </p:txBody>
      </p:sp>
      <p:sp>
        <p:nvSpPr>
          <p:cNvPr id="25" name="TextBox 24"/>
          <p:cNvSpPr txBox="1"/>
          <p:nvPr/>
        </p:nvSpPr>
        <p:spPr>
          <a:xfrm>
            <a:off x="502920" y="3474720"/>
            <a:ext cx="4023360" cy="32004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CAPEX humain (savoir-faire interne)</a:t>
            </a:r>
          </a:p>
        </p:txBody>
      </p:sp>
      <p:sp>
        <p:nvSpPr>
          <p:cNvPr id="26" name="TextBox 25"/>
          <p:cNvSpPr txBox="1"/>
          <p:nvPr/>
        </p:nvSpPr>
        <p:spPr>
          <a:xfrm>
            <a:off x="4572000" y="3474720"/>
            <a:ext cx="1280160" cy="320040"/>
          </a:xfrm>
          <a:prstGeom prst="rect">
            <a:avLst/>
          </a:prstGeom>
          <a:noFill/>
        </p:spPr>
        <p:txBody>
          <a:bodyPr wrap="square" anchor="t" lIns="0" rIns="0" tIns="0" bIns="0">
            <a:spAutoFit/>
          </a:bodyPr>
          <a:lstStyle/>
          <a:p>
            <a:pPr algn="r">
              <a:lnSpc>
                <a:spcPct val="100000"/>
              </a:lnSpc>
              <a:spcBef>
                <a:spcPts val="0"/>
              </a:spcBef>
              <a:spcAft>
                <a:spcPts val="600"/>
              </a:spcAft>
            </a:pPr>
            <a:r>
              <a:rPr sz="1200" b="1" i="0">
                <a:solidFill>
                  <a:srgbClr val="0F1B2D"/>
                </a:solidFill>
                <a:latin typeface="Arial"/>
              </a:rPr>
              <a:t>46 440 €</a:t>
            </a:r>
          </a:p>
        </p:txBody>
      </p:sp>
      <p:sp>
        <p:nvSpPr>
          <p:cNvPr id="27" name="Rectangle 26"/>
          <p:cNvSpPr/>
          <p:nvPr/>
        </p:nvSpPr>
        <p:spPr>
          <a:xfrm>
            <a:off x="502920" y="3767328"/>
            <a:ext cx="5349240" cy="164592"/>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767328"/>
            <a:ext cx="4386376" cy="164592"/>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133088"/>
            <a:ext cx="4023360" cy="32004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CAPEX matériel (serveur, routeurs…)</a:t>
            </a:r>
          </a:p>
        </p:txBody>
      </p:sp>
      <p:sp>
        <p:nvSpPr>
          <p:cNvPr id="30" name="TextBox 29"/>
          <p:cNvSpPr txBox="1"/>
          <p:nvPr/>
        </p:nvSpPr>
        <p:spPr>
          <a:xfrm>
            <a:off x="4572000" y="4133088"/>
            <a:ext cx="1280160" cy="320040"/>
          </a:xfrm>
          <a:prstGeom prst="rect">
            <a:avLst/>
          </a:prstGeom>
          <a:noFill/>
        </p:spPr>
        <p:txBody>
          <a:bodyPr wrap="square" anchor="t" lIns="0" rIns="0" tIns="0" bIns="0">
            <a:spAutoFit/>
          </a:bodyPr>
          <a:lstStyle/>
          <a:p>
            <a:pPr algn="r">
              <a:lnSpc>
                <a:spcPct val="100000"/>
              </a:lnSpc>
              <a:spcBef>
                <a:spcPts val="0"/>
              </a:spcBef>
              <a:spcAft>
                <a:spcPts val="600"/>
              </a:spcAft>
            </a:pPr>
            <a:r>
              <a:rPr sz="1200" b="1" i="0">
                <a:solidFill>
                  <a:srgbClr val="0F1B2D"/>
                </a:solidFill>
                <a:latin typeface="Arial"/>
              </a:rPr>
              <a:t>10 206 €</a:t>
            </a:r>
          </a:p>
        </p:txBody>
      </p:sp>
      <p:sp>
        <p:nvSpPr>
          <p:cNvPr id="31" name="Rectangle 30"/>
          <p:cNvSpPr/>
          <p:nvPr/>
        </p:nvSpPr>
        <p:spPr>
          <a:xfrm>
            <a:off x="502920" y="4425696"/>
            <a:ext cx="5349240" cy="164592"/>
          </a:xfrm>
          <a:prstGeom prst="rect">
            <a:avLst/>
          </a:prstGeom>
          <a:solidFill>
            <a:srgbClr val="E3EA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425696"/>
            <a:ext cx="962863" cy="164592"/>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4837176"/>
            <a:ext cx="5486400" cy="548640"/>
          </a:xfrm>
          <a:prstGeom prst="rect">
            <a:avLst/>
          </a:prstGeom>
          <a:noFill/>
        </p:spPr>
        <p:txBody>
          <a:bodyPr wrap="square" anchor="t" lIns="0" rIns="0" tIns="0" bIns="0">
            <a:spAutoFit/>
          </a:bodyPr>
          <a:lstStyle/>
          <a:p>
            <a:pPr algn="l">
              <a:lnSpc>
                <a:spcPct val="105000"/>
              </a:lnSpc>
              <a:spcBef>
                <a:spcPts val="0"/>
              </a:spcBef>
              <a:spcAft>
                <a:spcPts val="600"/>
              </a:spcAft>
            </a:pPr>
            <a:r>
              <a:rPr sz="1250" b="1" i="0">
                <a:solidFill>
                  <a:srgbClr val="00B4C8"/>
                </a:solidFill>
                <a:latin typeface="Arial"/>
              </a:rPr>
              <a:t>82 % du TCO = coût humain</a:t>
            </a:r>
            <a:r>
              <a:rPr sz="1200" b="0" i="0">
                <a:solidFill>
                  <a:srgbClr val="1B2633"/>
                </a:solidFill>
                <a:latin typeface="Arial"/>
              </a:rPr>
              <a:t> → un actif immatériel (templates, doc, savoir-faire) et non un coût perdu.</a:t>
            </a:r>
          </a:p>
        </p:txBody>
      </p:sp>
      <p:sp>
        <p:nvSpPr>
          <p:cNvPr id="34" name="Rounded Rectangle 33"/>
          <p:cNvSpPr/>
          <p:nvPr/>
        </p:nvSpPr>
        <p:spPr>
          <a:xfrm>
            <a:off x="6309360" y="3063240"/>
            <a:ext cx="5394960" cy="301752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200400"/>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UN MODÈLE ÉCONOMIQUE ROBUSTE</a:t>
            </a:r>
          </a:p>
        </p:txBody>
      </p:sp>
      <p:sp>
        <p:nvSpPr>
          <p:cNvPr id="36" name="TextBox 35"/>
          <p:cNvSpPr txBox="1"/>
          <p:nvPr/>
        </p:nvSpPr>
        <p:spPr>
          <a:xfrm>
            <a:off x="6583680" y="3639312"/>
            <a:ext cx="4937760" cy="457200"/>
          </a:xfrm>
          <a:prstGeom prst="rect">
            <a:avLst/>
          </a:prstGeom>
          <a:noFill/>
        </p:spPr>
        <p:txBody>
          <a:bodyPr wrap="square" lIns="0" rIns="0" tIns="0" bIns="0">
            <a:spAutoFit/>
          </a:bodyPr>
          <a:lstStyle/>
          <a:p>
            <a:pPr>
              <a:lnSpc>
                <a:spcPct val="105000"/>
              </a:lnSpc>
              <a:spcBef>
                <a:spcPts val="0"/>
              </a:spcBef>
              <a:spcAft>
                <a:spcPts val="800"/>
              </a:spcAft>
            </a:pPr>
            <a:r>
              <a:rPr sz="1200" b="1">
                <a:solidFill>
                  <a:srgbClr val="00B4C8"/>
                </a:solidFill>
                <a:latin typeface="Arial"/>
              </a:rPr>
              <a:t>▸  </a:t>
            </a:r>
            <a:r>
              <a:rPr sz="1200" b="1">
                <a:solidFill>
                  <a:srgbClr val="FFFFFF"/>
                </a:solidFill>
                <a:latin typeface="Arial"/>
              </a:rPr>
              <a:t>Revenus à deux têtes</a:t>
            </a:r>
            <a:r>
              <a:rPr sz="1200" b="0">
                <a:solidFill>
                  <a:srgbClr val="FFFFFF"/>
                </a:solidFill>
                <a:latin typeface="Arial"/>
              </a:rPr>
              <a:t> : abonnements (16 clients × 2 000 €/an) + économies GTI (déplacements évités).</a:t>
            </a:r>
          </a:p>
          <a:p>
            <a:pPr>
              <a:lnSpc>
                <a:spcPct val="105000"/>
              </a:lnSpc>
              <a:spcBef>
                <a:spcPts val="0"/>
              </a:spcBef>
              <a:spcAft>
                <a:spcPts val="800"/>
              </a:spcAft>
            </a:pPr>
            <a:r>
              <a:rPr sz="1200" b="1">
                <a:solidFill>
                  <a:srgbClr val="00B4C8"/>
                </a:solidFill>
                <a:latin typeface="Arial"/>
              </a:rPr>
              <a:t>▸  </a:t>
            </a:r>
            <a:r>
              <a:rPr sz="1200" b="1">
                <a:solidFill>
                  <a:srgbClr val="FFFFFF"/>
                </a:solidFill>
                <a:latin typeface="Arial"/>
              </a:rPr>
              <a:t>Scénario conservateur</a:t>
            </a:r>
            <a:r>
              <a:rPr sz="1200" b="0">
                <a:solidFill>
                  <a:srgbClr val="FFFFFF"/>
                </a:solidFill>
                <a:latin typeface="Arial"/>
              </a:rPr>
              <a:t> : même à 1 500 €/client, ROI 169 % à 5 ans.</a:t>
            </a:r>
          </a:p>
          <a:p>
            <a:pPr>
              <a:lnSpc>
                <a:spcPct val="105000"/>
              </a:lnSpc>
              <a:spcBef>
                <a:spcPts val="0"/>
              </a:spcBef>
              <a:spcAft>
                <a:spcPts val="800"/>
              </a:spcAft>
            </a:pPr>
            <a:r>
              <a:rPr sz="1200" b="1">
                <a:solidFill>
                  <a:srgbClr val="00B4C8"/>
                </a:solidFill>
                <a:latin typeface="Arial"/>
              </a:rPr>
              <a:t>▸  </a:t>
            </a:r>
            <a:r>
              <a:rPr sz="1200" b="1">
                <a:solidFill>
                  <a:srgbClr val="FFFFFF"/>
                </a:solidFill>
                <a:latin typeface="Arial"/>
              </a:rPr>
              <a:t>Effet de levier</a:t>
            </a:r>
            <a:r>
              <a:rPr sz="1200" b="0">
                <a:solidFill>
                  <a:srgbClr val="FFFFFF"/>
                </a:solidFill>
                <a:latin typeface="Arial"/>
              </a:rPr>
              <a:t> : OPEX fixe → un serveur absorbe 50+ clients sans surcoût.</a:t>
            </a:r>
          </a:p>
          <a:p>
            <a:pPr>
              <a:lnSpc>
                <a:spcPct val="105000"/>
              </a:lnSpc>
              <a:spcBef>
                <a:spcPts val="0"/>
              </a:spcBef>
              <a:spcAft>
                <a:spcPts val="800"/>
              </a:spcAft>
            </a:pPr>
            <a:r>
              <a:rPr sz="1200" b="1">
                <a:solidFill>
                  <a:srgbClr val="00B4C8"/>
                </a:solidFill>
                <a:latin typeface="Arial"/>
              </a:rPr>
              <a:t>▸  </a:t>
            </a:r>
            <a:r>
              <a:rPr sz="1200" b="1">
                <a:solidFill>
                  <a:srgbClr val="FFFFFF"/>
                </a:solidFill>
                <a:latin typeface="Arial"/>
              </a:rPr>
              <a:t>Open source</a:t>
            </a:r>
            <a:r>
              <a:rPr sz="1200" b="0">
                <a:solidFill>
                  <a:srgbClr val="FFFFFF"/>
                </a:solidFill>
                <a:latin typeface="Arial"/>
              </a:rPr>
              <a:t> : 0 € de licence (vs 5 000–20 000 €/an en propriétaire).</a:t>
            </a:r>
          </a:p>
        </p:txBody>
      </p:sp>
      <p:sp>
        <p:nvSpPr>
          <p:cNvPr id="37" name="TextBox 36"/>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8" name="TextBox 37"/>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4</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4 — DÉTAIL FINANCIER</a:t>
            </a:r>
          </a:p>
          <a:p>
            <a:pPr algn="l">
              <a:lnSpc>
                <a:spcPct val="100000"/>
              </a:lnSpc>
              <a:spcBef>
                <a:spcPts val="0"/>
              </a:spcBef>
              <a:spcAft>
                <a:spcPts val="600"/>
              </a:spcAft>
            </a:pPr>
            <a:r>
              <a:rPr sz="2200" b="1" i="0">
                <a:solidFill>
                  <a:srgbClr val="FFFFFF"/>
                </a:solidFill>
                <a:latin typeface="Arial"/>
              </a:rPr>
              <a:t>Les hypothèses du ROI — chaque chiffre justifié</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F1B2D"/>
                </a:solidFill>
                <a:latin typeface="Arial"/>
              </a:rPr>
              <a:t>TCO 56 646 €  ·  flux net 46 586 €/an  ·  point mort 14,6 mois  ·  ROI 310 % à 5 ans  ·  gain net 176 284 €</a:t>
            </a:r>
          </a:p>
        </p:txBody>
      </p:sp>
      <p:graphicFrame>
        <p:nvGraphicFramePr>
          <p:cNvPr id="9" name="Table 8"/>
          <p:cNvGraphicFramePr>
            <a:graphicFrameLocks noGrp="1"/>
          </p:cNvGraphicFramePr>
          <p:nvPr/>
        </p:nvGraphicFramePr>
        <p:xfrm>
          <a:off x="502920" y="1691640"/>
          <a:ext cx="11201400" cy="4005072"/>
        </p:xfrm>
        <a:graphic>
          <a:graphicData uri="http://schemas.openxmlformats.org/drawingml/2006/table">
            <a:tbl>
              <a:tblPr>
                <a:tableStyleId>{5C22544A-7EE6-4342-B048-85BDC9FD1C3A}</a:tableStyleId>
              </a:tblPr>
              <a:tblGrid>
                <a:gridCol w="2743200"/>
                <a:gridCol w="4206240"/>
                <a:gridCol w="4251960"/>
              </a:tblGrid>
              <a:tr h="384048">
                <a:tc>
                  <a:txBody>
                    <a:bodyPr wrap="square"/>
                    <a:lstStyle/>
                    <a:p>
                      <a:pPr>
                        <a:lnSpc>
                          <a:spcPct val="98000"/>
                        </a:lnSpc>
                      </a:pPr>
                      <a:r>
                        <a:rPr sz="1100" b="1">
                          <a:solidFill>
                            <a:srgbClr val="FFFFFF"/>
                          </a:solidFill>
                          <a:latin typeface="Arial"/>
                        </a:rPr>
                        <a:t>Chiffre</a:t>
                      </a:r>
                    </a:p>
                  </a:txBody>
                  <a:tcPr marL="73152" marR="73152" marT="27432" marB="27432" anchor="ctr">
                    <a:solidFill>
                      <a:srgbClr val="00B4C8"/>
                    </a:solidFill>
                  </a:tcPr>
                </a:tc>
                <a:tc>
                  <a:txBody>
                    <a:bodyPr wrap="square"/>
                    <a:lstStyle/>
                    <a:p>
                      <a:pPr>
                        <a:lnSpc>
                          <a:spcPct val="98000"/>
                        </a:lnSpc>
                      </a:pPr>
                      <a:r>
                        <a:rPr sz="1100" b="1">
                          <a:solidFill>
                            <a:srgbClr val="FFFFFF"/>
                          </a:solidFill>
                          <a:latin typeface="Arial"/>
                        </a:rPr>
                        <a:t>Hypothèse retenue</a:t>
                      </a:r>
                    </a:p>
                  </a:txBody>
                  <a:tcPr marL="73152" marR="73152" marT="27432" marB="27432" anchor="ctr">
                    <a:solidFill>
                      <a:srgbClr val="00B4C8"/>
                    </a:solidFill>
                  </a:tcPr>
                </a:tc>
                <a:tc>
                  <a:txBody>
                    <a:bodyPr wrap="square"/>
                    <a:lstStyle/>
                    <a:p>
                      <a:pPr>
                        <a:lnSpc>
                          <a:spcPct val="98000"/>
                        </a:lnSpc>
                      </a:pPr>
                      <a:r>
                        <a:rPr sz="1100" b="1">
                          <a:solidFill>
                            <a:srgbClr val="FFFFFF"/>
                          </a:solidFill>
                          <a:latin typeface="Arial"/>
                        </a:rPr>
                        <a:t>Pourquoi c’est solide / prudent</a:t>
                      </a:r>
                    </a:p>
                  </a:txBody>
                  <a:tcPr marL="73152" marR="73152" marT="27432" marB="27432" anchor="ctr">
                    <a:solidFill>
                      <a:srgbClr val="00B4C8"/>
                    </a:solidFill>
                  </a:tcPr>
                </a:tc>
              </a:tr>
              <a:tr h="603504">
                <a:tc>
                  <a:txBody>
                    <a:bodyPr wrap="square"/>
                    <a:lstStyle/>
                    <a:p>
                      <a:pPr>
                        <a:lnSpc>
                          <a:spcPct val="98000"/>
                        </a:lnSpc>
                      </a:pPr>
                      <a:r>
                        <a:rPr sz="1100" b="1">
                          <a:solidFill>
                            <a:srgbClr val="0F1B2D"/>
                          </a:solidFill>
                          <a:latin typeface="Arial"/>
                        </a:rPr>
                        <a:t>40 €/h (alternant)</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Taux interne chargé Axians</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 coût réel pour l’entreprise, pas un salaire</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2 000 €/client/an</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Minimum contractuel (plancher)</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Marché concurrent : 2 400 à 4 800 €/an</a:t>
                      </a:r>
                    </a:p>
                  </a:txBody>
                  <a:tcPr marL="73152" marR="73152" marT="27432" marB="27432" anchor="ctr">
                    <a:solidFill>
                      <a:srgbClr val="F4F7FA"/>
                    </a:solidFill>
                  </a:tcPr>
                </a:tc>
              </a:tr>
              <a:tr h="603504">
                <a:tc>
                  <a:txBody>
                    <a:bodyPr wrap="square"/>
                    <a:lstStyle/>
                    <a:p>
                      <a:pPr>
                        <a:lnSpc>
                          <a:spcPct val="98000"/>
                        </a:lnSpc>
                      </a:pPr>
                      <a:r>
                        <a:rPr sz="1100" b="1">
                          <a:solidFill>
                            <a:srgbClr val="0F1B2D"/>
                          </a:solidFill>
                          <a:latin typeface="Arial"/>
                        </a:rPr>
                        <a:t>Coût humain = 82 %</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Valorisé en actif immatériel</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Templates + doc réutilisables, pas un coût perdu</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OPEX 2 694 €/an</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Fixe jusqu’à 50+ clients</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Chaque nouveau client = flux net quasi intégral</a:t>
                      </a:r>
                    </a:p>
                  </a:txBody>
                  <a:tcPr marL="73152" marR="73152" marT="27432" marB="27432" anchor="ctr">
                    <a:solidFill>
                      <a:srgbClr val="F4F7FA"/>
                    </a:solidFill>
                  </a:tcPr>
                </a:tc>
              </a:tr>
              <a:tr h="603504">
                <a:tc>
                  <a:txBody>
                    <a:bodyPr wrap="square"/>
                    <a:lstStyle/>
                    <a:p>
                      <a:pPr>
                        <a:lnSpc>
                          <a:spcPct val="98000"/>
                        </a:lnSpc>
                      </a:pPr>
                      <a:r>
                        <a:rPr sz="1100" b="1">
                          <a:solidFill>
                            <a:srgbClr val="0F1B2D"/>
                          </a:solidFill>
                          <a:latin typeface="Arial"/>
                        </a:rPr>
                        <a:t>2 déplacements/mois évités</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Borne basse pessimiste</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Toute imprécision joue en faveur du projet</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Scénario 0 déplacement</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Revenus = abonnements seuls</a:t>
                      </a:r>
                    </a:p>
                  </a:txBody>
                  <a:tcPr marL="73152" marR="73152" marT="27432" marB="27432" anchor="ctr">
                    <a:solidFill>
                      <a:srgbClr val="F4F7FA"/>
                    </a:solidFill>
                  </a:tcPr>
                </a:tc>
                <a:tc>
                  <a:txBody>
                    <a:bodyPr wrap="square"/>
                    <a:lstStyle/>
                    <a:p>
                      <a:pPr>
                        <a:lnSpc>
                          <a:spcPct val="98000"/>
                        </a:lnSpc>
                      </a:pPr>
                      <a:r>
                        <a:rPr sz="1100" b="1">
                          <a:solidFill>
                            <a:srgbClr val="1E8E66"/>
                          </a:solidFill>
                          <a:latin typeface="Arial"/>
                        </a:rPr>
                        <a:t>ROI encore 159 % → rentable sur l’abonnement seul</a:t>
                      </a:r>
                    </a:p>
                  </a:txBody>
                  <a:tcPr marL="73152" marR="73152" marT="27432" marB="27432" anchor="ctr">
                    <a:solidFill>
                      <a:srgbClr val="F4F7FA"/>
                    </a:solidFill>
                  </a:tcPr>
                </a:tc>
              </a:tr>
            </a:tbl>
          </a:graphicData>
        </a:graphic>
      </p:graphicFrame>
      <p:sp>
        <p:nvSpPr>
          <p:cNvPr id="10" name="TextBox 9"/>
          <p:cNvSpPr txBox="1"/>
          <p:nvPr/>
        </p:nvSpPr>
        <p:spPr>
          <a:xfrm>
            <a:off x="502920" y="5897880"/>
            <a:ext cx="11155680" cy="45720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6B7A8C"/>
                </a:solidFill>
                <a:latin typeface="Arial"/>
              </a:rPr>
              <a:t>Fiabilité du chiffrage : </a:t>
            </a:r>
            <a:r>
              <a:rPr sz="1100" b="0" i="0">
                <a:solidFill>
                  <a:srgbClr val="6B7A8C"/>
                </a:solidFill>
                <a:latin typeface="Arial"/>
              </a:rPr>
              <a:t>1 001 h calculées tâche par tâche (GanttProject) et recoupées aux 176 jours réellement disponibles — cohérent à 0,7 % près.</a:t>
            </a:r>
          </a:p>
        </p:txBody>
      </p:sp>
      <p:sp>
        <p:nvSpPr>
          <p:cNvPr id="11" name="TextBox 10"/>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12" name="TextBox 11"/>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4</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4</a:t>
            </a:r>
          </a:p>
          <a:p>
            <a:pPr algn="l">
              <a:lnSpc>
                <a:spcPct val="100000"/>
              </a:lnSpc>
              <a:spcBef>
                <a:spcPts val="0"/>
              </a:spcBef>
              <a:spcAft>
                <a:spcPts val="600"/>
              </a:spcAft>
            </a:pPr>
            <a:r>
              <a:rPr sz="2200" b="1" i="0">
                <a:solidFill>
                  <a:srgbClr val="FFFFFF"/>
                </a:solidFill>
                <a:latin typeface="Arial"/>
              </a:rPr>
              <a:t>Impacts environnemental &amp; opérationnel</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25880"/>
            <a:ext cx="54864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2EC48F"/>
                </a:solidFill>
                <a:latin typeface="Arial"/>
              </a:rPr>
              <a:t>LE « PARADOXE DU SERVEUR ALLUMÉ » LEVÉ PAR LE CALCUL</a:t>
            </a:r>
          </a:p>
        </p:txBody>
      </p:sp>
      <p:sp>
        <p:nvSpPr>
          <p:cNvPr id="9" name="Rounded Rectangle 8"/>
          <p:cNvSpPr/>
          <p:nvPr/>
        </p:nvSpPr>
        <p:spPr>
          <a:xfrm>
            <a:off x="502920" y="1783080"/>
            <a:ext cx="5486400" cy="23317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20240"/>
            <a:ext cx="5029200" cy="365760"/>
          </a:xfrm>
          <a:prstGeom prst="rect">
            <a:avLst/>
          </a:prstGeom>
          <a:noFill/>
        </p:spPr>
        <p:txBody>
          <a:bodyPr wrap="square" anchor="t" lIns="0" rIns="0" tIns="0" bIns="0">
            <a:spAutoFit/>
          </a:bodyPr>
          <a:lstStyle/>
          <a:p>
            <a:pPr algn="l">
              <a:lnSpc>
                <a:spcPct val="100000"/>
              </a:lnSpc>
              <a:spcBef>
                <a:spcPts val="0"/>
              </a:spcBef>
              <a:spcAft>
                <a:spcPts val="600"/>
              </a:spcAft>
            </a:pPr>
            <a:r>
              <a:rPr sz="1200" b="1" i="0">
                <a:solidFill>
                  <a:srgbClr val="0F1B2D"/>
                </a:solidFill>
                <a:latin typeface="Arial"/>
              </a:rPr>
              <a:t>Bilan CO₂ annuel (scénario de base 100 km)</a:t>
            </a:r>
          </a:p>
        </p:txBody>
      </p:sp>
      <p:sp>
        <p:nvSpPr>
          <p:cNvPr id="11" name="TextBox 10"/>
          <p:cNvSpPr txBox="1"/>
          <p:nvPr/>
        </p:nvSpPr>
        <p:spPr>
          <a:xfrm>
            <a:off x="731520" y="2377440"/>
            <a:ext cx="27432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Déplacements évités</a:t>
            </a:r>
          </a:p>
        </p:txBody>
      </p:sp>
      <p:sp>
        <p:nvSpPr>
          <p:cNvPr id="12" name="Rectangle 11"/>
          <p:cNvSpPr/>
          <p:nvPr/>
        </p:nvSpPr>
        <p:spPr>
          <a:xfrm>
            <a:off x="731520" y="2651760"/>
            <a:ext cx="4937760" cy="36576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51760"/>
            <a:ext cx="4663440" cy="365760"/>
          </a:xfrm>
          <a:prstGeom prst="rect">
            <a:avLst/>
          </a:prstGeom>
          <a:noFill/>
        </p:spPr>
        <p:txBody>
          <a:bodyPr wrap="square" anchor="ctr" lIns="0" rIns="0" tIns="0" bIns="0">
            <a:spAutoFit/>
          </a:bodyPr>
          <a:lstStyle/>
          <a:p>
            <a:pPr algn="l">
              <a:lnSpc>
                <a:spcPct val="100000"/>
              </a:lnSpc>
              <a:spcBef>
                <a:spcPts val="0"/>
              </a:spcBef>
              <a:spcAft>
                <a:spcPts val="600"/>
              </a:spcAft>
            </a:pPr>
            <a:r>
              <a:rPr sz="1200" b="1" i="0">
                <a:solidFill>
                  <a:srgbClr val="FFFFFF"/>
                </a:solidFill>
                <a:latin typeface="Arial"/>
              </a:rPr>
              <a:t>576 kg CO₂</a:t>
            </a:r>
          </a:p>
        </p:txBody>
      </p:sp>
      <p:sp>
        <p:nvSpPr>
          <p:cNvPr id="14" name="TextBox 13"/>
          <p:cNvSpPr txBox="1"/>
          <p:nvPr/>
        </p:nvSpPr>
        <p:spPr>
          <a:xfrm>
            <a:off x="731520" y="3154680"/>
            <a:ext cx="27432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Serveur HPE</a:t>
            </a:r>
          </a:p>
        </p:txBody>
      </p:sp>
      <p:sp>
        <p:nvSpPr>
          <p:cNvPr id="15" name="Rectangle 14"/>
          <p:cNvSpPr/>
          <p:nvPr/>
        </p:nvSpPr>
        <p:spPr>
          <a:xfrm>
            <a:off x="731520" y="3429000"/>
            <a:ext cx="841248" cy="365760"/>
          </a:xfrm>
          <a:prstGeom prst="rect">
            <a:avLst/>
          </a:prstGeom>
          <a:solidFill>
            <a:srgbClr val="6B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45920" y="3429000"/>
            <a:ext cx="1828800" cy="365760"/>
          </a:xfrm>
          <a:prstGeom prst="rect">
            <a:avLst/>
          </a:prstGeom>
          <a:noFill/>
        </p:spPr>
        <p:txBody>
          <a:bodyPr wrap="square" anchor="ctr" lIns="0" rIns="0" tIns="0" bIns="0">
            <a:spAutoFit/>
          </a:bodyPr>
          <a:lstStyle/>
          <a:p>
            <a:pPr algn="l">
              <a:lnSpc>
                <a:spcPct val="100000"/>
              </a:lnSpc>
              <a:spcBef>
                <a:spcPts val="0"/>
              </a:spcBef>
              <a:spcAft>
                <a:spcPts val="600"/>
              </a:spcAft>
            </a:pPr>
            <a:r>
              <a:rPr sz="1100" b="1" i="0">
                <a:solidFill>
                  <a:srgbClr val="6B7A8C"/>
                </a:solidFill>
                <a:latin typeface="Arial"/>
              </a:rPr>
              <a:t>98 kg CO₂</a:t>
            </a:r>
          </a:p>
        </p:txBody>
      </p:sp>
      <p:sp>
        <p:nvSpPr>
          <p:cNvPr id="17" name="TextBox 16"/>
          <p:cNvSpPr txBox="1"/>
          <p:nvPr/>
        </p:nvSpPr>
        <p:spPr>
          <a:xfrm>
            <a:off x="731520" y="3822191"/>
            <a:ext cx="5029200" cy="27432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0F1B2D"/>
                </a:solidFill>
                <a:latin typeface="Arial"/>
              </a:rPr>
              <a:t>→ Le serveur émet 5,9× moins que les trajets qu’il remplace.</a:t>
            </a:r>
          </a:p>
        </p:txBody>
      </p:sp>
      <p:sp>
        <p:nvSpPr>
          <p:cNvPr id="18" name="Rounded Rectangle 17"/>
          <p:cNvSpPr/>
          <p:nvPr/>
        </p:nvSpPr>
        <p:spPr>
          <a:xfrm>
            <a:off x="502920" y="4343400"/>
            <a:ext cx="2651760" cy="132588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4343400"/>
            <a:ext cx="91440" cy="132588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4489704"/>
            <a:ext cx="228600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2EC48F"/>
                </a:solidFill>
                <a:latin typeface="Arial"/>
              </a:rPr>
              <a:t>478 kg</a:t>
            </a:r>
          </a:p>
        </p:txBody>
      </p:sp>
      <p:sp>
        <p:nvSpPr>
          <p:cNvPr id="21" name="TextBox 20"/>
          <p:cNvSpPr txBox="1"/>
          <p:nvPr/>
        </p:nvSpPr>
        <p:spPr>
          <a:xfrm>
            <a:off x="758952" y="5129784"/>
            <a:ext cx="2286000" cy="45720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CO₂ net économisés / an</a:t>
            </a:r>
          </a:p>
        </p:txBody>
      </p:sp>
      <p:sp>
        <p:nvSpPr>
          <p:cNvPr id="22" name="Rounded Rectangle 21"/>
          <p:cNvSpPr/>
          <p:nvPr/>
        </p:nvSpPr>
        <p:spPr>
          <a:xfrm>
            <a:off x="3337560" y="4343400"/>
            <a:ext cx="2651760" cy="1325880"/>
          </a:xfrm>
          <a:prstGeom prst="roundRect">
            <a:avLst>
              <a:gd name="adj" fmla="val 6000"/>
            </a:avLst>
          </a:prstGeom>
          <a:solidFill>
            <a:srgbClr val="FFFFFF"/>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37560" y="4343400"/>
            <a:ext cx="91440" cy="132588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93592" y="4489704"/>
            <a:ext cx="2286000" cy="640080"/>
          </a:xfrm>
          <a:prstGeom prst="rect">
            <a:avLst/>
          </a:prstGeom>
          <a:noFill/>
        </p:spPr>
        <p:txBody>
          <a:bodyPr wrap="square" anchor="ctr" lIns="0" rIns="0" tIns="0" bIns="0">
            <a:spAutoFit/>
          </a:bodyPr>
          <a:lstStyle/>
          <a:p>
            <a:pPr algn="l">
              <a:lnSpc>
                <a:spcPct val="100000"/>
              </a:lnSpc>
              <a:spcBef>
                <a:spcPts val="0"/>
              </a:spcBef>
              <a:spcAft>
                <a:spcPts val="600"/>
              </a:spcAft>
            </a:pPr>
            <a:r>
              <a:rPr sz="3000" b="1" i="0">
                <a:solidFill>
                  <a:srgbClr val="2EC48F"/>
                </a:solidFill>
                <a:latin typeface="Arial"/>
              </a:rPr>
              <a:t>≈ 2,4 t</a:t>
            </a:r>
          </a:p>
        </p:txBody>
      </p:sp>
      <p:sp>
        <p:nvSpPr>
          <p:cNvPr id="25" name="TextBox 24"/>
          <p:cNvSpPr txBox="1"/>
          <p:nvPr/>
        </p:nvSpPr>
        <p:spPr>
          <a:xfrm>
            <a:off x="3593592" y="5129784"/>
            <a:ext cx="2286000" cy="457200"/>
          </a:xfrm>
          <a:prstGeom prst="rect">
            <a:avLst/>
          </a:prstGeom>
          <a:noFill/>
        </p:spPr>
        <p:txBody>
          <a:bodyPr wrap="square" anchor="t" lIns="0" rIns="0" tIns="0" bIns="0">
            <a:spAutoFit/>
          </a:bodyPr>
          <a:lstStyle/>
          <a:p>
            <a:pPr algn="l">
              <a:lnSpc>
                <a:spcPct val="100000"/>
              </a:lnSpc>
              <a:spcBef>
                <a:spcPts val="0"/>
              </a:spcBef>
              <a:spcAft>
                <a:spcPts val="600"/>
              </a:spcAft>
            </a:pPr>
            <a:r>
              <a:rPr sz="1150" b="0" i="0">
                <a:solidFill>
                  <a:srgbClr val="1B2633"/>
                </a:solidFill>
                <a:latin typeface="Arial"/>
              </a:rPr>
              <a:t>CO₂ évités cumulés sur 5 ans</a:t>
            </a:r>
          </a:p>
        </p:txBody>
      </p:sp>
      <p:sp>
        <p:nvSpPr>
          <p:cNvPr id="26" name="Rounded Rectangle 25"/>
          <p:cNvSpPr/>
          <p:nvPr/>
        </p:nvSpPr>
        <p:spPr>
          <a:xfrm>
            <a:off x="6309360" y="1783080"/>
            <a:ext cx="5394960" cy="43434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1783080"/>
            <a:ext cx="5394960" cy="508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1965960"/>
            <a:ext cx="484632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UN 3ᵉ BÉNÉFICE : LA VALIDATION TERRAIN</a:t>
            </a:r>
          </a:p>
        </p:txBody>
      </p:sp>
      <p:sp>
        <p:nvSpPr>
          <p:cNvPr id="29" name="TextBox 28"/>
          <p:cNvSpPr txBox="1"/>
          <p:nvPr/>
        </p:nvSpPr>
        <p:spPr>
          <a:xfrm>
            <a:off x="6583680" y="2423160"/>
            <a:ext cx="4937760" cy="457200"/>
          </a:xfrm>
          <a:prstGeom prst="rect">
            <a:avLst/>
          </a:prstGeom>
          <a:noFill/>
        </p:spPr>
        <p:txBody>
          <a:bodyPr wrap="square" lIns="0" rIns="0" tIns="0" bIns="0">
            <a:spAutoFit/>
          </a:bodyPr>
          <a:lstStyle/>
          <a:p>
            <a:pPr>
              <a:lnSpc>
                <a:spcPct val="105000"/>
              </a:lnSpc>
              <a:spcBef>
                <a:spcPts val="0"/>
              </a:spcBef>
              <a:spcAft>
                <a:spcPts val="1100"/>
              </a:spcAft>
            </a:pPr>
            <a:r>
              <a:rPr sz="1250" b="1">
                <a:solidFill>
                  <a:srgbClr val="00B4C8"/>
                </a:solidFill>
                <a:latin typeface="Arial"/>
              </a:rPr>
              <a:t>▸  </a:t>
            </a:r>
            <a:r>
              <a:rPr sz="1250" b="1">
                <a:solidFill>
                  <a:srgbClr val="FFFFFF"/>
                </a:solidFill>
                <a:latin typeface="Arial"/>
              </a:rPr>
              <a:t>Confronter Rx mesuré vs Rx théorique (DIL)</a:t>
            </a:r>
            <a:r>
              <a:rPr sz="1250" b="0">
                <a:solidFill>
                  <a:srgbClr val="FFFFFF"/>
                </a:solidFill>
                <a:latin typeface="Arial"/>
              </a:rPr>
              <a:t> en temps réel, sans déplacement.</a:t>
            </a:r>
          </a:p>
          <a:p>
            <a:pPr>
              <a:lnSpc>
                <a:spcPct val="105000"/>
              </a:lnSpc>
              <a:spcBef>
                <a:spcPts val="0"/>
              </a:spcBef>
              <a:spcAft>
                <a:spcPts val="1100"/>
              </a:spcAft>
            </a:pPr>
            <a:r>
              <a:rPr sz="1250" b="1">
                <a:solidFill>
                  <a:srgbClr val="00B4C8"/>
                </a:solidFill>
                <a:latin typeface="Arial"/>
              </a:rPr>
              <a:t>▸  </a:t>
            </a:r>
            <a:r>
              <a:rPr sz="1250" b="1">
                <a:solidFill>
                  <a:srgbClr val="FFFFFF"/>
                </a:solidFill>
                <a:latin typeface="Arial"/>
              </a:rPr>
              <a:t>Détection immédiate des non-conformités</a:t>
            </a:r>
            <a:r>
              <a:rPr sz="1250" b="0">
                <a:solidFill>
                  <a:srgbClr val="FFFFFF"/>
                </a:solidFill>
                <a:latin typeface="Arial"/>
              </a:rPr>
              <a:t> : défaut d’alignement, obstacle, perte câble…</a:t>
            </a:r>
          </a:p>
          <a:p>
            <a:pPr>
              <a:lnSpc>
                <a:spcPct val="105000"/>
              </a:lnSpc>
              <a:spcBef>
                <a:spcPts val="0"/>
              </a:spcBef>
              <a:spcAft>
                <a:spcPts val="1100"/>
              </a:spcAft>
            </a:pPr>
            <a:r>
              <a:rPr sz="1250" b="1">
                <a:solidFill>
                  <a:srgbClr val="00B4C8"/>
                </a:solidFill>
                <a:latin typeface="Arial"/>
              </a:rPr>
              <a:t>▸  </a:t>
            </a:r>
            <a:r>
              <a:rPr sz="1250" b="1">
                <a:solidFill>
                  <a:srgbClr val="FFFFFF"/>
                </a:solidFill>
                <a:latin typeface="Arial"/>
              </a:rPr>
              <a:t>De plusieurs jours à quelques minutes</a:t>
            </a:r>
            <a:r>
              <a:rPr sz="1250" b="0">
                <a:solidFill>
                  <a:srgbClr val="FFFFFF"/>
                </a:solidFill>
                <a:latin typeface="Arial"/>
              </a:rPr>
              <a:t> pour identifier une anomalie d’installation.</a:t>
            </a:r>
          </a:p>
          <a:p>
            <a:pPr>
              <a:lnSpc>
                <a:spcPct val="105000"/>
              </a:lnSpc>
              <a:spcBef>
                <a:spcPts val="0"/>
              </a:spcBef>
              <a:spcAft>
                <a:spcPts val="1100"/>
              </a:spcAft>
            </a:pPr>
            <a:r>
              <a:rPr sz="1250" b="1">
                <a:solidFill>
                  <a:srgbClr val="00B4C8"/>
                </a:solidFill>
                <a:latin typeface="Arial"/>
              </a:rPr>
              <a:t>▸  </a:t>
            </a:r>
            <a:r>
              <a:rPr sz="1250" b="1">
                <a:solidFill>
                  <a:srgbClr val="FFFFFF"/>
                </a:solidFill>
                <a:latin typeface="Arial"/>
              </a:rPr>
              <a:t>Passage du réactif au proactif</a:t>
            </a:r>
            <a:r>
              <a:rPr sz="1250" b="0">
                <a:solidFill>
                  <a:srgbClr val="FFFFFF"/>
                </a:solidFill>
                <a:latin typeface="Arial"/>
              </a:rPr>
              <a:t> : Zabbix détecte les signes précurseurs avant la panne.</a:t>
            </a:r>
          </a:p>
          <a:p>
            <a:pPr>
              <a:lnSpc>
                <a:spcPct val="105000"/>
              </a:lnSpc>
              <a:spcBef>
                <a:spcPts val="0"/>
              </a:spcBef>
              <a:spcAft>
                <a:spcPts val="1100"/>
              </a:spcAft>
            </a:pPr>
            <a:r>
              <a:rPr sz="1250" b="1">
                <a:solidFill>
                  <a:srgbClr val="00B4C8"/>
                </a:solidFill>
                <a:latin typeface="Arial"/>
              </a:rPr>
              <a:t>▸  </a:t>
            </a:r>
            <a:r>
              <a:rPr sz="1250" b="1">
                <a:solidFill>
                  <a:srgbClr val="FFFFFF"/>
                </a:solidFill>
                <a:latin typeface="Arial"/>
              </a:rPr>
              <a:t>Gage de crédibilité</a:t>
            </a:r>
            <a:r>
              <a:rPr sz="1250" b="0">
                <a:solidFill>
                  <a:srgbClr val="FFFFFF"/>
                </a:solidFill>
                <a:latin typeface="Arial"/>
              </a:rPr>
              <a:t> vis-à-vis des clients : preuve chiffrée de conformité.</a:t>
            </a:r>
          </a:p>
        </p:txBody>
      </p:sp>
      <p:sp>
        <p:nvSpPr>
          <p:cNvPr id="30" name="TextBox 29"/>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1" name="TextBox 30"/>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4</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4 — DÉTAIL CARBONE</a:t>
            </a:r>
          </a:p>
          <a:p>
            <a:pPr algn="l">
              <a:lnSpc>
                <a:spcPct val="100000"/>
              </a:lnSpc>
              <a:spcBef>
                <a:spcPts val="0"/>
              </a:spcBef>
              <a:spcAft>
                <a:spcPts val="600"/>
              </a:spcAft>
            </a:pPr>
            <a:r>
              <a:rPr sz="2200" b="1" i="0">
                <a:solidFill>
                  <a:srgbClr val="FFFFFF"/>
                </a:solidFill>
                <a:latin typeface="Arial"/>
              </a:rPr>
              <a:t>Les hypothèses du bilan CO2 — sources officielles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3444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F1B2D"/>
                </a:solidFill>
                <a:latin typeface="Arial"/>
              </a:rPr>
              <a:t>478 kg CO2 nets économisés / an  ·  le serveur émet 5,9× moins que les trajets évités  ·  ≈ 2,4 t sur 5 ans</a:t>
            </a:r>
          </a:p>
        </p:txBody>
      </p:sp>
      <p:graphicFrame>
        <p:nvGraphicFramePr>
          <p:cNvPr id="9" name="Table 8"/>
          <p:cNvGraphicFramePr>
            <a:graphicFrameLocks noGrp="1"/>
          </p:cNvGraphicFramePr>
          <p:nvPr/>
        </p:nvGraphicFramePr>
        <p:xfrm>
          <a:off x="502920" y="1691640"/>
          <a:ext cx="11201400" cy="4005072"/>
        </p:xfrm>
        <a:graphic>
          <a:graphicData uri="http://schemas.openxmlformats.org/drawingml/2006/table">
            <a:tbl>
              <a:tblPr>
                <a:tableStyleId>{5C22544A-7EE6-4342-B048-85BDC9FD1C3A}</a:tableStyleId>
              </a:tblPr>
              <a:tblGrid>
                <a:gridCol w="3108960"/>
                <a:gridCol w="3108960"/>
                <a:gridCol w="4983480"/>
              </a:tblGrid>
              <a:tr h="384048">
                <a:tc>
                  <a:txBody>
                    <a:bodyPr wrap="square"/>
                    <a:lstStyle/>
                    <a:p>
                      <a:pPr>
                        <a:lnSpc>
                          <a:spcPct val="98000"/>
                        </a:lnSpc>
                      </a:pPr>
                      <a:r>
                        <a:rPr sz="1100" b="1">
                          <a:solidFill>
                            <a:srgbClr val="FFFFFF"/>
                          </a:solidFill>
                          <a:latin typeface="Arial"/>
                        </a:rPr>
                        <a:t>Paramètre</a:t>
                      </a:r>
                    </a:p>
                  </a:txBody>
                  <a:tcPr marL="73152" marR="73152" marT="27432" marB="27432" anchor="ctr">
                    <a:solidFill>
                      <a:srgbClr val="2EC48F"/>
                    </a:solidFill>
                  </a:tcPr>
                </a:tc>
                <a:tc>
                  <a:txBody>
                    <a:bodyPr wrap="square"/>
                    <a:lstStyle/>
                    <a:p>
                      <a:pPr>
                        <a:lnSpc>
                          <a:spcPct val="98000"/>
                        </a:lnSpc>
                      </a:pPr>
                      <a:r>
                        <a:rPr sz="1100" b="1">
                          <a:solidFill>
                            <a:srgbClr val="FFFFFF"/>
                          </a:solidFill>
                          <a:latin typeface="Arial"/>
                        </a:rPr>
                        <a:t>Valeur</a:t>
                      </a:r>
                    </a:p>
                  </a:txBody>
                  <a:tcPr marL="73152" marR="73152" marT="27432" marB="27432" anchor="ctr">
                    <a:solidFill>
                      <a:srgbClr val="2EC48F"/>
                    </a:solidFill>
                  </a:tcPr>
                </a:tc>
                <a:tc>
                  <a:txBody>
                    <a:bodyPr wrap="square"/>
                    <a:lstStyle/>
                    <a:p>
                      <a:pPr>
                        <a:lnSpc>
                          <a:spcPct val="98000"/>
                        </a:lnSpc>
                      </a:pPr>
                      <a:r>
                        <a:rPr sz="1100" b="1">
                          <a:solidFill>
                            <a:srgbClr val="FFFFFF"/>
                          </a:solidFill>
                          <a:latin typeface="Arial"/>
                        </a:rPr>
                        <a:t>Source / justification</a:t>
                      </a:r>
                    </a:p>
                  </a:txBody>
                  <a:tcPr marL="73152" marR="73152" marT="27432" marB="27432" anchor="ctr">
                    <a:solidFill>
                      <a:srgbClr val="2EC48F"/>
                    </a:solidFill>
                  </a:tcPr>
                </a:tc>
              </a:tr>
              <a:tr h="603504">
                <a:tc>
                  <a:txBody>
                    <a:bodyPr wrap="square"/>
                    <a:lstStyle/>
                    <a:p>
                      <a:pPr>
                        <a:lnSpc>
                          <a:spcPct val="98000"/>
                        </a:lnSpc>
                      </a:pPr>
                      <a:r>
                        <a:rPr sz="1100" b="1">
                          <a:solidFill>
                            <a:srgbClr val="0F1B2D"/>
                          </a:solidFill>
                          <a:latin typeface="Arial"/>
                        </a:rPr>
                        <a:t>Émission VUL diesel</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180 g CO2/km</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ADEME — Base Carbone 2023 (référentiel officiel)</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Mix électrique français</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56 g CO2/kWh</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RTE éco2mix 2023 — faible car &gt;70 % nucléaire</a:t>
                      </a:r>
                    </a:p>
                  </a:txBody>
                  <a:tcPr marL="73152" marR="73152" marT="27432" marB="27432" anchor="ctr">
                    <a:solidFill>
                      <a:srgbClr val="F4F7FA"/>
                    </a:solidFill>
                  </a:tcPr>
                </a:tc>
              </a:tr>
              <a:tr h="603504">
                <a:tc>
                  <a:txBody>
                    <a:bodyPr wrap="square"/>
                    <a:lstStyle/>
                    <a:p>
                      <a:pPr>
                        <a:lnSpc>
                          <a:spcPct val="98000"/>
                        </a:lnSpc>
                      </a:pPr>
                      <a:r>
                        <a:rPr sz="1100" b="1">
                          <a:solidFill>
                            <a:srgbClr val="0F1B2D"/>
                          </a:solidFill>
                          <a:latin typeface="Arial"/>
                        </a:rPr>
                        <a:t>Puissance serveur HPE</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200 W</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HPE QuickSpecs (valeur en charge, majorante)</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Déplacements évités</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32 / an</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2 interventions/client/an × 16 clients (borne basse)</a:t>
                      </a:r>
                    </a:p>
                  </a:txBody>
                  <a:tcPr marL="73152" marR="73152" marT="27432" marB="27432" anchor="ctr">
                    <a:solidFill>
                      <a:srgbClr val="F4F7FA"/>
                    </a:solidFill>
                  </a:tcPr>
                </a:tc>
              </a:tr>
              <a:tr h="603504">
                <a:tc>
                  <a:txBody>
                    <a:bodyPr wrap="square"/>
                    <a:lstStyle/>
                    <a:p>
                      <a:pPr>
                        <a:lnSpc>
                          <a:spcPct val="98000"/>
                        </a:lnSpc>
                      </a:pPr>
                      <a:r>
                        <a:rPr sz="1100" b="1">
                          <a:solidFill>
                            <a:srgbClr val="0F1B2D"/>
                          </a:solidFill>
                          <a:latin typeface="Arial"/>
                        </a:rPr>
                        <a:t>Distance A/R</a:t>
                      </a:r>
                    </a:p>
                  </a:txBody>
                  <a:tcPr marL="73152" marR="73152" marT="27432" marB="27432" anchor="ctr">
                    <a:solidFill>
                      <a:srgbClr val="FFFFFF"/>
                    </a:solidFill>
                  </a:tcPr>
                </a:tc>
                <a:tc>
                  <a:txBody>
                    <a:bodyPr wrap="square"/>
                    <a:lstStyle/>
                    <a:p>
                      <a:pPr>
                        <a:lnSpc>
                          <a:spcPct val="98000"/>
                        </a:lnSpc>
                      </a:pPr>
                      <a:r>
                        <a:rPr sz="1100" b="0">
                          <a:solidFill>
                            <a:srgbClr val="1B2633"/>
                          </a:solidFill>
                          <a:latin typeface="Arial"/>
                        </a:rPr>
                        <a:t>100 km</a:t>
                      </a:r>
                    </a:p>
                  </a:txBody>
                  <a:tcPr marL="73152" marR="73152" marT="27432" marB="27432" anchor="ctr">
                    <a:solidFill>
                      <a:srgbClr val="FFFFFF"/>
                    </a:solidFill>
                  </a:tcPr>
                </a:tc>
                <a:tc>
                  <a:txBody>
                    <a:bodyPr wrap="square"/>
                    <a:lstStyle/>
                    <a:p>
                      <a:pPr>
                        <a:lnSpc>
                          <a:spcPct val="98000"/>
                        </a:lnSpc>
                      </a:pPr>
                      <a:r>
                        <a:rPr sz="1100" b="1">
                          <a:solidFill>
                            <a:srgbClr val="B06A0A"/>
                          </a:solidFill>
                          <a:latin typeface="Arial"/>
                        </a:rPr>
                        <a:t>Seule hyp. non sourcée → sensibilité 50-200 km</a:t>
                      </a:r>
                    </a:p>
                  </a:txBody>
                  <a:tcPr marL="73152" marR="73152" marT="27432" marB="27432" anchor="ctr">
                    <a:solidFill>
                      <a:srgbClr val="FFFFFF"/>
                    </a:solidFill>
                  </a:tcPr>
                </a:tc>
              </a:tr>
              <a:tr h="603504">
                <a:tc>
                  <a:txBody>
                    <a:bodyPr wrap="square"/>
                    <a:lstStyle/>
                    <a:p>
                      <a:pPr>
                        <a:lnSpc>
                          <a:spcPct val="98000"/>
                        </a:lnSpc>
                      </a:pPr>
                      <a:r>
                        <a:rPr sz="1100" b="1">
                          <a:solidFill>
                            <a:srgbClr val="0F1B2D"/>
                          </a:solidFill>
                          <a:latin typeface="Arial"/>
                        </a:rPr>
                        <a:t>Bilan net</a:t>
                      </a:r>
                    </a:p>
                  </a:txBody>
                  <a:tcPr marL="73152" marR="73152" marT="27432" marB="27432" anchor="ctr">
                    <a:solidFill>
                      <a:srgbClr val="F4F7FA"/>
                    </a:solidFill>
                  </a:tcPr>
                </a:tc>
                <a:tc>
                  <a:txBody>
                    <a:bodyPr wrap="square"/>
                    <a:lstStyle/>
                    <a:p>
                      <a:pPr>
                        <a:lnSpc>
                          <a:spcPct val="98000"/>
                        </a:lnSpc>
                      </a:pPr>
                      <a:r>
                        <a:rPr sz="1100" b="0">
                          <a:solidFill>
                            <a:srgbClr val="1B2633"/>
                          </a:solidFill>
                          <a:latin typeface="Arial"/>
                        </a:rPr>
                        <a:t>576 − 98 kg</a:t>
                      </a:r>
                    </a:p>
                  </a:txBody>
                  <a:tcPr marL="73152" marR="73152" marT="27432" marB="27432" anchor="ctr">
                    <a:solidFill>
                      <a:srgbClr val="F4F7FA"/>
                    </a:solidFill>
                  </a:tcPr>
                </a:tc>
                <a:tc>
                  <a:txBody>
                    <a:bodyPr wrap="square"/>
                    <a:lstStyle/>
                    <a:p>
                      <a:pPr>
                        <a:lnSpc>
                          <a:spcPct val="98000"/>
                        </a:lnSpc>
                      </a:pPr>
                      <a:r>
                        <a:rPr sz="1100" b="1">
                          <a:solidFill>
                            <a:srgbClr val="1E8E66"/>
                          </a:solidFill>
                          <a:latin typeface="Arial"/>
                        </a:rPr>
                        <a:t>= 478 kg/an ; positif même à 50 km (+190 kg, 2,9×)</a:t>
                      </a:r>
                    </a:p>
                  </a:txBody>
                  <a:tcPr marL="73152" marR="73152" marT="27432" marB="27432" anchor="ctr">
                    <a:solidFill>
                      <a:srgbClr val="F4F7FA"/>
                    </a:solidFill>
                  </a:tcPr>
                </a:tc>
              </a:tr>
            </a:tbl>
          </a:graphicData>
        </a:graphic>
      </p:graphicFrame>
      <p:sp>
        <p:nvSpPr>
          <p:cNvPr id="10" name="TextBox 9"/>
          <p:cNvSpPr txBox="1"/>
          <p:nvPr/>
        </p:nvSpPr>
        <p:spPr>
          <a:xfrm>
            <a:off x="502920" y="5897880"/>
            <a:ext cx="11155680" cy="45720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6B7A8C"/>
                </a:solidFill>
                <a:latin typeface="Arial"/>
              </a:rPr>
              <a:t>Le « paradoxe du serveur allumé H24 » est levé par le calcul, pas par l’intuition — et dans aucun scénario testé le bilan ne devient négatif.</a:t>
            </a:r>
          </a:p>
        </p:txBody>
      </p:sp>
      <p:sp>
        <p:nvSpPr>
          <p:cNvPr id="11" name="TextBox 10"/>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12" name="TextBox 11"/>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gradFill>
            <a:gsLst>
              <a:gs pos="0">
                <a:srgbClr val="0F1B2D"/>
              </a:gs>
              <a:gs pos="100000">
                <a:srgbClr val="1B3A5C"/>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46888"/>
            <a:ext cx="566928" cy="566928"/>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6888"/>
            <a:ext cx="566928" cy="566928"/>
          </a:xfrm>
          <a:prstGeom prst="rect">
            <a:avLst/>
          </a:prstGeom>
          <a:noFill/>
        </p:spPr>
        <p:txBody>
          <a:bodyPr wrap="square" anchor="ctr" lIns="0" rIns="0" tIns="0" bIns="0">
            <a:spAutoFit/>
          </a:bodyPr>
          <a:lstStyle/>
          <a:p>
            <a:pPr algn="ctr">
              <a:lnSpc>
                <a:spcPct val="100000"/>
              </a:lnSpc>
              <a:spcBef>
                <a:spcPts val="0"/>
              </a:spcBef>
              <a:spcAft>
                <a:spcPts val="600"/>
              </a:spcAft>
            </a:pPr>
            <a:r>
              <a:rPr sz="2600" b="1" i="0">
                <a:solidFill>
                  <a:srgbClr val="0F1B2D"/>
                </a:solidFill>
                <a:latin typeface="Arial"/>
              </a:rPr>
              <a:t>5</a:t>
            </a:r>
          </a:p>
        </p:txBody>
      </p:sp>
      <p:sp>
        <p:nvSpPr>
          <p:cNvPr id="6" name="TextBox 5"/>
          <p:cNvSpPr txBox="1"/>
          <p:nvPr/>
        </p:nvSpPr>
        <p:spPr>
          <a:xfrm>
            <a:off x="1207008" y="182880"/>
            <a:ext cx="8778240" cy="777240"/>
          </a:xfrm>
          <a:prstGeom prst="rect">
            <a:avLst/>
          </a:prstGeom>
          <a:noFill/>
        </p:spPr>
        <p:txBody>
          <a:bodyPr wrap="square" anchor="ctr" lIns="0" rIns="0" tIns="0" bIns="0">
            <a:spAutoFit/>
          </a:bodyPr>
          <a:lstStyle/>
          <a:p>
            <a:pPr algn="l">
              <a:lnSpc>
                <a:spcPct val="100000"/>
              </a:lnSpc>
              <a:spcBef>
                <a:spcPts val="0"/>
              </a:spcBef>
              <a:spcAft>
                <a:spcPts val="600"/>
              </a:spcAft>
            </a:pPr>
            <a:r>
              <a:rPr sz="1050" b="1" i="0">
                <a:solidFill>
                  <a:srgbClr val="00B4C8"/>
                </a:solidFill>
                <a:latin typeface="Arial"/>
              </a:rPr>
              <a:t>CHAPITRE 5</a:t>
            </a:r>
          </a:p>
          <a:p>
            <a:pPr algn="l">
              <a:lnSpc>
                <a:spcPct val="100000"/>
              </a:lnSpc>
              <a:spcBef>
                <a:spcPts val="0"/>
              </a:spcBef>
              <a:spcAft>
                <a:spcPts val="600"/>
              </a:spcAft>
            </a:pPr>
            <a:r>
              <a:rPr sz="2200" b="1" i="0">
                <a:solidFill>
                  <a:srgbClr val="FFFFFF"/>
                </a:solidFill>
                <a:latin typeface="Arial"/>
              </a:rPr>
              <a:t>Bilan &amp; perspectives</a:t>
            </a:r>
          </a:p>
        </p:txBody>
      </p:sp>
      <p:sp>
        <p:nvSpPr>
          <p:cNvPr id="7" name="Rectangle 6"/>
          <p:cNvSpPr/>
          <p:nvPr/>
        </p:nvSpPr>
        <p:spPr>
          <a:xfrm>
            <a:off x="0" y="1078992"/>
            <a:ext cx="12191695"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11155680" cy="365760"/>
          </a:xfrm>
          <a:prstGeom prst="rect">
            <a:avLst/>
          </a:prstGeom>
          <a:noFill/>
        </p:spPr>
        <p:txBody>
          <a:bodyPr wrap="square" anchor="t" lIns="0" rIns="0" tIns="0" bIns="0">
            <a:spAutoFit/>
          </a:bodyPr>
          <a:lstStyle/>
          <a:p>
            <a:pPr algn="l">
              <a:lnSpc>
                <a:spcPct val="100000"/>
              </a:lnSpc>
              <a:spcBef>
                <a:spcPts val="0"/>
              </a:spcBef>
              <a:spcAft>
                <a:spcPts val="600"/>
              </a:spcAft>
            </a:pPr>
            <a:r>
              <a:rPr sz="1350" b="1" i="0">
                <a:solidFill>
                  <a:srgbClr val="0F1B2D"/>
                </a:solidFill>
                <a:latin typeface="Arial"/>
              </a:rPr>
              <a:t>La problématique trouve une réponse opérationnelle complète : les 5 jalons sont atteints.</a:t>
            </a:r>
          </a:p>
        </p:txBody>
      </p:sp>
      <p:sp>
        <p:nvSpPr>
          <p:cNvPr id="9" name="Rounded Rectangle 8"/>
          <p:cNvSpPr/>
          <p:nvPr/>
        </p:nvSpPr>
        <p:spPr>
          <a:xfrm>
            <a:off x="502920" y="1783080"/>
            <a:ext cx="2715768" cy="13716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783080"/>
            <a:ext cx="2715768" cy="4445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2024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F1B2D"/>
                </a:solidFill>
                <a:latin typeface="Arial"/>
              </a:rPr>
              <a:t>✓ Centralisée</a:t>
            </a:r>
          </a:p>
        </p:txBody>
      </p:sp>
      <p:sp>
        <p:nvSpPr>
          <p:cNvPr id="12" name="TextBox 11"/>
          <p:cNvSpPr txBox="1"/>
          <p:nvPr/>
        </p:nvSpPr>
        <p:spPr>
          <a:xfrm>
            <a:off x="685800" y="2331720"/>
            <a:ext cx="2377440" cy="7772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Plateforme Zabbix-Grafana unique sur serveur HPE.</a:t>
            </a:r>
          </a:p>
        </p:txBody>
      </p:sp>
      <p:sp>
        <p:nvSpPr>
          <p:cNvPr id="13" name="Rounded Rectangle 12"/>
          <p:cNvSpPr/>
          <p:nvPr/>
        </p:nvSpPr>
        <p:spPr>
          <a:xfrm>
            <a:off x="3337560" y="1783080"/>
            <a:ext cx="2715768" cy="13716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783080"/>
            <a:ext cx="2715768" cy="4445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192024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F1B2D"/>
                </a:solidFill>
                <a:latin typeface="Arial"/>
              </a:rPr>
              <a:t>✓ Fiable</a:t>
            </a:r>
          </a:p>
        </p:txBody>
      </p:sp>
      <p:sp>
        <p:nvSpPr>
          <p:cNvPr id="16" name="TextBox 15"/>
          <p:cNvSpPr txBox="1"/>
          <p:nvPr/>
        </p:nvSpPr>
        <p:spPr>
          <a:xfrm>
            <a:off x="3520440" y="2331720"/>
            <a:ext cx="2377440" cy="7772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MIB Ericsson investiguées + validation contradictoire des signaux.</a:t>
            </a:r>
          </a:p>
        </p:txBody>
      </p:sp>
      <p:sp>
        <p:nvSpPr>
          <p:cNvPr id="17" name="Rounded Rectangle 16"/>
          <p:cNvSpPr/>
          <p:nvPr/>
        </p:nvSpPr>
        <p:spPr>
          <a:xfrm>
            <a:off x="6172200" y="1783080"/>
            <a:ext cx="2715768" cy="13716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783080"/>
            <a:ext cx="2715768" cy="4445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92024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F1B2D"/>
                </a:solidFill>
                <a:latin typeface="Arial"/>
              </a:rPr>
              <a:t>✓ Temps réel</a:t>
            </a:r>
          </a:p>
        </p:txBody>
      </p:sp>
      <p:sp>
        <p:nvSpPr>
          <p:cNvPr id="20" name="TextBox 19"/>
          <p:cNvSpPr txBox="1"/>
          <p:nvPr/>
        </p:nvSpPr>
        <p:spPr>
          <a:xfrm>
            <a:off x="6355080" y="2331720"/>
            <a:ext cx="2377440" cy="7772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Polling 1 min + traitement des traps spontanés.</a:t>
            </a:r>
          </a:p>
        </p:txBody>
      </p:sp>
      <p:sp>
        <p:nvSpPr>
          <p:cNvPr id="21" name="Rounded Rectangle 20"/>
          <p:cNvSpPr/>
          <p:nvPr/>
        </p:nvSpPr>
        <p:spPr>
          <a:xfrm>
            <a:off x="9006840" y="1783080"/>
            <a:ext cx="2715768" cy="137160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06840" y="1783080"/>
            <a:ext cx="2715768" cy="44450"/>
          </a:xfrm>
          <a:prstGeom prst="rect">
            <a:avLst/>
          </a:prstGeom>
          <a:solidFill>
            <a:srgbClr val="2EC4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20" y="1920240"/>
            <a:ext cx="2377440" cy="36576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F1B2D"/>
                </a:solidFill>
                <a:latin typeface="Arial"/>
              </a:rPr>
              <a:t>✓ À distance</a:t>
            </a:r>
          </a:p>
        </p:txBody>
      </p:sp>
      <p:sp>
        <p:nvSpPr>
          <p:cNvPr id="24" name="TextBox 23"/>
          <p:cNvSpPr txBox="1"/>
          <p:nvPr/>
        </p:nvSpPr>
        <p:spPr>
          <a:xfrm>
            <a:off x="9189720" y="2331720"/>
            <a:ext cx="2377440" cy="7772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1B2633"/>
                </a:solidFill>
                <a:latin typeface="Arial"/>
              </a:rPr>
              <a:t>Tunnels VPN + consultation web des tableaux de bord.</a:t>
            </a:r>
          </a:p>
        </p:txBody>
      </p:sp>
      <p:sp>
        <p:nvSpPr>
          <p:cNvPr id="25" name="Rounded Rectangle 24"/>
          <p:cNvSpPr/>
          <p:nvPr/>
        </p:nvSpPr>
        <p:spPr>
          <a:xfrm>
            <a:off x="502920" y="3337560"/>
            <a:ext cx="5486400" cy="278892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493008"/>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PERSPECTIVES</a:t>
            </a:r>
          </a:p>
        </p:txBody>
      </p:sp>
      <p:sp>
        <p:nvSpPr>
          <p:cNvPr id="27" name="TextBox 26"/>
          <p:cNvSpPr txBox="1"/>
          <p:nvPr/>
        </p:nvSpPr>
        <p:spPr>
          <a:xfrm>
            <a:off x="777240" y="3931920"/>
            <a:ext cx="4937760" cy="457200"/>
          </a:xfrm>
          <a:prstGeom prst="rect">
            <a:avLst/>
          </a:prstGeom>
          <a:noFill/>
        </p:spPr>
        <p:txBody>
          <a:bodyPr wrap="square" lIns="0" rIns="0" tIns="0" bIns="0">
            <a:spAutoFit/>
          </a:bodyPr>
          <a:lstStyle/>
          <a:p>
            <a:pPr>
              <a:lnSpc>
                <a:spcPct val="105000"/>
              </a:lnSpc>
              <a:spcBef>
                <a:spcPts val="0"/>
              </a:spcBef>
              <a:spcAft>
                <a:spcPts val="1000"/>
              </a:spcAft>
            </a:pPr>
            <a:r>
              <a:rPr sz="1200" b="1">
                <a:solidFill>
                  <a:srgbClr val="00B4C8"/>
                </a:solidFill>
                <a:latin typeface="Arial"/>
              </a:rPr>
              <a:t>▸  </a:t>
            </a:r>
            <a:r>
              <a:rPr sz="1200" b="1">
                <a:solidFill>
                  <a:srgbClr val="FFFFFF"/>
                </a:solidFill>
                <a:latin typeface="Arial"/>
              </a:rPr>
              <a:t>Élargir le parc supervisé</a:t>
            </a:r>
            <a:r>
              <a:rPr sz="1200" b="0">
                <a:solidFill>
                  <a:srgbClr val="FFFFFF"/>
                </a:solidFill>
                <a:latin typeface="Arial"/>
              </a:rPr>
              <a:t> : axe n°1 — chaque nouveau client ≈ flux net intégral (OPEX fixe).</a:t>
            </a:r>
          </a:p>
          <a:p>
            <a:pPr>
              <a:lnSpc>
                <a:spcPct val="105000"/>
              </a:lnSpc>
              <a:spcBef>
                <a:spcPts val="0"/>
              </a:spcBef>
              <a:spcAft>
                <a:spcPts val="1000"/>
              </a:spcAft>
            </a:pPr>
            <a:r>
              <a:rPr sz="1200" b="1">
                <a:solidFill>
                  <a:srgbClr val="00B4C8"/>
                </a:solidFill>
                <a:latin typeface="Arial"/>
              </a:rPr>
              <a:t>▸  </a:t>
            </a:r>
            <a:r>
              <a:rPr sz="1200" b="1">
                <a:solidFill>
                  <a:srgbClr val="FFFFFF"/>
                </a:solidFill>
                <a:latin typeface="Arial"/>
              </a:rPr>
              <a:t>Industrialiser l’IA locale</a:t>
            </a:r>
            <a:r>
              <a:rPr sz="1200" b="0">
                <a:solidFill>
                  <a:srgbClr val="FFFFFF"/>
                </a:solidFill>
                <a:latin typeface="Arial"/>
              </a:rPr>
              <a:t> : corrélation d’alarmes &amp; assistant conversationnel.</a:t>
            </a:r>
          </a:p>
          <a:p>
            <a:pPr>
              <a:lnSpc>
                <a:spcPct val="105000"/>
              </a:lnSpc>
              <a:spcBef>
                <a:spcPts val="0"/>
              </a:spcBef>
              <a:spcAft>
                <a:spcPts val="1000"/>
              </a:spcAft>
            </a:pPr>
            <a:r>
              <a:rPr sz="1200" b="1">
                <a:solidFill>
                  <a:srgbClr val="00B4C8"/>
                </a:solidFill>
                <a:latin typeface="Arial"/>
              </a:rPr>
              <a:t>▸  </a:t>
            </a:r>
            <a:r>
              <a:rPr sz="1200" b="1">
                <a:solidFill>
                  <a:srgbClr val="FFFFFF"/>
                </a:solidFill>
                <a:latin typeface="Arial"/>
              </a:rPr>
              <a:t>Pérennité</a:t>
            </a:r>
            <a:r>
              <a:rPr sz="1200" b="0">
                <a:solidFill>
                  <a:srgbClr val="FFFFFF"/>
                </a:solidFill>
                <a:latin typeface="Arial"/>
              </a:rPr>
              <a:t> : documentation complète, templates réutilisables, reprise par le service RMP.</a:t>
            </a:r>
          </a:p>
        </p:txBody>
      </p:sp>
      <p:sp>
        <p:nvSpPr>
          <p:cNvPr id="28" name="Rounded Rectangle 27"/>
          <p:cNvSpPr/>
          <p:nvPr/>
        </p:nvSpPr>
        <p:spPr>
          <a:xfrm>
            <a:off x="6217920" y="3337560"/>
            <a:ext cx="5486400" cy="2788920"/>
          </a:xfrm>
          <a:prstGeom prst="roundRect">
            <a:avLst>
              <a:gd name="adj" fmla="val 6000"/>
            </a:avLst>
          </a:prstGeom>
          <a:solidFill>
            <a:srgbClr val="F4F7FA"/>
          </a:solidFill>
          <a:ln w="12700">
            <a:solidFill>
              <a:srgbClr val="DD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493008"/>
            <a:ext cx="4937760" cy="365760"/>
          </a:xfrm>
          <a:prstGeom prst="rect">
            <a:avLst/>
          </a:prstGeom>
          <a:noFill/>
        </p:spPr>
        <p:txBody>
          <a:bodyPr wrap="square" anchor="t" lIns="0" rIns="0" tIns="0" bIns="0">
            <a:spAutoFit/>
          </a:bodyPr>
          <a:lstStyle/>
          <a:p>
            <a:pPr algn="l">
              <a:lnSpc>
                <a:spcPct val="100000"/>
              </a:lnSpc>
              <a:spcBef>
                <a:spcPts val="0"/>
              </a:spcBef>
              <a:spcAft>
                <a:spcPts val="600"/>
              </a:spcAft>
            </a:pPr>
            <a:r>
              <a:rPr sz="1250" b="1" i="0">
                <a:solidFill>
                  <a:srgbClr val="00B4C8"/>
                </a:solidFill>
                <a:latin typeface="Arial"/>
              </a:rPr>
              <a:t>MA MONTÉE EN COMPÉTENCES</a:t>
            </a:r>
          </a:p>
        </p:txBody>
      </p:sp>
      <p:sp>
        <p:nvSpPr>
          <p:cNvPr id="30" name="TextBox 29"/>
          <p:cNvSpPr txBox="1"/>
          <p:nvPr/>
        </p:nvSpPr>
        <p:spPr>
          <a:xfrm>
            <a:off x="6492240" y="3931920"/>
            <a:ext cx="4937760" cy="457200"/>
          </a:xfrm>
          <a:prstGeom prst="rect">
            <a:avLst/>
          </a:prstGeom>
          <a:noFill/>
        </p:spPr>
        <p:txBody>
          <a:bodyPr wrap="square" lIns="0" rIns="0" tIns="0" bIns="0">
            <a:spAutoFit/>
          </a:bodyPr>
          <a:lstStyle/>
          <a:p>
            <a:pPr>
              <a:lnSpc>
                <a:spcPct val="105000"/>
              </a:lnSpc>
              <a:spcBef>
                <a:spcPts val="0"/>
              </a:spcBef>
              <a:spcAft>
                <a:spcPts val="1000"/>
              </a:spcAft>
            </a:pPr>
            <a:r>
              <a:rPr sz="1200" b="1">
                <a:solidFill>
                  <a:srgbClr val="00B4C8"/>
                </a:solidFill>
                <a:latin typeface="Arial"/>
              </a:rPr>
              <a:t>▸  </a:t>
            </a:r>
            <a:r>
              <a:rPr sz="1200" b="1">
                <a:solidFill>
                  <a:srgbClr val="1B2633"/>
                </a:solidFill>
                <a:latin typeface="Arial"/>
              </a:rPr>
              <a:t>Technique</a:t>
            </a:r>
            <a:r>
              <a:rPr sz="1200" b="0">
                <a:solidFill>
                  <a:srgbClr val="1B2633"/>
                </a:solidFill>
                <a:latin typeface="Arial"/>
              </a:rPr>
              <a:t> : SNMP, MIB, liaisons hertziennes, Zabbix/Grafana de A à Z, VPN/NoNat.</a:t>
            </a:r>
          </a:p>
          <a:p>
            <a:pPr>
              <a:lnSpc>
                <a:spcPct val="105000"/>
              </a:lnSpc>
              <a:spcBef>
                <a:spcPts val="0"/>
              </a:spcBef>
              <a:spcAft>
                <a:spcPts val="1000"/>
              </a:spcAft>
            </a:pPr>
            <a:r>
              <a:rPr sz="1200" b="1">
                <a:solidFill>
                  <a:srgbClr val="00B4C8"/>
                </a:solidFill>
                <a:latin typeface="Arial"/>
              </a:rPr>
              <a:t>▸  </a:t>
            </a:r>
            <a:r>
              <a:rPr sz="1200" b="1">
                <a:solidFill>
                  <a:srgbClr val="1B2633"/>
                </a:solidFill>
                <a:latin typeface="Arial"/>
              </a:rPr>
              <a:t>Méthode</a:t>
            </a:r>
            <a:r>
              <a:rPr sz="1200" b="0">
                <a:solidFill>
                  <a:srgbClr val="1B2633"/>
                </a:solidFill>
                <a:latin typeface="Arial"/>
              </a:rPr>
              <a:t> : WBS, RACI, EBIOS RM, SWOT, suivi des écarts.</a:t>
            </a:r>
          </a:p>
          <a:p>
            <a:pPr>
              <a:lnSpc>
                <a:spcPct val="105000"/>
              </a:lnSpc>
              <a:spcBef>
                <a:spcPts val="0"/>
              </a:spcBef>
              <a:spcAft>
                <a:spcPts val="1000"/>
              </a:spcAft>
            </a:pPr>
            <a:r>
              <a:rPr sz="1200" b="1">
                <a:solidFill>
                  <a:srgbClr val="00B4C8"/>
                </a:solidFill>
                <a:latin typeface="Arial"/>
              </a:rPr>
              <a:t>▸  </a:t>
            </a:r>
            <a:r>
              <a:rPr sz="1200" b="1">
                <a:solidFill>
                  <a:srgbClr val="1B2633"/>
                </a:solidFill>
                <a:latin typeface="Arial"/>
              </a:rPr>
              <a:t>Avenir</a:t>
            </a:r>
            <a:r>
              <a:rPr sz="1200" b="0">
                <a:solidFill>
                  <a:srgbClr val="1B2633"/>
                </a:solidFill>
                <a:latin typeface="Arial"/>
              </a:rPr>
              <a:t> : poursuite en école d’ingénieur en alternance, chez Axians RMP.</a:t>
            </a:r>
          </a:p>
        </p:txBody>
      </p:sp>
      <p:sp>
        <p:nvSpPr>
          <p:cNvPr id="31" name="TextBox 30"/>
          <p:cNvSpPr txBox="1"/>
          <p:nvPr/>
        </p:nvSpPr>
        <p:spPr>
          <a:xfrm>
            <a:off x="457200" y="6455664"/>
            <a:ext cx="5486400" cy="310896"/>
          </a:xfrm>
          <a:prstGeom prst="rect">
            <a:avLst/>
          </a:prstGeom>
          <a:noFill/>
        </p:spPr>
        <p:txBody>
          <a:bodyPr wrap="square" anchor="ctr" lIns="0" rIns="0" tIns="0" bIns="0">
            <a:spAutoFit/>
          </a:bodyPr>
          <a:lstStyle/>
          <a:p>
            <a:pPr algn="l">
              <a:lnSpc>
                <a:spcPct val="100000"/>
              </a:lnSpc>
              <a:spcBef>
                <a:spcPts val="0"/>
              </a:spcBef>
              <a:spcAft>
                <a:spcPts val="600"/>
              </a:spcAft>
            </a:pPr>
            <a:r>
              <a:rPr sz="850" b="0" i="0">
                <a:solidFill>
                  <a:srgbClr val="6B7A8C"/>
                </a:solidFill>
                <a:latin typeface="Arial"/>
              </a:rPr>
              <a:t>Aphélie — Supervision centralisée des faisceaux hertziens</a:t>
            </a:r>
          </a:p>
        </p:txBody>
      </p:sp>
      <p:sp>
        <p:nvSpPr>
          <p:cNvPr id="32" name="TextBox 31"/>
          <p:cNvSpPr txBox="1"/>
          <p:nvPr/>
        </p:nvSpPr>
        <p:spPr>
          <a:xfrm>
            <a:off x="9509760" y="6455664"/>
            <a:ext cx="2221992" cy="310896"/>
          </a:xfrm>
          <a:prstGeom prst="rect">
            <a:avLst/>
          </a:prstGeom>
          <a:noFill/>
        </p:spPr>
        <p:txBody>
          <a:bodyPr wrap="square" anchor="ctr" lIns="0" rIns="0" tIns="0" bIns="0">
            <a:spAutoFit/>
          </a:bodyPr>
          <a:lstStyle/>
          <a:p>
            <a:pPr algn="r">
              <a:lnSpc>
                <a:spcPct val="100000"/>
              </a:lnSpc>
              <a:spcBef>
                <a:spcPts val="0"/>
              </a:spcBef>
              <a:spcAft>
                <a:spcPts val="600"/>
              </a:spcAft>
            </a:pPr>
            <a:r>
              <a:rPr sz="850" b="0" i="0">
                <a:solidFill>
                  <a:srgbClr val="6B7A8C"/>
                </a:solidFill>
                <a:latin typeface="Arial"/>
              </a:rPr>
              <a:t>Ilyesse KEBAILI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0F1B2D"/>
              </a:gs>
              <a:gs pos="100000">
                <a:srgbClr val="1B3A5C"/>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98480" y="512064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338560" y="566928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41280" y="585216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612880" y="4937760"/>
            <a:ext cx="118872" cy="118872"/>
          </a:xfrm>
          <a:prstGeom prst="ellipse">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280160"/>
            <a:ext cx="10058400" cy="457200"/>
          </a:xfrm>
          <a:prstGeom prst="rect">
            <a:avLst/>
          </a:prstGeom>
          <a:noFill/>
        </p:spPr>
        <p:txBody>
          <a:bodyPr wrap="square" anchor="t" lIns="0" rIns="0" tIns="0" bIns="0">
            <a:spAutoFit/>
          </a:bodyPr>
          <a:lstStyle/>
          <a:p>
            <a:pPr algn="l">
              <a:lnSpc>
                <a:spcPct val="100000"/>
              </a:lnSpc>
              <a:spcBef>
                <a:spcPts val="0"/>
              </a:spcBef>
              <a:spcAft>
                <a:spcPts val="600"/>
              </a:spcAft>
            </a:pPr>
            <a:r>
              <a:rPr sz="1400" b="1" i="0">
                <a:solidFill>
                  <a:srgbClr val="00B4C8"/>
                </a:solidFill>
                <a:latin typeface="Arial"/>
              </a:rPr>
              <a:t>EN CONCLUSION</a:t>
            </a:r>
          </a:p>
        </p:txBody>
      </p:sp>
      <p:sp>
        <p:nvSpPr>
          <p:cNvPr id="9" name="TextBox 8"/>
          <p:cNvSpPr txBox="1"/>
          <p:nvPr/>
        </p:nvSpPr>
        <p:spPr>
          <a:xfrm>
            <a:off x="822960" y="1783080"/>
            <a:ext cx="10607040" cy="1828800"/>
          </a:xfrm>
          <a:prstGeom prst="rect">
            <a:avLst/>
          </a:prstGeom>
          <a:noFill/>
        </p:spPr>
        <p:txBody>
          <a:bodyPr wrap="square" anchor="t" lIns="0" rIns="0" tIns="0" bIns="0">
            <a:spAutoFit/>
          </a:bodyPr>
          <a:lstStyle/>
          <a:p>
            <a:pPr algn="l">
              <a:lnSpc>
                <a:spcPct val="110000"/>
              </a:lnSpc>
              <a:spcBef>
                <a:spcPts val="0"/>
              </a:spcBef>
              <a:spcAft>
                <a:spcPts val="600"/>
              </a:spcAft>
            </a:pPr>
            <a:r>
              <a:rPr sz="3000" b="1" i="0">
                <a:solidFill>
                  <a:srgbClr val="FFFFFF"/>
                </a:solidFill>
                <a:latin typeface="Arial"/>
              </a:rPr>
              <a:t>D’une supervision obsolète à une plateforme</a:t>
            </a:r>
          </a:p>
          <a:p>
            <a:pPr algn="l">
              <a:lnSpc>
                <a:spcPct val="110000"/>
              </a:lnSpc>
              <a:spcBef>
                <a:spcPts val="0"/>
              </a:spcBef>
              <a:spcAft>
                <a:spcPts val="600"/>
              </a:spcAft>
            </a:pPr>
            <a:r>
              <a:rPr sz="3000" b="1" i="0">
                <a:solidFill>
                  <a:srgbClr val="FFFFFF"/>
                </a:solidFill>
                <a:latin typeface="Arial"/>
              </a:rPr>
              <a:t>centralisée, fiable, sécurisée et rentable.</a:t>
            </a:r>
          </a:p>
        </p:txBody>
      </p:sp>
      <p:sp>
        <p:nvSpPr>
          <p:cNvPr id="10" name="TextBox 9"/>
          <p:cNvSpPr txBox="1"/>
          <p:nvPr/>
        </p:nvSpPr>
        <p:spPr>
          <a:xfrm>
            <a:off x="822960" y="3383280"/>
            <a:ext cx="10424160" cy="914400"/>
          </a:xfrm>
          <a:prstGeom prst="rect">
            <a:avLst/>
          </a:prstGeom>
          <a:noFill/>
        </p:spPr>
        <p:txBody>
          <a:bodyPr wrap="square" anchor="t" lIns="0" rIns="0" tIns="0" bIns="0">
            <a:spAutoFit/>
          </a:bodyPr>
          <a:lstStyle/>
          <a:p>
            <a:pPr algn="l">
              <a:lnSpc>
                <a:spcPct val="120000"/>
              </a:lnSpc>
              <a:spcBef>
                <a:spcPts val="0"/>
              </a:spcBef>
              <a:spcAft>
                <a:spcPts val="600"/>
              </a:spcAft>
            </a:pPr>
            <a:r>
              <a:rPr sz="1500" b="0" i="0">
                <a:solidFill>
                  <a:srgbClr val="C3D0DE"/>
                </a:solidFill>
                <a:latin typeface="Arial"/>
              </a:rPr>
              <a:t>Un projet mené de bout en bout — du cadrage à la mise en production — qui constitue désormais un actif technique durable pour Axians RMP.</a:t>
            </a:r>
          </a:p>
        </p:txBody>
      </p:sp>
      <p:sp>
        <p:nvSpPr>
          <p:cNvPr id="11" name="Rounded Rectangle 10"/>
          <p:cNvSpPr/>
          <p:nvPr/>
        </p:nvSpPr>
        <p:spPr>
          <a:xfrm>
            <a:off x="822960" y="4343400"/>
            <a:ext cx="2468880" cy="914400"/>
          </a:xfrm>
          <a:prstGeom prst="roundRect">
            <a:avLst>
              <a:gd name="adj" fmla="val 6000"/>
            </a:avLst>
          </a:prstGeom>
          <a:solidFill>
            <a:srgbClr val="12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343400"/>
            <a:ext cx="2468880"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480560"/>
            <a:ext cx="2194560" cy="457200"/>
          </a:xfrm>
          <a:prstGeom prst="rect">
            <a:avLst/>
          </a:prstGeom>
          <a:noFill/>
        </p:spPr>
        <p:txBody>
          <a:bodyPr wrap="square" anchor="t" lIns="0" rIns="0" tIns="0" bIns="0">
            <a:spAutoFit/>
          </a:bodyPr>
          <a:lstStyle/>
          <a:p>
            <a:pPr algn="l">
              <a:lnSpc>
                <a:spcPct val="100000"/>
              </a:lnSpc>
              <a:spcBef>
                <a:spcPts val="0"/>
              </a:spcBef>
              <a:spcAft>
                <a:spcPts val="600"/>
              </a:spcAft>
            </a:pPr>
            <a:r>
              <a:rPr sz="2200" b="1" i="0">
                <a:solidFill>
                  <a:srgbClr val="00B4C8"/>
                </a:solidFill>
                <a:latin typeface="Arial"/>
              </a:rPr>
              <a:t>310 %</a:t>
            </a:r>
          </a:p>
        </p:txBody>
      </p:sp>
      <p:sp>
        <p:nvSpPr>
          <p:cNvPr id="14" name="TextBox 13"/>
          <p:cNvSpPr txBox="1"/>
          <p:nvPr/>
        </p:nvSpPr>
        <p:spPr>
          <a:xfrm>
            <a:off x="1005840" y="4919472"/>
            <a:ext cx="2194560" cy="3200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FFFFFF"/>
                </a:solidFill>
                <a:latin typeface="Arial"/>
              </a:rPr>
              <a:t>ROI à 5 ans</a:t>
            </a:r>
          </a:p>
        </p:txBody>
      </p:sp>
      <p:sp>
        <p:nvSpPr>
          <p:cNvPr id="15" name="Rounded Rectangle 14"/>
          <p:cNvSpPr/>
          <p:nvPr/>
        </p:nvSpPr>
        <p:spPr>
          <a:xfrm>
            <a:off x="3493008" y="4343400"/>
            <a:ext cx="2468880" cy="914400"/>
          </a:xfrm>
          <a:prstGeom prst="roundRect">
            <a:avLst>
              <a:gd name="adj" fmla="val 6000"/>
            </a:avLst>
          </a:prstGeom>
          <a:solidFill>
            <a:srgbClr val="12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4343400"/>
            <a:ext cx="2468880"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5888" y="4480560"/>
            <a:ext cx="2194560" cy="457200"/>
          </a:xfrm>
          <a:prstGeom prst="rect">
            <a:avLst/>
          </a:prstGeom>
          <a:noFill/>
        </p:spPr>
        <p:txBody>
          <a:bodyPr wrap="square" anchor="t" lIns="0" rIns="0" tIns="0" bIns="0">
            <a:spAutoFit/>
          </a:bodyPr>
          <a:lstStyle/>
          <a:p>
            <a:pPr algn="l">
              <a:lnSpc>
                <a:spcPct val="100000"/>
              </a:lnSpc>
              <a:spcBef>
                <a:spcPts val="0"/>
              </a:spcBef>
              <a:spcAft>
                <a:spcPts val="600"/>
              </a:spcAft>
            </a:pPr>
            <a:r>
              <a:rPr sz="2200" b="1" i="0">
                <a:solidFill>
                  <a:srgbClr val="00B4C8"/>
                </a:solidFill>
                <a:latin typeface="Arial"/>
              </a:rPr>
              <a:t>16</a:t>
            </a:r>
          </a:p>
        </p:txBody>
      </p:sp>
      <p:sp>
        <p:nvSpPr>
          <p:cNvPr id="18" name="TextBox 17"/>
          <p:cNvSpPr txBox="1"/>
          <p:nvPr/>
        </p:nvSpPr>
        <p:spPr>
          <a:xfrm>
            <a:off x="3675888" y="4919472"/>
            <a:ext cx="2194560" cy="3200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FFFFFF"/>
                </a:solidFill>
                <a:latin typeface="Arial"/>
              </a:rPr>
              <a:t>clients supervisés</a:t>
            </a:r>
          </a:p>
        </p:txBody>
      </p:sp>
      <p:sp>
        <p:nvSpPr>
          <p:cNvPr id="19" name="Rounded Rectangle 18"/>
          <p:cNvSpPr/>
          <p:nvPr/>
        </p:nvSpPr>
        <p:spPr>
          <a:xfrm>
            <a:off x="6163056" y="4343400"/>
            <a:ext cx="2468880" cy="914400"/>
          </a:xfrm>
          <a:prstGeom prst="roundRect">
            <a:avLst>
              <a:gd name="adj" fmla="val 6000"/>
            </a:avLst>
          </a:prstGeom>
          <a:solidFill>
            <a:srgbClr val="12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4343400"/>
            <a:ext cx="2468880"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4480560"/>
            <a:ext cx="2194560" cy="457200"/>
          </a:xfrm>
          <a:prstGeom prst="rect">
            <a:avLst/>
          </a:prstGeom>
          <a:noFill/>
        </p:spPr>
        <p:txBody>
          <a:bodyPr wrap="square" anchor="t" lIns="0" rIns="0" tIns="0" bIns="0">
            <a:spAutoFit/>
          </a:bodyPr>
          <a:lstStyle/>
          <a:p>
            <a:pPr algn="l">
              <a:lnSpc>
                <a:spcPct val="100000"/>
              </a:lnSpc>
              <a:spcBef>
                <a:spcPts val="0"/>
              </a:spcBef>
              <a:spcAft>
                <a:spcPts val="600"/>
              </a:spcAft>
            </a:pPr>
            <a:r>
              <a:rPr sz="2200" b="1" i="0">
                <a:solidFill>
                  <a:srgbClr val="00B4C8"/>
                </a:solidFill>
                <a:latin typeface="Arial"/>
              </a:rPr>
              <a:t>478 kg</a:t>
            </a:r>
          </a:p>
        </p:txBody>
      </p:sp>
      <p:sp>
        <p:nvSpPr>
          <p:cNvPr id="22" name="TextBox 21"/>
          <p:cNvSpPr txBox="1"/>
          <p:nvPr/>
        </p:nvSpPr>
        <p:spPr>
          <a:xfrm>
            <a:off x="6345936" y="4919472"/>
            <a:ext cx="2194560" cy="3200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FFFFFF"/>
                </a:solidFill>
                <a:latin typeface="Arial"/>
              </a:rPr>
              <a:t>CO₂ évités/an</a:t>
            </a:r>
          </a:p>
        </p:txBody>
      </p:sp>
      <p:sp>
        <p:nvSpPr>
          <p:cNvPr id="23" name="Rounded Rectangle 22"/>
          <p:cNvSpPr/>
          <p:nvPr/>
        </p:nvSpPr>
        <p:spPr>
          <a:xfrm>
            <a:off x="8833104" y="4343400"/>
            <a:ext cx="2468880" cy="914400"/>
          </a:xfrm>
          <a:prstGeom prst="roundRect">
            <a:avLst>
              <a:gd name="adj" fmla="val 6000"/>
            </a:avLst>
          </a:prstGeom>
          <a:solidFill>
            <a:srgbClr val="122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33104" y="4343400"/>
            <a:ext cx="2468880" cy="3810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15984" y="4480560"/>
            <a:ext cx="2194560" cy="457200"/>
          </a:xfrm>
          <a:prstGeom prst="rect">
            <a:avLst/>
          </a:prstGeom>
          <a:noFill/>
        </p:spPr>
        <p:txBody>
          <a:bodyPr wrap="square" anchor="t" lIns="0" rIns="0" tIns="0" bIns="0">
            <a:spAutoFit/>
          </a:bodyPr>
          <a:lstStyle/>
          <a:p>
            <a:pPr algn="l">
              <a:lnSpc>
                <a:spcPct val="100000"/>
              </a:lnSpc>
              <a:spcBef>
                <a:spcPts val="0"/>
              </a:spcBef>
              <a:spcAft>
                <a:spcPts val="600"/>
              </a:spcAft>
            </a:pPr>
            <a:r>
              <a:rPr sz="2200" b="1" i="0">
                <a:solidFill>
                  <a:srgbClr val="00B4C8"/>
                </a:solidFill>
                <a:latin typeface="Arial"/>
              </a:rPr>
              <a:t>5/5</a:t>
            </a:r>
          </a:p>
        </p:txBody>
      </p:sp>
      <p:sp>
        <p:nvSpPr>
          <p:cNvPr id="26" name="TextBox 25"/>
          <p:cNvSpPr txBox="1"/>
          <p:nvPr/>
        </p:nvSpPr>
        <p:spPr>
          <a:xfrm>
            <a:off x="9015984" y="4919472"/>
            <a:ext cx="2194560" cy="320040"/>
          </a:xfrm>
          <a:prstGeom prst="rect">
            <a:avLst/>
          </a:prstGeom>
          <a:noFill/>
        </p:spPr>
        <p:txBody>
          <a:bodyPr wrap="square" anchor="t" lIns="0" rIns="0" tIns="0" bIns="0">
            <a:spAutoFit/>
          </a:bodyPr>
          <a:lstStyle/>
          <a:p>
            <a:pPr algn="l">
              <a:lnSpc>
                <a:spcPct val="100000"/>
              </a:lnSpc>
              <a:spcBef>
                <a:spcPts val="0"/>
              </a:spcBef>
              <a:spcAft>
                <a:spcPts val="600"/>
              </a:spcAft>
            </a:pPr>
            <a:r>
              <a:rPr sz="1100" b="0" i="0">
                <a:solidFill>
                  <a:srgbClr val="FFFFFF"/>
                </a:solidFill>
                <a:latin typeface="Arial"/>
              </a:rPr>
              <a:t>jalons livrés</a:t>
            </a:r>
          </a:p>
        </p:txBody>
      </p:sp>
      <p:sp>
        <p:nvSpPr>
          <p:cNvPr id="27" name="Rectangle 26"/>
          <p:cNvSpPr/>
          <p:nvPr/>
        </p:nvSpPr>
        <p:spPr>
          <a:xfrm>
            <a:off x="0" y="5715000"/>
            <a:ext cx="12191695" cy="1143000"/>
          </a:xfrm>
          <a:prstGeom prst="rect">
            <a:avLst/>
          </a:prstGeom>
          <a:solidFill>
            <a:srgbClr val="0A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5715000"/>
            <a:ext cx="12191695" cy="31750"/>
          </a:xfrm>
          <a:prstGeom prst="rect">
            <a:avLst/>
          </a:prstGeom>
          <a:solidFill>
            <a:srgbClr val="00B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943600"/>
            <a:ext cx="7315200" cy="731520"/>
          </a:xfrm>
          <a:prstGeom prst="rect">
            <a:avLst/>
          </a:prstGeom>
          <a:noFill/>
        </p:spPr>
        <p:txBody>
          <a:bodyPr wrap="square" anchor="ctr" lIns="0" rIns="0" tIns="0" bIns="0">
            <a:spAutoFit/>
          </a:bodyPr>
          <a:lstStyle/>
          <a:p>
            <a:pPr algn="l">
              <a:lnSpc>
                <a:spcPct val="100000"/>
              </a:lnSpc>
              <a:spcBef>
                <a:spcPts val="0"/>
              </a:spcBef>
              <a:spcAft>
                <a:spcPts val="600"/>
              </a:spcAft>
            </a:pPr>
            <a:r>
              <a:rPr sz="2200" b="1" i="0">
                <a:solidFill>
                  <a:srgbClr val="FFFFFF"/>
                </a:solidFill>
                <a:latin typeface="Arial"/>
              </a:rPr>
              <a:t>Merci de votre attention.</a:t>
            </a:r>
            <a:r>
              <a:rPr sz="1400" b="0" i="0">
                <a:solidFill>
                  <a:srgbClr val="B9C7D6"/>
                </a:solidFill>
                <a:latin typeface="Arial"/>
              </a:rPr>
              <a:t>   Je suis à votre disposition pour vos questions.</a:t>
            </a:r>
          </a:p>
        </p:txBody>
      </p:sp>
      <p:sp>
        <p:nvSpPr>
          <p:cNvPr id="30" name="TextBox 29"/>
          <p:cNvSpPr txBox="1"/>
          <p:nvPr/>
        </p:nvSpPr>
        <p:spPr>
          <a:xfrm>
            <a:off x="8686800" y="5943600"/>
            <a:ext cx="3017520" cy="731520"/>
          </a:xfrm>
          <a:prstGeom prst="rect">
            <a:avLst/>
          </a:prstGeom>
          <a:noFill/>
        </p:spPr>
        <p:txBody>
          <a:bodyPr wrap="square" anchor="ctr" lIns="0" rIns="0" tIns="0" bIns="0">
            <a:spAutoFit/>
          </a:bodyPr>
          <a:lstStyle/>
          <a:p>
            <a:pPr algn="r">
              <a:lnSpc>
                <a:spcPct val="100000"/>
              </a:lnSpc>
              <a:spcBef>
                <a:spcPts val="0"/>
              </a:spcBef>
              <a:spcAft>
                <a:spcPts val="200"/>
              </a:spcAft>
            </a:pPr>
            <a:r>
              <a:rPr sz="1400" b="1" i="0">
                <a:solidFill>
                  <a:srgbClr val="00B4C8"/>
                </a:solidFill>
                <a:latin typeface="Arial"/>
              </a:rPr>
              <a:t>Ilyesse KEBAILI</a:t>
            </a:r>
          </a:p>
          <a:p>
            <a:pPr algn="r">
              <a:lnSpc>
                <a:spcPct val="100000"/>
              </a:lnSpc>
              <a:spcBef>
                <a:spcPts val="0"/>
              </a:spcBef>
              <a:spcAft>
                <a:spcPts val="200"/>
              </a:spcAft>
            </a:pPr>
            <a:r>
              <a:rPr sz="1100" b="0" i="0">
                <a:solidFill>
                  <a:srgbClr val="B9C7D6"/>
                </a:solidFill>
                <a:latin typeface="Arial"/>
              </a:rPr>
              <a:t>BUT R&amp;T · Cybersécurité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