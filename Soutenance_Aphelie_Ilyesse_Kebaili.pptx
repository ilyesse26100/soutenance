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98480" y="82296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38560" y="137160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15544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400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966960" y="10972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85800"/>
            <a:ext cx="3108960" cy="317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Calibri"/>
              </a:rPr>
              <a:t>BUT RÉSEAUX &amp; TÉLÉCOMMUNICATIONS  —  PARCOURS CYBERSÉCURITÉ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9C7D6"/>
                </a:solidFill>
                <a:latin typeface="Calibri"/>
              </a:rPr>
              <a:t>Mémoire de réalisation professionnelle  ·  Session 2025-2026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Calibri"/>
              </a:rPr>
              <a:t>APHÉLIE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00B4C8"/>
                </a:solidFill>
                <a:latin typeface="Calibri"/>
              </a:rPr>
              <a:t>Conception d’un système de supervision centralisé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00B4C8"/>
                </a:solidFill>
                <a:latin typeface="Calibri"/>
              </a:rPr>
              <a:t>pour des faisceaux hertziens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440680"/>
            <a:ext cx="12191695" cy="1417320"/>
          </a:xfrm>
          <a:prstGeom prst="rect">
            <a:avLst/>
          </a:prstGeom>
          <a:solidFill>
            <a:srgbClr val="0A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5440680"/>
            <a:ext cx="12191695" cy="317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5099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4C8"/>
                </a:solidFill>
                <a:latin typeface="Calibri"/>
              </a:rPr>
              <a:t>PRÉSENTÉ PAR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Ilyesse KEBAILI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9C7D6"/>
                </a:solidFill>
                <a:latin typeface="Calibri"/>
              </a:rPr>
              <a:t>Technicien Télécom — Alternant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650992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4C8"/>
                </a:solidFill>
                <a:latin typeface="Calibri"/>
              </a:rPr>
              <a:t>MAÎTRE D’APPRENTISSAGE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Nordine YAAQOBI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9C7D6"/>
                </a:solidFill>
                <a:latin typeface="Calibri"/>
              </a:rPr>
              <a:t>Chef de Projet — Axians RMP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5650992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4C8"/>
                </a:solidFill>
                <a:latin typeface="Calibri"/>
              </a:rPr>
              <a:t>ENTREPRISE &amp; ÉCOLE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Axians Réseaux Mobiles Privés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9C7D6"/>
                </a:solidFill>
                <a:latin typeface="Calibri"/>
              </a:rPr>
              <a:t>VINCI Energies · IUT de Valence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38100" cy="68580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B4C8"/>
                </a:solidFill>
                <a:latin typeface="Calibri"/>
              </a:rPr>
              <a:t>PLAN DE 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Soutenance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3D0DE"/>
                </a:solidFill>
                <a:latin typeface="Calibri"/>
              </a:rPr>
              <a:t>Du contexte métier à la mise en production d’une plateforme de supervision sécurisée, puis à son évaluation financière et environnementale.</a:t>
            </a:r>
          </a:p>
        </p:txBody>
      </p:sp>
      <p:sp>
        <p:nvSpPr>
          <p:cNvPr id="9" name="Oval 8"/>
          <p:cNvSpPr/>
          <p:nvPr/>
        </p:nvSpPr>
        <p:spPr>
          <a:xfrm>
            <a:off x="4572000" y="86868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8686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832104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Calibri"/>
              </a:rPr>
              <a:t>Introduction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216152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Calibri"/>
              </a:rPr>
              <a:t>Contexte, enjeux &amp; problématique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0" y="1764792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7647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728216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Calibri"/>
              </a:rPr>
              <a:t>1 — Environnement professionnel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1122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Calibri"/>
              </a:rPr>
              <a:t>Axians RMP, mon poste &amp; l’ingénierie radio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0" y="2660904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6609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624328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Calibri"/>
              </a:rPr>
              <a:t>2 — Initialisation &amp; cadrage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00837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Calibri"/>
              </a:rPr>
              <a:t>Besoins, choix techniques, planning, EBIOS RM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0" y="3557016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5570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3520440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Calibri"/>
              </a:rPr>
              <a:t>3 — Réalisation technique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90448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Calibri"/>
              </a:rPr>
              <a:t>Architecture, Zabbix/Grafana, sécurisation, IA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0" y="4453128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45312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4416552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Calibri"/>
              </a:rPr>
              <a:t>4 — Impacts du projet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480060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Calibri"/>
              </a:rPr>
              <a:t>Rentabilité (ROI), environnement, opérationnel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0" y="534924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53492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5312664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Calibri"/>
              </a:rPr>
              <a:t>5 — Bilan &amp; perspectives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5696712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Calibri"/>
              </a:rPr>
              <a:t>Résultats, montée en compétences, avenir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POURQUOI APHÉLIE 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Introduction — Contexte &amp; problématique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Calibri"/>
              </a:rPr>
              <a:t>LE CONSTAT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B4C8"/>
                </a:solidFill>
                <a:latin typeface="Calibri"/>
              </a:rPr>
              <a:t>▸  </a:t>
            </a:r>
            <a:r>
              <a:rPr sz="1400" b="1">
                <a:solidFill>
                  <a:srgbClr val="1B2633"/>
                </a:solidFill>
                <a:latin typeface="Calibri"/>
              </a:rPr>
              <a:t>Faisceaux hertziens </a:t>
            </a:r>
            <a:r>
              <a:rPr sz="1400" b="0">
                <a:solidFill>
                  <a:srgbClr val="1B2633"/>
                </a:solidFill>
                <a:latin typeface="Calibri"/>
              </a:rPr>
              <a:t>: liaisons radio point-à-point qui raccordent des sites isolés ou de secours (hôpitaux, sites industriels).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B4C8"/>
                </a:solidFill>
                <a:latin typeface="Calibri"/>
              </a:rPr>
              <a:t>▸  </a:t>
            </a:r>
            <a:r>
              <a:rPr sz="1400" b="1">
                <a:solidFill>
                  <a:srgbClr val="1B2633"/>
                </a:solidFill>
                <a:latin typeface="Calibri"/>
              </a:rPr>
              <a:t>Disponibilité critique </a:t>
            </a:r>
            <a:r>
              <a:rPr sz="1400" b="0">
                <a:solidFill>
                  <a:srgbClr val="1B2633"/>
                </a:solidFill>
                <a:latin typeface="Calibri"/>
              </a:rPr>
              <a:t>: une coupure = rupture de la chaîne de soins ou arrêt de production.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B4C8"/>
                </a:solidFill>
                <a:latin typeface="Calibri"/>
              </a:rPr>
              <a:t>▸  </a:t>
            </a:r>
            <a:r>
              <a:rPr sz="1400" b="1">
                <a:solidFill>
                  <a:srgbClr val="1B2633"/>
                </a:solidFill>
                <a:latin typeface="Calibri"/>
              </a:rPr>
              <a:t>Supervision obsolète </a:t>
            </a:r>
            <a:r>
              <a:rPr sz="1400" b="0">
                <a:solidFill>
                  <a:srgbClr val="1B2633"/>
                </a:solidFill>
                <a:latin typeface="Calibri"/>
              </a:rPr>
              <a:t>: l’outil historique n’était plus fiable ni sécurisé — les pannes étaient signalées par les clients eux-mêmes.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B4C8"/>
                </a:solidFill>
                <a:latin typeface="Calibri"/>
              </a:rPr>
              <a:t>▸  </a:t>
            </a:r>
            <a:r>
              <a:rPr sz="1400" b="1">
                <a:solidFill>
                  <a:srgbClr val="1B2633"/>
                </a:solidFill>
                <a:latin typeface="Calibri"/>
              </a:rPr>
              <a:t>3 ans sans outil fonctionnel </a:t>
            </a:r>
            <a:r>
              <a:rPr sz="1400" b="0">
                <a:solidFill>
                  <a:srgbClr val="1B2633"/>
                </a:solidFill>
                <a:latin typeface="Calibri"/>
              </a:rPr>
              <a:t>après deux tentatives échouées (2012 &amp; 2017).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55448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554480"/>
            <a:ext cx="109728" cy="27889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B4C8"/>
                </a:solidFill>
                <a:latin typeface="Calibri"/>
              </a:rPr>
              <a:t>PROBLÉMATIQUE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402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FFFFFF"/>
                </a:solidFill>
                <a:latin typeface="Calibri"/>
              </a:rPr>
              <a:t>Comment remplacer une solution de supervision obsolète par une plateforme </a:t>
            </a:r>
            <a:r>
              <a:rPr sz="1650" b="1" i="0">
                <a:solidFill>
                  <a:srgbClr val="00B4C8"/>
                </a:solidFill>
                <a:latin typeface="Calibri"/>
              </a:rPr>
              <a:t>centralisée</a:t>
            </a:r>
            <a:r>
              <a:rPr sz="1650" b="0" i="0">
                <a:solidFill>
                  <a:srgbClr val="FFFFFF"/>
                </a:solidFill>
                <a:latin typeface="Calibri"/>
              </a:rPr>
              <a:t>, capable de fournir des informations </a:t>
            </a:r>
            <a:r>
              <a:rPr sz="1650" b="1" i="0">
                <a:solidFill>
                  <a:srgbClr val="00B4C8"/>
                </a:solidFill>
                <a:latin typeface="Calibri"/>
              </a:rPr>
              <a:t>fiables en temps réel</a:t>
            </a:r>
            <a:r>
              <a:rPr sz="1650" b="0" i="0">
                <a:solidFill>
                  <a:srgbClr val="FFFFFF"/>
                </a:solidFill>
                <a:latin typeface="Calibri"/>
              </a:rPr>
              <a:t> sur les liaisons hertziennes et </a:t>
            </a:r>
            <a:r>
              <a:rPr sz="1650" b="1" i="0">
                <a:solidFill>
                  <a:srgbClr val="00B4C8"/>
                </a:solidFill>
                <a:latin typeface="Calibri"/>
              </a:rPr>
              <a:t>accessible à distance</a:t>
            </a:r>
            <a:r>
              <a:rPr sz="1650" b="0" i="0">
                <a:solidFill>
                  <a:srgbClr val="FFFFFF"/>
                </a:solidFill>
                <a:latin typeface="Calibri"/>
              </a:rPr>
              <a:t>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00600"/>
            <a:ext cx="269748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800600"/>
            <a:ext cx="2697480" cy="444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4983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Calibri"/>
              </a:rPr>
              <a:t>Centraliser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53949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Calibri"/>
              </a:rPr>
              <a:t>Une plateforme unique pour tout le parc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4800600"/>
            <a:ext cx="269748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55848" y="4800600"/>
            <a:ext cx="2697480" cy="444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57016" y="4983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Calibri"/>
              </a:rPr>
              <a:t>Fiabiliser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7016" y="53949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Calibri"/>
              </a:rPr>
              <a:t>Données temps réel validées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4800600"/>
            <a:ext cx="269748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08776" y="4800600"/>
            <a:ext cx="2697480" cy="444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4983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Calibri"/>
              </a:rPr>
              <a:t>Sécuriser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53949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Calibri"/>
              </a:rPr>
              <a:t>Architecture durcie (cybersécurité)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4800600"/>
            <a:ext cx="269748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61704" y="4800600"/>
            <a:ext cx="2697480" cy="444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4983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Calibri"/>
              </a:rPr>
              <a:t>Pérenniser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53949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Calibri"/>
              </a:rPr>
              <a:t>Solution documentée &amp; réutilisable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CHAPITRE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L’environnement professionnel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Calibri"/>
              </a:rPr>
              <a:t>UN GRAND GROUPE, UNE AGENCE À TAILLE HUMAINE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937760" cy="676656"/>
          </a:xfrm>
          <a:prstGeom prst="roundRect">
            <a:avLst>
              <a:gd name="adj" fmla="val 6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0136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VINCI</a:t>
            </a:r>
            <a:r>
              <a:rPr sz="1050" b="0" i="0">
                <a:solidFill>
                  <a:srgbClr val="D9E4EF"/>
                </a:solidFill>
                <a:latin typeface="Calibri"/>
              </a:rPr>
              <a:t>   280 000 collaborateurs · CA 74,6 Md€ (2025)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23744"/>
            <a:ext cx="4434840" cy="676656"/>
          </a:xfrm>
          <a:prstGeom prst="roundRect">
            <a:avLst>
              <a:gd name="adj" fmla="val 6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587752"/>
            <a:ext cx="4069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VINCI Energies</a:t>
            </a:r>
            <a:r>
              <a:rPr sz="1050" b="0" i="0">
                <a:solidFill>
                  <a:srgbClr val="D9E4EF"/>
                </a:solidFill>
                <a:latin typeface="Calibri"/>
              </a:rPr>
              <a:t>   Infrastructures d’énergie &amp;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310128"/>
            <a:ext cx="3931920" cy="676656"/>
          </a:xfrm>
          <a:prstGeom prst="roundRect">
            <a:avLst>
              <a:gd name="adj" fmla="val 6000"/>
            </a:avLst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374136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Axians</a:t>
            </a:r>
            <a:r>
              <a:rPr sz="1050" b="0" i="0">
                <a:solidFill>
                  <a:srgbClr val="D9E4EF"/>
                </a:solidFill>
                <a:latin typeface="Calibri"/>
              </a:rPr>
              <a:t>   Marque ICT — 15 000 collaborateurs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96512"/>
            <a:ext cx="3429000" cy="676656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4160520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Axians RMP AURA</a:t>
            </a:r>
            <a:r>
              <a:rPr sz="1050" b="0" i="0">
                <a:solidFill>
                  <a:srgbClr val="D9E4EF"/>
                </a:solidFill>
                <a:latin typeface="Calibri"/>
              </a:rPr>
              <a:t>   Agence d’Alixans · ~38 collaborateurs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7492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Calibri"/>
              </a:rPr>
              <a:t>Spécialités : </a:t>
            </a:r>
            <a:r>
              <a:rPr sz="1250" b="0" i="0">
                <a:solidFill>
                  <a:srgbClr val="1B2633"/>
                </a:solidFill>
                <a:latin typeface="Calibri"/>
              </a:rPr>
              <a:t>TETRA · 4G/5G privés · Faisceaux hertziens.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Calibri"/>
              </a:rPr>
              <a:t>Clientèle : </a:t>
            </a:r>
            <a:r>
              <a:rPr sz="1250" b="0" i="0">
                <a:solidFill>
                  <a:srgbClr val="1B2633"/>
                </a:solidFill>
                <a:latin typeface="Calibri"/>
              </a:rPr>
              <a:t>majorité d’hôpitaux + sites industriels en production continue → exigence de disponibilité maximale.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1554480"/>
            <a:ext cx="5760720" cy="2057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1554480"/>
            <a:ext cx="109728" cy="20574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7373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Calibri"/>
              </a:rPr>
              <a:t>MON POSTE — TECHNICIEN TÉLÉCOM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19456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>
                <a:solidFill>
                  <a:srgbClr val="1B2633"/>
                </a:solidFill>
                <a:latin typeface="Calibri"/>
              </a:rPr>
              <a:t>Conception et déploiement complet du projet Aphélie (mission centrale).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>
                <a:solidFill>
                  <a:srgbClr val="1B2633"/>
                </a:solidFill>
                <a:latin typeface="Calibri"/>
              </a:rPr>
              <a:t>Forte autonomie : architecture, tests en environnement isolé, documentation.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>
                <a:solidFill>
                  <a:srgbClr val="1B2633"/>
                </a:solidFill>
                <a:latin typeface="Calibri"/>
              </a:rPr>
              <a:t>Garantie de ne jamais impacter les réseaux de production des clients.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3794760"/>
            <a:ext cx="5760720" cy="233172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395020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Calibri"/>
              </a:rPr>
              <a:t>ACTIVITÉS TRANSVERSES — INGÉNIERIE RADIO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38912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>
                <a:solidFill>
                  <a:srgbClr val="FFFFFF"/>
                </a:solidFill>
                <a:latin typeface="Calibri"/>
              </a:rPr>
              <a:t>Analyse des CCTP de grands comptes (RTE, EDF).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>
                <a:solidFill>
                  <a:srgbClr val="FFFFFF"/>
                </a:solidFill>
                <a:latin typeface="Calibri"/>
              </a:rPr>
              <a:t>Études de liaison sous HTZ : zone de Fresnel, dégagement, pluviométrie (modèles UIT).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>
                <a:solidFill>
                  <a:srgbClr val="FFFFFF"/>
                </a:solidFill>
                <a:latin typeface="Calibri"/>
              </a:rPr>
              <a:t>Cas concret : étude de proximité éolienne validée par le calcul (marge de 16,3 m).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>
                <a:solidFill>
                  <a:srgbClr val="FFFFFF"/>
                </a:solidFill>
                <a:latin typeface="Calibri"/>
              </a:rPr>
              <a:t>Livrables : Étude générale, DIL, DIS.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CHAPITRE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Initialisation &amp; cadrage — Diagnostic &amp;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Calibri"/>
              </a:rPr>
              <a:t>UN LOURD PASSIF TECHNIQUE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960120" cy="91440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960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2012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1691640"/>
            <a:ext cx="4160520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17830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F1B2D"/>
                </a:solidFill>
                <a:latin typeface="Calibri"/>
              </a:rPr>
              <a:t>Aphélie v1 (ESISAR)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211226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B2633"/>
                </a:solidFill>
                <a:latin typeface="Calibri"/>
              </a:rPr>
              <a:t>Interface sur-mesure devenue une « boîte noire » : 1 module sur 2 HS, fausses alarmes.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24911"/>
            <a:ext cx="960120" cy="91440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24911"/>
            <a:ext cx="960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2017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72768" y="2724911"/>
            <a:ext cx="4160520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55648" y="2816351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F1B2D"/>
                </a:solidFill>
                <a:latin typeface="Calibri"/>
              </a:rPr>
              <a:t>WhatsUp Gold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5648" y="3145535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B2633"/>
                </a:solidFill>
                <a:latin typeface="Calibri"/>
              </a:rPr>
              <a:t>Tentative restée au stade de l’étude des MIB — jamais exploitable.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58182"/>
            <a:ext cx="960120" cy="91440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758182"/>
            <a:ext cx="960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72768" y="3758182"/>
            <a:ext cx="4160520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55648" y="384962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F1B2D"/>
                </a:solidFill>
                <a:latin typeface="Calibri"/>
              </a:rPr>
              <a:t>Projet Aphélie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5648" y="4178806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B2633"/>
                </a:solidFill>
                <a:latin typeface="Calibri"/>
              </a:rPr>
              <a:t>Refonte complète confiée à l’alternant : enfin une solution opérationnelle.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1463040"/>
            <a:ext cx="5623560" cy="466344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60" y="1463040"/>
            <a:ext cx="562356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Calibri"/>
              </a:rPr>
              <a:t>LE BESOIN À COUVRIR (PÉRIMÈTRE INITIAL)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14884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Calibri"/>
              </a:rPr>
              <a:t>▸  </a:t>
            </a:r>
            <a:r>
              <a:rPr sz="1300" b="1">
                <a:solidFill>
                  <a:srgbClr val="FFFFFF"/>
                </a:solidFill>
                <a:latin typeface="Calibri"/>
              </a:rPr>
              <a:t>Parc : </a:t>
            </a:r>
            <a:r>
              <a:rPr sz="1300" b="0">
                <a:solidFill>
                  <a:srgbClr val="FFFFFF"/>
                </a:solidFill>
                <a:latin typeface="Calibri"/>
              </a:rPr>
              <a:t>30 à 50 faisceaux Ericsson MINI-LINK (IDU).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Calibri"/>
              </a:rPr>
              <a:t>▸  </a:t>
            </a:r>
            <a:r>
              <a:rPr sz="1300" b="1">
                <a:solidFill>
                  <a:srgbClr val="FFFFFF"/>
                </a:solidFill>
                <a:latin typeface="Calibri"/>
              </a:rPr>
              <a:t>Temps réel : </a:t>
            </a:r>
            <a:r>
              <a:rPr sz="1300" b="0">
                <a:solidFill>
                  <a:srgbClr val="FFFFFF"/>
                </a:solidFill>
                <a:latin typeface="Calibri"/>
              </a:rPr>
              <a:t>polling 1 min sur les niveaux Rx (réception) et Tx (émission).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Calibri"/>
              </a:rPr>
              <a:t>▸  </a:t>
            </a:r>
            <a:r>
              <a:rPr sz="1300" b="1">
                <a:solidFill>
                  <a:srgbClr val="FFFFFF"/>
                </a:solidFill>
                <a:latin typeface="Calibri"/>
              </a:rPr>
              <a:t>Alertes : </a:t>
            </a:r>
            <a:r>
              <a:rPr sz="1300" b="0">
                <a:solidFill>
                  <a:srgbClr val="FFFFFF"/>
                </a:solidFill>
                <a:latin typeface="Calibri"/>
              </a:rPr>
              <a:t>traps SNMP classées sur 5 niveaux de criticité, traduites en clair.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Calibri"/>
              </a:rPr>
              <a:t>▸  </a:t>
            </a:r>
            <a:r>
              <a:rPr sz="1300" b="1">
                <a:solidFill>
                  <a:srgbClr val="FFFFFF"/>
                </a:solidFill>
                <a:latin typeface="Calibri"/>
              </a:rPr>
              <a:t>Cartographie : </a:t>
            </a:r>
            <a:r>
              <a:rPr sz="1300" b="0">
                <a:solidFill>
                  <a:srgbClr val="FFFFFF"/>
                </a:solidFill>
                <a:latin typeface="Calibri"/>
              </a:rPr>
              <a:t>vue dynamique, icônes colorées + segments de liaison.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Calibri"/>
              </a:rPr>
              <a:t>▸  </a:t>
            </a:r>
            <a:r>
              <a:rPr sz="1300" b="1">
                <a:solidFill>
                  <a:srgbClr val="FFFFFF"/>
                </a:solidFill>
                <a:latin typeface="Calibri"/>
              </a:rPr>
              <a:t>Notification proactive : </a:t>
            </a:r>
            <a:r>
              <a:rPr sz="1300" b="0">
                <a:solidFill>
                  <a:srgbClr val="FFFFFF"/>
                </a:solidFill>
                <a:latin typeface="Calibri"/>
              </a:rPr>
              <a:t>e-mail automatique aux équipes d’astreinte sur seuil critique.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Calibri"/>
              </a:rPr>
              <a:t>▸  </a:t>
            </a:r>
            <a:r>
              <a:rPr sz="1300" b="1">
                <a:solidFill>
                  <a:srgbClr val="FFFFFF"/>
                </a:solidFill>
                <a:latin typeface="Calibri"/>
              </a:rPr>
              <a:t>Haute disponibilité : </a:t>
            </a:r>
            <a:r>
              <a:rPr sz="1300" b="0">
                <a:solidFill>
                  <a:srgbClr val="FFFFFF"/>
                </a:solidFill>
                <a:latin typeface="Calibri"/>
              </a:rPr>
              <a:t>la supervision ne doit pas devenir elle-même un point faible.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CHAPITRE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Étude de marché &amp; choix technologiques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Calibri"/>
              </a:rPr>
              <a:t>Deux décisions structurantes, instruites par filtres successifs (souveraineté, modèle économique, maturité).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5486400" cy="5669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10512"/>
            <a:ext cx="5120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① VECTEUR DE 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146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Calibri"/>
              </a:rPr>
              <a:t>Cisco  vs  Sierra Wireless  vs  </a:t>
            </a:r>
            <a:r>
              <a:rPr sz="1300" b="1" i="0">
                <a:solidFill>
                  <a:srgbClr val="2EC48F"/>
                </a:solidFill>
                <a:latin typeface="Calibri"/>
              </a:rPr>
              <a:t>Teltonika 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175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Teltonika RUT956 + RMS</a:t>
            </a:r>
            <a:r>
              <a:rPr sz="1250" b="0">
                <a:solidFill>
                  <a:srgbClr val="1B2633"/>
                </a:solidFill>
                <a:latin typeface="Calibri"/>
              </a:rPr>
              <a:t> : management 100 % Cloud, léger et intuitif.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Sécurité</a:t>
            </a:r>
            <a:r>
              <a:rPr sz="1250" b="0">
                <a:solidFill>
                  <a:srgbClr val="1B2633"/>
                </a:solidFill>
                <a:latin typeface="Calibri"/>
              </a:rPr>
              <a:t> : VPN Hub déployé en quelques clics, accès même derrière NAT opérateur.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Coût</a:t>
            </a:r>
            <a:r>
              <a:rPr sz="1250" b="0">
                <a:solidFill>
                  <a:srgbClr val="1B2633"/>
                </a:solidFill>
                <a:latin typeface="Calibri"/>
              </a:rPr>
              <a:t> : modèle à crédits optimisé (≠ licences Cisco onéreuses).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Atouts</a:t>
            </a:r>
            <a:r>
              <a:rPr sz="1250" b="0">
                <a:solidFill>
                  <a:srgbClr val="1B2633"/>
                </a:solidFill>
                <a:latin typeface="Calibri"/>
              </a:rPr>
              <a:t> : Dual-SIM (bascule 4G), retours d’expérience favorables dans le groupe VINCI.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783080"/>
            <a:ext cx="5486400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10512"/>
            <a:ext cx="5120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② MOTEUR DE SUPERVISION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5146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Calibri"/>
              </a:rPr>
              <a:t>WhatsUp Gold · PRTG · Centreon  vs  </a:t>
            </a:r>
            <a:r>
              <a:rPr sz="1300" b="1" i="0">
                <a:solidFill>
                  <a:srgbClr val="2EC48F"/>
                </a:solidFill>
                <a:latin typeface="Calibri"/>
              </a:rPr>
              <a:t>Zabbix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0175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100 % open source</a:t>
            </a:r>
            <a:r>
              <a:rPr sz="1250" b="0">
                <a:solidFill>
                  <a:srgbClr val="1B2633"/>
                </a:solidFill>
                <a:latin typeface="Calibri"/>
              </a:rPr>
              <a:t> : suppression des coûts de licence, scalabilité totale.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Moteur très souple</a:t>
            </a:r>
            <a:r>
              <a:rPr sz="1250" b="0">
                <a:solidFill>
                  <a:srgbClr val="1B2633"/>
                </a:solidFill>
                <a:latin typeface="Calibri"/>
              </a:rPr>
              <a:t> : création libre d’items, déclencheurs et prétraitements.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Interopérabilité native</a:t>
            </a:r>
            <a:r>
              <a:rPr sz="1250" b="0">
                <a:solidFill>
                  <a:srgbClr val="1B2633"/>
                </a:solidFill>
                <a:latin typeface="Calibri"/>
              </a:rPr>
              <a:t> : polling SNMP optimisé sur tunnels VPN.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Couplage parfait avec Grafana</a:t>
            </a:r>
            <a:r>
              <a:rPr sz="1250" b="0">
                <a:solidFill>
                  <a:srgbClr val="1B2633"/>
                </a:solidFill>
                <a:latin typeface="Calibri"/>
              </a:rPr>
              <a:t> pour la restitution visuelle.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Urbanisation SI</a:t>
            </a:r>
            <a:r>
              <a:rPr sz="1250" b="0">
                <a:solidFill>
                  <a:srgbClr val="1B2633"/>
                </a:solidFill>
                <a:latin typeface="Calibri"/>
              </a:rPr>
              <a:t> : déjà utilisé par la Direction Technique.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CHAPITRE 2 — PILOTAGE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Planning, jalons &amp; analyse des écarts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Calibri"/>
              </a:rPr>
              <a:t>5 jalons séquentiels (J1→J5) : chaque livrable conditionne le suivant.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Calibri"/>
              </a:rPr>
              <a:t>J1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Étude &amp; cadrage MIB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52344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52344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16936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Calibri"/>
              </a:rPr>
              <a:t>J2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Maquettage Zabbix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01768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01768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Calibri"/>
              </a:rPr>
              <a:t>J3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Déploiement client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51192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15784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Calibri"/>
              </a:rPr>
              <a:t>J4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5784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Grafana &amp; cartographie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6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65208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Calibri"/>
              </a:rPr>
              <a:t>J5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Serveur &amp;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200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Calibri"/>
              </a:rPr>
              <a:t>UN RETARD DE 4 SEMAINES… ENTIÈREMENT EXPLIQUÉ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61188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J1 (+7 sem.) : </a:t>
            </a:r>
            <a:r>
              <a:rPr sz="1250" b="0">
                <a:solidFill>
                  <a:srgbClr val="1B2633"/>
                </a:solidFill>
                <a:latin typeface="Calibri"/>
              </a:rPr>
              <a:t>MIB Ericsson MINI-LINK non documentées, aucune expertise interne — investigation imprévisible.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J4 (+ interruptions) : </a:t>
            </a:r>
            <a:r>
              <a:rPr sz="1250" b="0">
                <a:solidFill>
                  <a:srgbClr val="1B2633"/>
                </a:solidFill>
                <a:latin typeface="Calibri"/>
              </a:rPr>
              <a:t>32 jours ouvrés détournés vers des missions DIL/DIS contractuelles (priorité client).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Les 5 jalons livrés à 100 %</a:t>
            </a:r>
            <a:r>
              <a:rPr sz="1250" b="0">
                <a:solidFill>
                  <a:srgbClr val="1B2633"/>
                </a:solidFill>
                <a:latin typeface="Calibri"/>
              </a:rPr>
              <a:t> — périmètre conforme au cadrage.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3383280"/>
            <a:ext cx="5303520" cy="26974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5204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Calibri"/>
              </a:rPr>
              <a:t>CHIFFRES CLÉS DU PILOTAGE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3977639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0B4C8"/>
                </a:solidFill>
                <a:latin typeface="Calibri"/>
              </a:rPr>
              <a:t>142,8 j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39826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effort projet (1 001 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977639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0B4C8"/>
                </a:solidFill>
                <a:latin typeface="Calibri"/>
              </a:rPr>
              <a:t>81 %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439826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du temps en entreprise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4937759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0B4C8"/>
                </a:solidFill>
                <a:latin typeface="Calibri"/>
              </a:rPr>
              <a:t>100 %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535838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des jalons livrés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4937759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0B4C8"/>
                </a:solidFill>
                <a:latin typeface="Calibri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535838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jalon abandonné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80644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6B7A8C"/>
                </a:solidFill>
                <a:latin typeface="Calibri"/>
              </a:rPr>
              <a:t>→ En retirant ces deux causes externes, la fin recalculée tombe </a:t>
            </a:r>
            <a:r>
              <a:rPr sz="1150" b="1" i="0">
                <a:solidFill>
                  <a:srgbClr val="2EC48F"/>
                </a:solidFill>
                <a:latin typeface="Calibri"/>
              </a:rPr>
              <a:t>exactement à la date prévue</a:t>
            </a:r>
            <a:r>
              <a:rPr sz="1150" b="0" i="0">
                <a:solidFill>
                  <a:srgbClr val="6B7A8C"/>
                </a:solidFill>
                <a:latin typeface="Calibri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CHAPITRE 2 — CYBERSÉCURITÉ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Cartographie des risques cyber — EBIOS 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Calibri"/>
              </a:rPr>
              <a:t>Méthode officielle ANSSI : modéliser le pire scénario d’attaque pour valider la défense.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53E3E"/>
                </a:solidFill>
                <a:latin typeface="Calibri"/>
              </a:rPr>
              <a:t>SCÉNARIO REDOUTÉ — ATTAQUE PAR REBOND (G4 critique)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94560"/>
            <a:ext cx="109728" cy="86868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194560"/>
            <a:ext cx="5029200" cy="8686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E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Calibri"/>
              </a:rPr>
              <a:t>1 · Infiltrer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15184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Vol des accès d’un technicien au portail RMS (phishing, dark web).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182112"/>
            <a:ext cx="109728" cy="86868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182112"/>
            <a:ext cx="5029200" cy="8686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E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27355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Calibri"/>
              </a:rPr>
              <a:t>2 · Trouver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602736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Via le VPN Hub, l’attaquant atteint un routeur RUT956 cible.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169664"/>
            <a:ext cx="109728" cy="86868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169664"/>
            <a:ext cx="5029200" cy="8686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E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6110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Calibri"/>
              </a:rPr>
              <a:t>3 · Exploiter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Rebond vers le LAN du client → propagation d’un rançongiciel.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1783080"/>
            <a:ext cx="5623560" cy="214884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193852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EC48F"/>
                </a:solidFill>
                <a:latin typeface="Calibri"/>
              </a:rPr>
              <a:t>DEUX MESURES DE TRAITEMENT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3774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2EC48F"/>
                </a:solidFill>
                <a:latin typeface="Calibri"/>
              </a:rPr>
              <a:t>▸  </a:t>
            </a:r>
            <a:r>
              <a:rPr sz="1300" b="1">
                <a:solidFill>
                  <a:srgbClr val="FFFFFF"/>
                </a:solidFill>
                <a:latin typeface="Calibri"/>
              </a:rPr>
              <a:t>MFA strict sur RMS</a:t>
            </a:r>
            <a:r>
              <a:rPr sz="1300" b="0">
                <a:solidFill>
                  <a:srgbClr val="FFFFFF"/>
                </a:solidFill>
                <a:latin typeface="Calibri"/>
              </a:rPr>
              <a:t> → bloque la compromission initiale, même mot de passe volé.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2EC48F"/>
                </a:solidFill>
                <a:latin typeface="Calibri"/>
              </a:rPr>
              <a:t>▸  </a:t>
            </a:r>
            <a:r>
              <a:rPr sz="1300" b="1">
                <a:solidFill>
                  <a:srgbClr val="FFFFFF"/>
                </a:solidFill>
                <a:latin typeface="Calibri"/>
              </a:rPr>
              <a:t>Durcissement RUT956 (NoNat / blocage des ports)</a:t>
            </a:r>
            <a:r>
              <a:rPr sz="1300" b="0">
                <a:solidFill>
                  <a:srgbClr val="FFFFFF"/>
                </a:solidFill>
                <a:latin typeface="Calibri"/>
              </a:rPr>
              <a:t> → bloque toute latéralisation vers le LAN client.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4114800"/>
            <a:ext cx="5623560" cy="20116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42519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Calibri"/>
              </a:rPr>
              <a:t>RÉSULTAT — VRAISEMBLANCE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709160"/>
            <a:ext cx="2194560" cy="914400"/>
          </a:xfrm>
          <a:prstGeom prst="round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709160"/>
            <a:ext cx="2194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V3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Très vraisemblable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93776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0B4C8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600" y="4709160"/>
            <a:ext cx="2194560" cy="914400"/>
          </a:xfrm>
          <a:prstGeom prst="round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4709160"/>
            <a:ext cx="2194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V1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Peu vraisemblable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CHAPITRE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Réalisation — Architecture matérielle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Calibri"/>
              </a:rPr>
              <a:t>« Placer l’intelligence au plus près des équipements » — chaîne de bout en bout, du site client au serveur Axians.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3611880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28800"/>
            <a:ext cx="3611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SITE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060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606040"/>
            <a:ext cx="73152" cy="12344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43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Calibri"/>
              </a:rPr>
              <a:t>Faisceau hertzien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278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Ericsson MINI-LINK / NEC iPASOLINK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776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977640"/>
            <a:ext cx="73152" cy="12344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Calibri"/>
              </a:rPr>
              <a:t>Routeur RUT956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94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Routeur + pare-feu + VPN dans 1 boîtier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3383280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0B4C8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182880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1828800"/>
            <a:ext cx="3611880" cy="5486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1828800"/>
            <a:ext cx="3611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TRANSPORT SÉCURISÉ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26060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2606040"/>
            <a:ext cx="73152" cy="12344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2743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Calibri"/>
              </a:rPr>
              <a:t>Tunnel VPN chiffré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2278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Sur le réseau IP du client (pas de SIM dédiée)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9776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3977640"/>
            <a:ext cx="73152" cy="12344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4114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Calibri"/>
              </a:rPr>
              <a:t>Cloud RMS Teltonika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5994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Administration distante + MFA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383280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0B4C8"/>
                </a:solidFill>
                <a:latin typeface="Calibr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75320" y="182880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75320" y="1828800"/>
            <a:ext cx="3611880" cy="54864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1828800"/>
            <a:ext cx="3611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INFRASTRUCTURE AXIANS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58200" y="26060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8200" y="2606040"/>
            <a:ext cx="73152" cy="123444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41080" y="2743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Calibri"/>
              </a:rPr>
              <a:t>Serveur HPE DL360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41080" y="32278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Debian 13 · 32 Go RAM · RAID 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8200" y="39776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977640"/>
            <a:ext cx="73152" cy="123444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4114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Calibri"/>
              </a:rPr>
              <a:t>Zabbix + Grafana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45994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Collecte SNMP + visualisation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669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Calibri"/>
              </a:rPr>
              <a:t>Déploiement « Plug &amp; Play » : </a:t>
            </a:r>
            <a:r>
              <a:rPr sz="1250" b="0" i="0">
                <a:solidFill>
                  <a:srgbClr val="1B2633"/>
                </a:solidFill>
                <a:latin typeface="Calibri"/>
              </a:rPr>
              <a:t>préconfiguration en atelier, mise en service à distance par téléphone, vagues de 10 routeurs — sans déplacement Axians.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CHAPITRE 3 — LE CŒUR TECHNIQUE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Intégration Zabbix &amp; traduction des dictionnaires MIB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Calibri"/>
              </a:rPr>
              <a:t>LE DÉFI : DÉCODER L’ERICSSON MINI-LINK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Centaines d’OID à trier</a:t>
            </a:r>
            <a:r>
              <a:rPr sz="1250" b="0">
                <a:solidFill>
                  <a:srgbClr val="1B2633"/>
                </a:solidFill>
                <a:latin typeface="Calibri"/>
              </a:rPr>
              <a:t> : capture des trames SNMP directement sur les équipements en production.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Valeurs piégeuses</a:t>
            </a:r>
            <a:r>
              <a:rPr sz="1250" b="0">
                <a:solidFill>
                  <a:srgbClr val="1B2633"/>
                </a:solidFill>
                <a:latin typeface="Calibri"/>
              </a:rPr>
              <a:t> : Rx en dixièmes de dBm (-450 = -45,0 dBm) → prétraitement par multiplication dans le Template.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Traps propriétaires</a:t>
            </a:r>
            <a:r>
              <a:rPr sz="1250" b="0">
                <a:solidFill>
                  <a:srgbClr val="1B2633"/>
                </a:solidFill>
                <a:latin typeface="Calibri"/>
              </a:rPr>
              <a:t> : chaîne brute décodée champ par champ via expressions régulières (regex apprises en contexte).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Horodatage hexadécimal</a:t>
            </a:r>
            <a:r>
              <a:rPr sz="1250" b="0">
                <a:solidFill>
                  <a:srgbClr val="1B2633"/>
                </a:solidFill>
                <a:latin typeface="Calibri"/>
              </a:rPr>
              <a:t> + codes de cause traduits par table de correspondance.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30352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71907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Calibri"/>
              </a:rPr>
              <a:t>CE QUI A ÉTÉ PRODUIT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488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>
                <a:solidFill>
                  <a:srgbClr val="FFFFFF"/>
                </a:solidFill>
                <a:latin typeface="Calibri"/>
              </a:rPr>
              <a:t>Référentiel OID validé — un actif technique inédit pour l’entreprise.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>
                <a:solidFill>
                  <a:srgbClr val="FFFFFF"/>
                </a:solidFill>
                <a:latin typeface="Calibri"/>
              </a:rPr>
              <a:t>Templates Zabbix génériques, réutilisables sur tout le parc MINI-LINK.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>
                <a:solidFill>
                  <a:srgbClr val="FFFFFF"/>
                </a:solidFill>
                <a:latin typeface="Calibri"/>
              </a:rPr>
              <a:t>4 niveaux de sévérité + trigger Rx &lt; −75 dBm (seuil de dégradation).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977639"/>
            <a:ext cx="5303520" cy="2057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1148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Calibri"/>
              </a:rPr>
              <a:t>EXEMPLE DE CHAÎNE DE TRAITEMENT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4617720"/>
            <a:ext cx="141732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73659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6B7A8C"/>
                </a:solidFill>
                <a:latin typeface="Calibri"/>
              </a:rPr>
              <a:t>-450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193792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1B2633"/>
                </a:solidFill>
                <a:latin typeface="Calibri"/>
              </a:rPr>
              <a:t>valeur brute SNMP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5488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4617720"/>
            <a:ext cx="141732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473659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0B4C8"/>
                </a:solidFill>
                <a:latin typeface="Calibri"/>
              </a:rPr>
              <a:t>× 0,1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5193792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1B2633"/>
                </a:solidFill>
                <a:latin typeface="Calibri"/>
              </a:rPr>
              <a:t>prétraitement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475488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4617720"/>
            <a:ext cx="141732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C4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473659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C48F"/>
                </a:solidFill>
                <a:latin typeface="Calibri"/>
              </a:rPr>
              <a:t>-45,0 dBm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5193792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1B2633"/>
                </a:solidFill>
                <a:latin typeface="Calibri"/>
              </a:rPr>
              <a:t>stocké &amp; affiché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CHAPITRE 3 — SÉCURISATION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Durcissement des flux &amp; identification des faisceaux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Calibri"/>
              </a:rPr>
              <a:t>POSTURE FERMÉE PAR DÉFAUT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« Tout ce qui n’est pas autorisé est rejeté »</a:t>
            </a:r>
            <a:r>
              <a:rPr sz="1250" b="0">
                <a:solidFill>
                  <a:srgbClr val="1B2633"/>
                </a:solidFill>
                <a:latin typeface="Calibri"/>
              </a:rPr>
              <a:t> — pare-feu en REJECT par défaut.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Interfaces d’admin (SSH/HTTP/CLI) désactivées côté WAN</a:t>
            </a:r>
            <a:r>
              <a:rPr sz="1250" b="0">
                <a:solidFill>
                  <a:srgbClr val="1B2633"/>
                </a:solidFill>
                <a:latin typeface="Calibri"/>
              </a:rPr>
              <a:t> : admin uniquement via tunnel RMS chiffré + MFA.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Zonage strict</a:t>
            </a:r>
            <a:r>
              <a:rPr sz="1250" b="0">
                <a:solidFill>
                  <a:srgbClr val="1B2633"/>
                </a:solidFill>
                <a:latin typeface="Calibri"/>
              </a:rPr>
              <a:t> : LAN / WAN / OpenVPN / RMS, aucun transit non prévu.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1B2633"/>
                </a:solidFill>
                <a:latin typeface="Calibri"/>
              </a:rPr>
              <a:t>Seul flux entrant autorisé</a:t>
            </a:r>
            <a:r>
              <a:rPr sz="1250" b="0">
                <a:solidFill>
                  <a:srgbClr val="1B2633"/>
                </a:solidFill>
                <a:latin typeface="Calibri"/>
              </a:rPr>
              <a:t> : le tunnel de supervision.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463040"/>
            <a:ext cx="5303520" cy="466344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463040"/>
            <a:ext cx="5303520" cy="5080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627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Calibri"/>
              </a:rPr>
              <a:t>LES RÈGLES NoNat — IDENTIFIER CHAQUE FAISCEAU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031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Sans NoNat, le masquerade remplace l’IP de chaque IDU par celle du routeur : tous les faisceaux d’un site apparaissent identiques dans Zabbix.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200400"/>
            <a:ext cx="4754880" cy="960120"/>
          </a:xfrm>
          <a:prstGeom prst="roundRect">
            <a:avLst>
              <a:gd name="adj" fmla="val 6000"/>
            </a:avLst>
          </a:prstGeom>
          <a:solidFill>
            <a:srgbClr val="2A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329184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53E3E"/>
                </a:solidFill>
                <a:latin typeface="Calibri"/>
              </a:rPr>
              <a:t>✗ Sans NoNat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639312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E8C8C8"/>
                </a:solidFill>
                <a:latin typeface="Calibri"/>
              </a:rPr>
              <a:t>3 faisceaux → 1 seule IP source → supervision individuelle impossible.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297680"/>
            <a:ext cx="4754880" cy="960120"/>
          </a:xfrm>
          <a:prstGeom prst="roundRect">
            <a:avLst>
              <a:gd name="adj" fmla="val 6000"/>
            </a:avLst>
          </a:prstGeom>
          <a:solidFill>
            <a:srgbClr val="12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38912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Calibri"/>
              </a:rPr>
              <a:t>✓ Avec NoNat (ciblé SNMP)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736592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C8E8D8"/>
                </a:solidFill>
                <a:latin typeface="Calibri"/>
              </a:rPr>
              <a:t>IP source préservée → chaque faisceau identifié précisément en alarme.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44068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B9C7D6"/>
                </a:solidFill>
                <a:latin typeface="Calibri"/>
              </a:rPr>
              <a:t>Désactivation limitée au seul trafic de supervision → cloisonnement préservé.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120640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1B2D"/>
                </a:solidFill>
                <a:latin typeface="Calibri"/>
              </a:rPr>
              <a:t>Traduction opérationnelle directe des mesures EBIOS RM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2633"/>
                </a:solidFill>
                <a:latin typeface="Calibri"/>
              </a:rPr>
              <a:t>→ la surface d’attaque exposée chez le client est réduite au strict minimum.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CHAPITRE 3 — L’INTERFACE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Restitution visuelle &amp; cartographie dynamique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Calibri"/>
              </a:rPr>
              <a:t>Deux niveaux de lecture pour transformer un flux de données brut en information immédiate.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5486400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NIVEAU OPÉRATIONNEL — ZABBIX</a:t>
            </a:r>
          </a:p>
        </p:txBody>
      </p:sp>
      <p:sp>
        <p:nvSpPr>
          <p:cNvPr id="12" name="Hexagon 11"/>
          <p:cNvSpPr/>
          <p:nvPr/>
        </p:nvSpPr>
        <p:spPr>
          <a:xfrm>
            <a:off x="868680" y="2606040"/>
            <a:ext cx="1371600" cy="777240"/>
          </a:xfrm>
          <a:prstGeom prst="hexagon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060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-42 dBm</a:t>
            </a:r>
          </a:p>
        </p:txBody>
      </p:sp>
      <p:sp>
        <p:nvSpPr>
          <p:cNvPr id="14" name="Hexagon 13"/>
          <p:cNvSpPr/>
          <p:nvPr/>
        </p:nvSpPr>
        <p:spPr>
          <a:xfrm>
            <a:off x="2560320" y="2606040"/>
            <a:ext cx="1371600" cy="777240"/>
          </a:xfrm>
          <a:prstGeom prst="hexagon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6060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-43 dBm</a:t>
            </a:r>
          </a:p>
        </p:txBody>
      </p:sp>
      <p:sp>
        <p:nvSpPr>
          <p:cNvPr id="16" name="Hexagon 15"/>
          <p:cNvSpPr/>
          <p:nvPr/>
        </p:nvSpPr>
        <p:spPr>
          <a:xfrm>
            <a:off x="4251960" y="2606040"/>
            <a:ext cx="1371600" cy="777240"/>
          </a:xfrm>
          <a:prstGeom prst="hexagon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60" y="26060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-44 dBm</a:t>
            </a:r>
          </a:p>
        </p:txBody>
      </p:sp>
      <p:sp>
        <p:nvSpPr>
          <p:cNvPr id="18" name="Hexagon 17"/>
          <p:cNvSpPr/>
          <p:nvPr/>
        </p:nvSpPr>
        <p:spPr>
          <a:xfrm>
            <a:off x="868680" y="3520440"/>
            <a:ext cx="1371600" cy="777240"/>
          </a:xfrm>
          <a:prstGeom prst="hexagon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5204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-45 dBm</a:t>
            </a:r>
          </a:p>
        </p:txBody>
      </p:sp>
      <p:sp>
        <p:nvSpPr>
          <p:cNvPr id="20" name="Hexagon 19"/>
          <p:cNvSpPr/>
          <p:nvPr/>
        </p:nvSpPr>
        <p:spPr>
          <a:xfrm>
            <a:off x="2560320" y="3520440"/>
            <a:ext cx="1371600" cy="777240"/>
          </a:xfrm>
          <a:prstGeom prst="hexagon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5204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-46 dBm</a:t>
            </a:r>
          </a:p>
        </p:txBody>
      </p:sp>
      <p:sp>
        <p:nvSpPr>
          <p:cNvPr id="22" name="Hexagon 21"/>
          <p:cNvSpPr/>
          <p:nvPr/>
        </p:nvSpPr>
        <p:spPr>
          <a:xfrm>
            <a:off x="4251960" y="3520440"/>
            <a:ext cx="1371600" cy="777240"/>
          </a:xfrm>
          <a:prstGeom prst="hexagon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35204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-47 dBm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262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Calibri"/>
              </a:rPr>
              <a:t>▸  </a:t>
            </a:r>
            <a:r>
              <a:rPr sz="1150">
                <a:solidFill>
                  <a:srgbClr val="1B2633"/>
                </a:solidFill>
                <a:latin typeface="Calibri"/>
              </a:rPr>
              <a:t>Panneaux hexagonaux Rx en temps réel (rouge dès qu’une alarme est active).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Calibri"/>
              </a:rPr>
              <a:t>▸  </a:t>
            </a:r>
            <a:r>
              <a:rPr sz="1150">
                <a:solidFill>
                  <a:srgbClr val="1B2633"/>
                </a:solidFill>
                <a:latin typeface="Calibri"/>
              </a:rPr>
              <a:t>Tables Rx/Tx par hôte + panneaux de disponibilité (SLO) par client.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Calibri"/>
              </a:rPr>
              <a:t>▸  </a:t>
            </a:r>
            <a:r>
              <a:rPr sz="1150">
                <a:solidFill>
                  <a:srgbClr val="1B2633"/>
                </a:solidFill>
                <a:latin typeface="Calibri"/>
              </a:rPr>
              <a:t>E-mail automatique d’alerte ET de résolution, acquittement nominatif.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82880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1828800"/>
            <a:ext cx="5486400" cy="5486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82880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NIVEAU CARTOGRAPHIQUE — GRAFANA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606040"/>
            <a:ext cx="4937760" cy="1783080"/>
          </a:xfrm>
          <a:prstGeom prst="roundRect">
            <a:avLst/>
          </a:prstGeom>
          <a:solidFill>
            <a:srgbClr val="E3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49440" y="2926080"/>
            <a:ext cx="164592" cy="164592"/>
          </a:xfrm>
          <a:prstGeom prst="ellipse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03920" y="2743200"/>
            <a:ext cx="164592" cy="164592"/>
          </a:xfrm>
          <a:prstGeom prst="ellipse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424160" y="3108960"/>
            <a:ext cx="164592" cy="164592"/>
          </a:xfrm>
          <a:prstGeom prst="ellipse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498079" y="3840480"/>
            <a:ext cx="164592" cy="164592"/>
          </a:xfrm>
          <a:prstGeom prst="ellipse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92640" y="3931920"/>
            <a:ext cx="164592" cy="164592"/>
          </a:xfrm>
          <a:prstGeom prst="ellipse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778240" y="3474720"/>
            <a:ext cx="164592" cy="164592"/>
          </a:xfrm>
          <a:prstGeom prst="ellipse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7031736" y="2825496"/>
            <a:ext cx="1554480" cy="182880"/>
          </a:xfrm>
          <a:prstGeom prst="bentConnector3">
            <a:avLst/>
          </a:prstGeom>
          <a:ln w="25400">
            <a:solidFill>
              <a:srgbClr val="2EC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586216" y="2825496"/>
            <a:ext cx="274320" cy="731519"/>
          </a:xfrm>
          <a:prstGeom prst="bentConnector3">
            <a:avLst/>
          </a:prstGeom>
          <a:ln w="25400">
            <a:solidFill>
              <a:srgbClr val="F2A6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8860536" y="3191256"/>
            <a:ext cx="1645920" cy="365759"/>
          </a:xfrm>
          <a:prstGeom prst="bentConnector3">
            <a:avLst/>
          </a:prstGeom>
          <a:ln w="25400">
            <a:solidFill>
              <a:srgbClr val="E53E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580375" y="3557015"/>
            <a:ext cx="1280161" cy="365761"/>
          </a:xfrm>
          <a:prstGeom prst="bentConnector3">
            <a:avLst/>
          </a:prstGeom>
          <a:ln w="25400">
            <a:solidFill>
              <a:srgbClr val="2EC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774936" y="3191256"/>
            <a:ext cx="731520" cy="822959"/>
          </a:xfrm>
          <a:prstGeom prst="bentConnector3">
            <a:avLst/>
          </a:prstGeom>
          <a:ln w="25400">
            <a:solidFill>
              <a:srgbClr val="E53E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46520" y="45262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Calibri"/>
              </a:rPr>
              <a:t>▸  </a:t>
            </a:r>
            <a:r>
              <a:rPr sz="1150" b="1">
                <a:solidFill>
                  <a:srgbClr val="1B2633"/>
                </a:solidFill>
                <a:latin typeface="Calibri"/>
              </a:rPr>
              <a:t>Script grafana_topology.py</a:t>
            </a:r>
            <a:r>
              <a:rPr sz="1150" b="0">
                <a:solidFill>
                  <a:srgbClr val="1B2633"/>
                </a:solidFill>
                <a:latin typeface="Calibri"/>
              </a:rPr>
              <a:t> développé sur-mesure : lit MySQL Zabbix → GeoJSON (plugin Geomap).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Calibri"/>
              </a:rPr>
              <a:t>▸  </a:t>
            </a:r>
            <a:r>
              <a:rPr sz="1150">
                <a:solidFill>
                  <a:srgbClr val="1B2633"/>
                </a:solidFill>
                <a:latin typeface="Calibri"/>
              </a:rPr>
              <a:t>Liaisons tracées site-à-site ; trait rouge = faisceau en alarme.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Calibri"/>
              </a:rPr>
              <a:t>▸  </a:t>
            </a:r>
            <a:r>
              <a:rPr sz="1150">
                <a:solidFill>
                  <a:srgbClr val="1B2633"/>
                </a:solidFill>
                <a:latin typeface="Calibri"/>
              </a:rPr>
              <a:t>Pop-up : Rx/Tx, alarmes actives, lien direct vers l’équipement.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CHAPITRE 3 — AU-DELÀ DU PÉRIMÈTRE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L’IA locale comme accélérateur technique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Calibri"/>
              </a:rPr>
              <a:t>Deux prototypes exploratoires, exécutés </a:t>
            </a:r>
            <a:r>
              <a:rPr sz="1300" b="1" i="0">
                <a:solidFill>
                  <a:srgbClr val="00B4C8"/>
                </a:solidFill>
                <a:latin typeface="Calibri"/>
              </a:rPr>
              <a:t>100 % en local (Ollama)</a:t>
            </a:r>
            <a:r>
              <a:rPr sz="1300" b="0" i="0">
                <a:solidFill>
                  <a:srgbClr val="6B7A8C"/>
                </a:solidFill>
                <a:latin typeface="Calibri"/>
              </a:rPr>
              <a:t> — confidentialité des données, aucun cloud tiers.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5486400" cy="33832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109728" cy="338328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Calibri"/>
              </a:rPr>
              <a:t>① Corrélation d’alarmes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Calibri"/>
              </a:rPr>
              <a:t>Ollama + DBSCAN (clustering non supervisé)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718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>
                <a:solidFill>
                  <a:srgbClr val="1B2633"/>
                </a:solidFill>
                <a:latin typeface="Calibri"/>
              </a:rPr>
              <a:t>Rapproche traps SNMP, niveaux Rx, logs Zabbix dans une même fenêtre temporelle.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>
                <a:solidFill>
                  <a:srgbClr val="1B2633"/>
                </a:solidFill>
                <a:latin typeface="Calibri"/>
              </a:rPr>
              <a:t>Objectif : faire émerger une cause racine à partir de signaux dispersés.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>
                <a:solidFill>
                  <a:srgbClr val="1B2633"/>
                </a:solidFill>
                <a:latin typeface="Calibri"/>
              </a:rPr>
              <a:t>Aide aussi à l’analyse des MIB et à la construction des regex.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874519"/>
            <a:ext cx="5486400" cy="338328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874519"/>
            <a:ext cx="109728" cy="338328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② Assistant conversationnel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Calibri"/>
              </a:rPr>
              <a:t>Modèle Mistral hébergé localement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718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EC48F"/>
                </a:solidFill>
                <a:latin typeface="Calibri"/>
              </a:rPr>
              <a:t>▸  </a:t>
            </a:r>
            <a:r>
              <a:rPr sz="1200">
                <a:solidFill>
                  <a:srgbClr val="FFFFFF"/>
                </a:solidFill>
                <a:latin typeface="Calibri"/>
              </a:rPr>
              <a:t>Consultation de la supervision en langage naturel (utile en astreinte).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EC48F"/>
                </a:solidFill>
                <a:latin typeface="Calibri"/>
              </a:rPr>
              <a:t>▸  </a:t>
            </a:r>
            <a:r>
              <a:rPr sz="1200">
                <a:solidFill>
                  <a:srgbClr val="FFFFFF"/>
                </a:solidFill>
                <a:latin typeface="Calibri"/>
              </a:rPr>
              <a:t>Intégré au portail centralisé (SSO Microsoft Entra ID + MFA).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EC48F"/>
                </a:solidFill>
                <a:latin typeface="Calibri"/>
              </a:rPr>
              <a:t>▸  </a:t>
            </a:r>
            <a:r>
              <a:rPr sz="1200">
                <a:solidFill>
                  <a:srgbClr val="FFFFFF"/>
                </a:solidFill>
                <a:latin typeface="Calibri"/>
              </a:rPr>
              <a:t>Choix Mistral : français, taille adaptée au serveur HPE, modèle ouvert.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6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440680"/>
            <a:ext cx="91440" cy="68580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440680"/>
            <a:ext cx="107899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2A63B"/>
                </a:solidFill>
                <a:latin typeface="Calibri"/>
              </a:rPr>
              <a:t>Posture honnête : </a:t>
            </a:r>
            <a:r>
              <a:rPr sz="1250" b="0" i="0">
                <a:solidFill>
                  <a:srgbClr val="1B2633"/>
                </a:solidFill>
                <a:latin typeface="Calibri"/>
              </a:rPr>
              <a:t>ce sont des pistes d’expérimentation validant un intérêt — pas encore des fonctions industrialisées en production.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CHAPITRE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Impacts financiers — Rentabilité (ROI / TCO)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91440" cy="13716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563624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0B4C8"/>
                </a:solidFill>
                <a:latin typeface="Calibri"/>
              </a:rPr>
              <a:t>310 %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203704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Calibri"/>
              </a:rPr>
              <a:t>ROI cumulé à 5 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41732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417320"/>
            <a:ext cx="91440" cy="137160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1563624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EC48F"/>
                </a:solidFill>
                <a:latin typeface="Calibri"/>
              </a:rPr>
              <a:t>14,6 mois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203704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Calibri"/>
              </a:rPr>
              <a:t>Point mort après mise en prod.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41732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17320"/>
            <a:ext cx="91440" cy="13716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1563624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0B4C8"/>
                </a:solidFill>
                <a:latin typeface="Calibri"/>
              </a:rPr>
              <a:t>176 284 €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203704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Calibri"/>
              </a:rPr>
              <a:t>Gain net absolu sur 5 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41732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06840" y="1417320"/>
            <a:ext cx="91440" cy="13716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1563624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F1B2D"/>
                </a:solidFill>
                <a:latin typeface="Calibri"/>
              </a:rPr>
              <a:t>56 646 €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203704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Calibri"/>
              </a:rPr>
              <a:t>Investissement total (TCO)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632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Calibri"/>
              </a:rPr>
              <a:t>STRUCTURE DU COÛT (TCO)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7472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Calibri"/>
              </a:rPr>
              <a:t>CAPEX humain (savoir-faire interne)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4747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Calibri"/>
              </a:rPr>
              <a:t>46 440 €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67328"/>
            <a:ext cx="5349240" cy="164592"/>
          </a:xfrm>
          <a:prstGeom prst="rect">
            <a:avLst/>
          </a:prstGeom>
          <a:solidFill>
            <a:srgbClr val="E3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767328"/>
            <a:ext cx="4386376" cy="16459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13308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Calibri"/>
              </a:rPr>
              <a:t>CAPEX matériel (serveur, routeurs…)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133088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Calibri"/>
              </a:rPr>
              <a:t>10 206 €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425696"/>
            <a:ext cx="5349240" cy="164592"/>
          </a:xfrm>
          <a:prstGeom prst="rect">
            <a:avLst/>
          </a:prstGeom>
          <a:solidFill>
            <a:srgbClr val="E3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425696"/>
            <a:ext cx="962863" cy="16459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837176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Calibri"/>
              </a:rPr>
              <a:t>82 % du TCO = coût humain</a:t>
            </a:r>
            <a:r>
              <a:rPr sz="1200" b="0" i="0">
                <a:solidFill>
                  <a:srgbClr val="1B2633"/>
                </a:solidFill>
                <a:latin typeface="Calibri"/>
              </a:rPr>
              <a:t> → un actif immatériel (templates, doc, savoir-faire) et non un coût perdu.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306324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200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Calibri"/>
              </a:rPr>
              <a:t>UN MODÈLE ÉCONOMIQUE ROBUSTE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63931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Revenus à deux têtes</a:t>
            </a:r>
            <a:r>
              <a:rPr sz="1200" b="0">
                <a:solidFill>
                  <a:srgbClr val="FFFFFF"/>
                </a:solidFill>
                <a:latin typeface="Calibri"/>
              </a:rPr>
              <a:t> : abonnements (16 clients × 2 000 €/an) + économies GTI (déplacements évités).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Scénario conservateur</a:t>
            </a:r>
            <a:r>
              <a:rPr sz="1200" b="0">
                <a:solidFill>
                  <a:srgbClr val="FFFFFF"/>
                </a:solidFill>
                <a:latin typeface="Calibri"/>
              </a:rPr>
              <a:t> : même à 1 500 €/client, ROI 169 % à 5 ans.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Effet de levier</a:t>
            </a:r>
            <a:r>
              <a:rPr sz="1200" b="0">
                <a:solidFill>
                  <a:srgbClr val="FFFFFF"/>
                </a:solidFill>
                <a:latin typeface="Calibri"/>
              </a:rPr>
              <a:t> : OPEX fixe → un serveur absorbe 50+ clients sans surcoût.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Open source</a:t>
            </a:r>
            <a:r>
              <a:rPr sz="1200" b="0">
                <a:solidFill>
                  <a:srgbClr val="FFFFFF"/>
                </a:solidFill>
                <a:latin typeface="Calibri"/>
              </a:rPr>
              <a:t> : 0 € de licence (vs 5 000–20 000 €/an en propriétaire).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CHAPITRE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Impacts environnemental &amp; opérationnel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Calibri"/>
              </a:rPr>
              <a:t>LE « PARADOXE DU SERVEUR ALLUMÉ » LEVÉ PAR LE CALCUL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5486400" cy="23317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Calibri"/>
              </a:rPr>
              <a:t>Bilan CO₂ annuel (scénario de base 100 km)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Déplacements évités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4937760" cy="36576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51760"/>
            <a:ext cx="4663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576 kg CO₂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Serveur HPE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429000"/>
            <a:ext cx="841248" cy="365760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3429000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C"/>
                </a:solidFill>
                <a:latin typeface="Calibri"/>
              </a:rPr>
              <a:t>98 kg CO₂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22191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1B2D"/>
                </a:solidFill>
                <a:latin typeface="Calibri"/>
              </a:rPr>
              <a:t>→ Le serveur émet 5,9× moins que les trajets qu’il remplace.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4340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343400"/>
            <a:ext cx="91440" cy="132588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489704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EC48F"/>
                </a:solidFill>
                <a:latin typeface="Calibri"/>
              </a:rPr>
              <a:t>478 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512978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Calibri"/>
              </a:rPr>
              <a:t>CO₂ net économisés / 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434340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37560" y="4343400"/>
            <a:ext cx="91440" cy="132588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4489704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EC48F"/>
                </a:solidFill>
                <a:latin typeface="Calibri"/>
              </a:rPr>
              <a:t>≈ 2,4 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512978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Calibri"/>
              </a:rPr>
              <a:t>CO₂ évités cumulés sur 5 ans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1783080"/>
            <a:ext cx="5394960" cy="43434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1783080"/>
            <a:ext cx="539496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Calibri"/>
              </a:rPr>
              <a:t>UN 3ᵉ BÉNÉFICE : LA VALIDATION TERRAIN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FFFFFF"/>
                </a:solidFill>
                <a:latin typeface="Calibri"/>
              </a:rPr>
              <a:t>Confronter Rx mesuré vs Rx théorique (DIL)</a:t>
            </a:r>
            <a:r>
              <a:rPr sz="1250" b="0">
                <a:solidFill>
                  <a:srgbClr val="FFFFFF"/>
                </a:solidFill>
                <a:latin typeface="Calibri"/>
              </a:rPr>
              <a:t> en temps réel, sans déplacement.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FFFFFF"/>
                </a:solidFill>
                <a:latin typeface="Calibri"/>
              </a:rPr>
              <a:t>Détection immédiate des non-conformités</a:t>
            </a:r>
            <a:r>
              <a:rPr sz="1250" b="0">
                <a:solidFill>
                  <a:srgbClr val="FFFFFF"/>
                </a:solidFill>
                <a:latin typeface="Calibri"/>
              </a:rPr>
              <a:t> : défaut d’alignement, obstacle, perte câble…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FFFFFF"/>
                </a:solidFill>
                <a:latin typeface="Calibri"/>
              </a:rPr>
              <a:t>De plusieurs jours à quelques minutes</a:t>
            </a:r>
            <a:r>
              <a:rPr sz="1250" b="0">
                <a:solidFill>
                  <a:srgbClr val="FFFFFF"/>
                </a:solidFill>
                <a:latin typeface="Calibri"/>
              </a:rPr>
              <a:t> pour identifier une anomalie d’installation.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FFFFFF"/>
                </a:solidFill>
                <a:latin typeface="Calibri"/>
              </a:rPr>
              <a:t>Passage du réactif au proactif</a:t>
            </a:r>
            <a:r>
              <a:rPr sz="1250" b="0">
                <a:solidFill>
                  <a:srgbClr val="FFFFFF"/>
                </a:solidFill>
                <a:latin typeface="Calibri"/>
              </a:rPr>
              <a:t> : Zabbix détecte les signes précurseurs avant la panne.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Calibri"/>
              </a:rPr>
              <a:t>▸  </a:t>
            </a:r>
            <a:r>
              <a:rPr sz="1250" b="1">
                <a:solidFill>
                  <a:srgbClr val="FFFFFF"/>
                </a:solidFill>
                <a:latin typeface="Calibri"/>
              </a:rPr>
              <a:t>Gage de crédibilité</a:t>
            </a:r>
            <a:r>
              <a:rPr sz="1250" b="0">
                <a:solidFill>
                  <a:srgbClr val="FFFFFF"/>
                </a:solidFill>
                <a:latin typeface="Calibri"/>
              </a:rPr>
              <a:t> vis-à-vis des clients : preuve chiffrée de conformité.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Calibri"/>
              </a:rPr>
              <a:t>CHAPITRE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Bilan &amp; perspectives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F1B2D"/>
                </a:solidFill>
                <a:latin typeface="Calibri"/>
              </a:rPr>
              <a:t>La problématique trouve une réponse opérationnelle complète : les 5 jalons sont atteints.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2715768" cy="1371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2715768" cy="4445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20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✓ Centralisée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Plateforme Zabbix-Grafana unique sur serveur HPE.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783080"/>
            <a:ext cx="2715768" cy="1371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783080"/>
            <a:ext cx="2715768" cy="4445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1920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✓ Fiable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3317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MIB Ericsson investiguées + validation contradictoire des signaux.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783080"/>
            <a:ext cx="2715768" cy="1371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783080"/>
            <a:ext cx="2715768" cy="4445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920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✓ Temps réel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3317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Polling 1 min + traitement des traps spontanés.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1783080"/>
            <a:ext cx="2715768" cy="1371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783080"/>
            <a:ext cx="2715768" cy="4445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20" y="1920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✓ À distance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23317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Calibri"/>
              </a:rPr>
              <a:t>Tunnels VPN + consultation web des tableaux de bord.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337560"/>
            <a:ext cx="5486400" cy="278892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4930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Calibri"/>
              </a:rPr>
              <a:t>PERSPECTIVES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9319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Élargir le parc supervisé</a:t>
            </a:r>
            <a:r>
              <a:rPr sz="1200" b="0">
                <a:solidFill>
                  <a:srgbClr val="FFFFFF"/>
                </a:solidFill>
                <a:latin typeface="Calibri"/>
              </a:rPr>
              <a:t> : axe n°1 — chaque nouveau client ≈ flux net intégral (OPEX fixe).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Industrialiser l’IA locale</a:t>
            </a:r>
            <a:r>
              <a:rPr sz="1200" b="0">
                <a:solidFill>
                  <a:srgbClr val="FFFFFF"/>
                </a:solidFill>
                <a:latin typeface="Calibri"/>
              </a:rPr>
              <a:t> : corrélation d’alarmes &amp; assistant conversationnel.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Pérennité</a:t>
            </a:r>
            <a:r>
              <a:rPr sz="1200" b="0">
                <a:solidFill>
                  <a:srgbClr val="FFFFFF"/>
                </a:solidFill>
                <a:latin typeface="Calibri"/>
              </a:rPr>
              <a:t> : documentation complète, templates réutilisables, reprise par le service RMP.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337560"/>
            <a:ext cx="5486400" cy="27889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930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Calibri"/>
              </a:rPr>
              <a:t>MA MONTÉE EN COMPÉTENCES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9319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 b="1">
                <a:solidFill>
                  <a:srgbClr val="1B2633"/>
                </a:solidFill>
                <a:latin typeface="Calibri"/>
              </a:rPr>
              <a:t>Technique</a:t>
            </a:r>
            <a:r>
              <a:rPr sz="1200" b="0">
                <a:solidFill>
                  <a:srgbClr val="1B2633"/>
                </a:solidFill>
                <a:latin typeface="Calibri"/>
              </a:rPr>
              <a:t> : SNMP, MIB, liaisons hertziennes, Zabbix/Grafana de A à Z, VPN/NoNat.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 b="1">
                <a:solidFill>
                  <a:srgbClr val="1B2633"/>
                </a:solidFill>
                <a:latin typeface="Calibri"/>
              </a:rPr>
              <a:t>Méthode</a:t>
            </a:r>
            <a:r>
              <a:rPr sz="1200" b="0">
                <a:solidFill>
                  <a:srgbClr val="1B2633"/>
                </a:solidFill>
                <a:latin typeface="Calibri"/>
              </a:rPr>
              <a:t> : WBS, RACI, EBIOS RM, SWOT, suivi des écarts.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Calibri"/>
              </a:rPr>
              <a:t>▸  </a:t>
            </a:r>
            <a:r>
              <a:rPr sz="1200" b="1">
                <a:solidFill>
                  <a:srgbClr val="1B2633"/>
                </a:solidFill>
                <a:latin typeface="Calibri"/>
              </a:rPr>
              <a:t>Avenir</a:t>
            </a:r>
            <a:r>
              <a:rPr sz="1200" b="0">
                <a:solidFill>
                  <a:srgbClr val="1B2633"/>
                </a:solidFill>
                <a:latin typeface="Calibri"/>
              </a:rPr>
              <a:t> : poursuite en école d’ingénieur en alternance, chez Axians RMP.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Aphélie — Supervision centralisée des faisceaux hertziens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Calibri"/>
              </a:rPr>
              <a:t>Ilyesse KEBAILI   |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98480" y="512064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38560" y="56692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85216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493776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4C8"/>
                </a:solidFill>
                <a:latin typeface="Calibri"/>
              </a:rPr>
              <a:t>EN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D’une supervision obsolète à une plateforme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centralisée, fiable, sécurisée et rentable.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3D0DE"/>
                </a:solidFill>
                <a:latin typeface="Calibri"/>
              </a:rPr>
              <a:t>Un projet mené de bout en bout — du cadrage à la mise en production — qui constitue désormais un actif technique durable pour Axians RMP.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343400"/>
            <a:ext cx="2468880" cy="914400"/>
          </a:xfrm>
          <a:prstGeom prst="roundRect">
            <a:avLst>
              <a:gd name="adj" fmla="val 6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343400"/>
            <a:ext cx="2468880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Calibri"/>
              </a:rPr>
              <a:t>310 %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19472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ROI à 5 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4343400"/>
            <a:ext cx="2468880" cy="914400"/>
          </a:xfrm>
          <a:prstGeom prst="roundRect">
            <a:avLst>
              <a:gd name="adj" fmla="val 6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93008" y="4343400"/>
            <a:ext cx="2468880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5888" y="44805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Calibri"/>
              </a:rPr>
              <a:t>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8" y="4919472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clients supervisés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6" y="4343400"/>
            <a:ext cx="2468880" cy="914400"/>
          </a:xfrm>
          <a:prstGeom prst="roundRect">
            <a:avLst>
              <a:gd name="adj" fmla="val 6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63056" y="4343400"/>
            <a:ext cx="2468880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44805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Calibri"/>
              </a:rPr>
              <a:t>478 kg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4919472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CO₂ évités/an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33104" y="4343400"/>
            <a:ext cx="2468880" cy="914400"/>
          </a:xfrm>
          <a:prstGeom prst="roundRect">
            <a:avLst>
              <a:gd name="adj" fmla="val 6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33104" y="4343400"/>
            <a:ext cx="2468880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44805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Calibri"/>
              </a:rPr>
              <a:t>5/5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4919472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jalons livrés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A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5715000"/>
            <a:ext cx="12191695" cy="317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943600"/>
            <a:ext cx="7315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Merci de votre attention.</a:t>
            </a:r>
            <a:r>
              <a:rPr sz="1400" b="0" i="0">
                <a:solidFill>
                  <a:srgbClr val="B9C7D6"/>
                </a:solidFill>
                <a:latin typeface="Calibri"/>
              </a:rPr>
              <a:t>   Je suis à votre disposition pour vos questions.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943600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0B4C8"/>
                </a:solidFill>
                <a:latin typeface="Calibri"/>
              </a:rPr>
              <a:t>Ilyesse KEBAILI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9C7D6"/>
                </a:solidFill>
                <a:latin typeface="Calibri"/>
              </a:rPr>
              <a:t>BUT R&amp;T · Cybersécurité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